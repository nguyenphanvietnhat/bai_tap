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x="18288000" cy="10287000"/>
  <p:notesSz cx="6858000" cy="9144000"/>
  <p:embeddedFontLst>
    <p:embeddedFont>
      <p:font typeface="Cormorant Garamond Bold Italics" charset="1" panose="00000800000000000000"/>
      <p:regular r:id="rId64"/>
    </p:embeddedFont>
    <p:embeddedFont>
      <p:font typeface="Quicksand" charset="1" panose="00000000000000000000"/>
      <p:regular r:id="rId65"/>
    </p:embeddedFont>
    <p:embeddedFont>
      <p:font typeface="Quicksand Bold" charset="1" panose="00000000000000000000"/>
      <p:regular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embeddings/oleObject1.bin" Type="http://schemas.openxmlformats.org/officeDocument/2006/relationships/oleObject"/><Relationship Id="rId4" Target="../media/image18.png" Type="http://schemas.openxmlformats.org/officeDocument/2006/relationships/image"/><Relationship Id="rId5" Target="../embeddings/oleObject2.bin" Type="http://schemas.openxmlformats.org/officeDocument/2006/relationships/oleObject"/><Relationship Id="rId6" Target="../media/image19.png" Type="http://schemas.openxmlformats.org/officeDocument/2006/relationships/image"/><Relationship Id="rId7" Target="../media/image2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embeddings/oleObject3.bin" Type="http://schemas.openxmlformats.org/officeDocument/2006/relationships/oleObject"/><Relationship Id="rId4" Target="../media/image22.png" Type="http://schemas.openxmlformats.org/officeDocument/2006/relationships/image"/><Relationship Id="rId5" Target="../embeddings/oleObject4.bin" Type="http://schemas.openxmlformats.org/officeDocument/2006/relationships/oleObject"/><Relationship Id="rId6" Target="../media/image23.png" Type="http://schemas.openxmlformats.org/officeDocument/2006/relationships/image"/><Relationship Id="rId7" Target="../media/image2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embeddings/oleObject5.bin" Type="http://schemas.openxmlformats.org/officeDocument/2006/relationships/oleObject"/><Relationship Id="rId4" Target="../media/image26.png" Type="http://schemas.openxmlformats.org/officeDocument/2006/relationships/image"/><Relationship Id="rId5" Target="../embeddings/oleObject6.bin" Type="http://schemas.openxmlformats.org/officeDocument/2006/relationships/oleObject"/><Relationship Id="rId6" Target="../media/image27.png" Type="http://schemas.openxmlformats.org/officeDocument/2006/relationships/image"/><Relationship Id="rId7" Target="../media/image2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embeddings/oleObject7.bin" Type="http://schemas.openxmlformats.org/officeDocument/2006/relationships/oleObject"/><Relationship Id="rId4" Target="../media/image30.png" Type="http://schemas.openxmlformats.org/officeDocument/2006/relationships/image"/><Relationship Id="rId5" Target="../embeddings/oleObject8.bin" Type="http://schemas.openxmlformats.org/officeDocument/2006/relationships/oleObject"/><Relationship Id="rId6" Target="../media/image31.png" Type="http://schemas.openxmlformats.org/officeDocument/2006/relationships/image"/><Relationship Id="rId7" Target="../media/image3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 Id="rId3" Target="../media/image35.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57.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 Id="rId3" Target="../media/image63.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43764" y="2478342"/>
            <a:ext cx="16229942" cy="3185722"/>
          </a:xfrm>
          <a:prstGeom prst="rect">
            <a:avLst/>
          </a:prstGeom>
        </p:spPr>
        <p:txBody>
          <a:bodyPr anchor="t" rtlCol="false" tIns="0" lIns="0" bIns="0" rIns="0">
            <a:spAutoFit/>
          </a:bodyPr>
          <a:lstStyle/>
          <a:p>
            <a:pPr algn="ctr" marL="0" indent="0" lvl="0">
              <a:lnSpc>
                <a:spcPts val="26009"/>
              </a:lnSpc>
              <a:spcBef>
                <a:spcPct val="0"/>
              </a:spcBef>
            </a:pPr>
            <a:r>
              <a:rPr lang="en-US" b="true" sz="18577" i="true">
                <a:solidFill>
                  <a:srgbClr val="0F4662"/>
                </a:solidFill>
                <a:latin typeface="Cormorant Garamond Bold Italics"/>
                <a:ea typeface="Cormorant Garamond Bold Italics"/>
                <a:cs typeface="Cormorant Garamond Bold Italics"/>
                <a:sym typeface="Cormorant Garamond Bold Italics"/>
              </a:rPr>
              <a:t>Lab 02</a:t>
            </a:r>
          </a:p>
        </p:txBody>
      </p:sp>
      <p:sp>
        <p:nvSpPr>
          <p:cNvPr name="AutoShape 3" id="3"/>
          <p:cNvSpPr/>
          <p:nvPr/>
        </p:nvSpPr>
        <p:spPr>
          <a:xfrm>
            <a:off x="9158735" y="990600"/>
            <a:ext cx="8114971" cy="0"/>
          </a:xfrm>
          <a:prstGeom prst="line">
            <a:avLst/>
          </a:prstGeom>
          <a:ln cap="flat" w="76200">
            <a:solidFill>
              <a:srgbClr val="0F4662"/>
            </a:solidFill>
            <a:prstDash val="solid"/>
            <a:headEnd type="none" len="sm" w="sm"/>
            <a:tailEnd type="none" len="sm" w="sm"/>
          </a:ln>
        </p:spPr>
      </p:sp>
      <p:sp>
        <p:nvSpPr>
          <p:cNvPr name="AutoShape 4" id="4"/>
          <p:cNvSpPr/>
          <p:nvPr/>
        </p:nvSpPr>
        <p:spPr>
          <a:xfrm>
            <a:off x="1043764" y="9804400"/>
            <a:ext cx="8114971" cy="0"/>
          </a:xfrm>
          <a:prstGeom prst="line">
            <a:avLst/>
          </a:prstGeom>
          <a:ln cap="flat" w="76200">
            <a:solidFill>
              <a:srgbClr val="0F4662"/>
            </a:solidFill>
            <a:prstDash val="solid"/>
            <a:headEnd type="none" len="sm" w="sm"/>
            <a:tailEnd type="none" len="sm" w="sm"/>
          </a:ln>
        </p:spPr>
      </p:sp>
      <p:sp>
        <p:nvSpPr>
          <p:cNvPr name="Freeform 5" id="5"/>
          <p:cNvSpPr/>
          <p:nvPr/>
        </p:nvSpPr>
        <p:spPr>
          <a:xfrm flipH="false" flipV="false" rot="0">
            <a:off x="9618706" y="9545492"/>
            <a:ext cx="2968854" cy="441617"/>
          </a:xfrm>
          <a:custGeom>
            <a:avLst/>
            <a:gdLst/>
            <a:ahLst/>
            <a:cxnLst/>
            <a:rect r="r" b="b" t="t" l="l"/>
            <a:pathLst>
              <a:path h="441617" w="2968854">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5871040" y="6464164"/>
            <a:ext cx="6575390" cy="2776360"/>
          </a:xfrm>
          <a:prstGeom prst="rect">
            <a:avLst/>
          </a:prstGeom>
        </p:spPr>
        <p:txBody>
          <a:bodyPr anchor="t" rtlCol="false" tIns="0" lIns="0" bIns="0" rIns="0">
            <a:spAutoFit/>
          </a:bodyPr>
          <a:lstStyle/>
          <a:p>
            <a:pPr algn="l">
              <a:lnSpc>
                <a:spcPts val="3779"/>
              </a:lnSpc>
            </a:pPr>
            <a:r>
              <a:rPr lang="en-US" sz="2699">
                <a:solidFill>
                  <a:srgbClr val="0F4662"/>
                </a:solidFill>
                <a:latin typeface="Quicksand"/>
                <a:ea typeface="Quicksand"/>
                <a:cs typeface="Quicksand"/>
                <a:sym typeface="Quicksand"/>
              </a:rPr>
              <a:t> 3121410541 - Nguyễn Minh Trường </a:t>
            </a:r>
          </a:p>
          <a:p>
            <a:pPr algn="l">
              <a:lnSpc>
                <a:spcPts val="3779"/>
              </a:lnSpc>
            </a:pPr>
            <a:r>
              <a:rPr lang="en-US" sz="2699">
                <a:solidFill>
                  <a:srgbClr val="0F4662"/>
                </a:solidFill>
                <a:latin typeface="Quicksand"/>
                <a:ea typeface="Quicksand"/>
                <a:cs typeface="Quicksand"/>
                <a:sym typeface="Quicksand"/>
              </a:rPr>
              <a:t> 3122410279 - Nguyễn Phan Việt Nhật</a:t>
            </a:r>
          </a:p>
          <a:p>
            <a:pPr algn="l">
              <a:lnSpc>
                <a:spcPts val="3779"/>
              </a:lnSpc>
            </a:pPr>
            <a:r>
              <a:rPr lang="en-US" sz="2699">
                <a:solidFill>
                  <a:srgbClr val="0F4662"/>
                </a:solidFill>
                <a:latin typeface="Quicksand"/>
                <a:ea typeface="Quicksand"/>
                <a:cs typeface="Quicksand"/>
                <a:sym typeface="Quicksand"/>
              </a:rPr>
              <a:t> 3122410401 - Đinh Công Thuận ( leader)</a:t>
            </a:r>
          </a:p>
          <a:p>
            <a:pPr algn="l">
              <a:lnSpc>
                <a:spcPts val="3779"/>
              </a:lnSpc>
            </a:pPr>
            <a:r>
              <a:rPr lang="en-US" sz="2699">
                <a:solidFill>
                  <a:srgbClr val="0F4662"/>
                </a:solidFill>
                <a:latin typeface="Quicksand"/>
                <a:ea typeface="Quicksand"/>
                <a:cs typeface="Quicksand"/>
                <a:sym typeface="Quicksand"/>
              </a:rPr>
              <a:t> 3122410384 - Hoàng Minh Thành </a:t>
            </a:r>
          </a:p>
          <a:p>
            <a:pPr algn="ctr" marL="0" indent="0" lvl="0">
              <a:lnSpc>
                <a:spcPts val="7264"/>
              </a:lnSpc>
              <a:spcBef>
                <a:spcPct val="0"/>
              </a:spcBef>
            </a:pPr>
          </a:p>
        </p:txBody>
      </p:sp>
      <p:sp>
        <p:nvSpPr>
          <p:cNvPr name="TextBox 7" id="7"/>
          <p:cNvSpPr txBox="true"/>
          <p:nvPr/>
        </p:nvSpPr>
        <p:spPr>
          <a:xfrm rot="0">
            <a:off x="3322179" y="1452194"/>
            <a:ext cx="11643643" cy="529811"/>
          </a:xfrm>
          <a:prstGeom prst="rect">
            <a:avLst/>
          </a:prstGeom>
        </p:spPr>
        <p:txBody>
          <a:bodyPr anchor="t" rtlCol="false" tIns="0" lIns="0" bIns="0" rIns="0">
            <a:spAutoFit/>
          </a:bodyPr>
          <a:lstStyle/>
          <a:p>
            <a:pPr algn="ctr" marL="0" indent="0" lvl="0">
              <a:lnSpc>
                <a:spcPts val="4397"/>
              </a:lnSpc>
              <a:spcBef>
                <a:spcPct val="0"/>
              </a:spcBef>
            </a:pPr>
            <a:r>
              <a:rPr lang="en-US" b="true" sz="3141">
                <a:solidFill>
                  <a:srgbClr val="0F4662"/>
                </a:solidFill>
                <a:latin typeface="Quicksand Bold"/>
                <a:ea typeface="Quicksand Bold"/>
                <a:cs typeface="Quicksand Bold"/>
                <a:sym typeface="Quicksand Bold"/>
              </a:rPr>
              <a:t>Nhóm 13</a:t>
            </a:r>
          </a:p>
        </p:txBody>
      </p:sp>
      <p:sp>
        <p:nvSpPr>
          <p:cNvPr name="Freeform 8" id="8"/>
          <p:cNvSpPr/>
          <p:nvPr/>
        </p:nvSpPr>
        <p:spPr>
          <a:xfrm flipH="false" flipV="false" rot="0">
            <a:off x="5646742" y="807892"/>
            <a:ext cx="2968854" cy="441617"/>
          </a:xfrm>
          <a:custGeom>
            <a:avLst/>
            <a:gdLst/>
            <a:ahLst/>
            <a:cxnLst/>
            <a:rect r="r" b="b" t="t" l="l"/>
            <a:pathLst>
              <a:path h="441617" w="2968854">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579786" y="5597389"/>
            <a:ext cx="2190649" cy="1392695"/>
          </a:xfrm>
          <a:prstGeom prst="rect">
            <a:avLst/>
          </a:prstGeom>
        </p:spPr>
        <p:txBody>
          <a:bodyPr anchor="t" rtlCol="false" tIns="0" lIns="0" bIns="0" rIns="0">
            <a:spAutoFit/>
          </a:bodyPr>
          <a:lstStyle/>
          <a:p>
            <a:pPr algn="l">
              <a:lnSpc>
                <a:spcPts val="3919"/>
              </a:lnSpc>
            </a:pPr>
            <a:r>
              <a:rPr lang="en-US" sz="2799" b="true">
                <a:solidFill>
                  <a:srgbClr val="0F4662"/>
                </a:solidFill>
                <a:latin typeface="Quicksand Bold"/>
                <a:ea typeface="Quicksand Bold"/>
                <a:cs typeface="Quicksand Bold"/>
                <a:sym typeface="Quicksand Bold"/>
              </a:rPr>
              <a:t>Thành viên :</a:t>
            </a:r>
          </a:p>
          <a:p>
            <a:pPr algn="ctr" marL="0" indent="0" lvl="0">
              <a:lnSpc>
                <a:spcPts val="7404"/>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92503" y="2278233"/>
            <a:ext cx="8706819" cy="8201025"/>
          </a:xfrm>
          <a:prstGeom prst="rect">
            <a:avLst/>
          </a:prstGeom>
        </p:spPr>
        <p:txBody>
          <a:bodyPr anchor="t" rtlCol="false" tIns="0" lIns="0" bIns="0" rIns="0">
            <a:spAutoFit/>
          </a:bodyPr>
          <a:lstStyle/>
          <a:p>
            <a:pPr algn="just">
              <a:lnSpc>
                <a:spcPts val="4079"/>
              </a:lnSpc>
            </a:pPr>
            <a:r>
              <a:rPr lang="en-US" sz="2400" b="true">
                <a:solidFill>
                  <a:srgbClr val="0F4662"/>
                </a:solidFill>
                <a:latin typeface="Quicksand Bold"/>
                <a:ea typeface="Quicksand Bold"/>
                <a:cs typeface="Quicksand Bold"/>
                <a:sym typeface="Quicksand Bold"/>
              </a:rPr>
              <a:t>1. BFS – Breadth-First Search (Tìm kiếm theo chiều rộng)</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Cách hoạt động:</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Duyệt đồ thị theo lớp (level).</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Bắt đầu từ điểm xuất phát, mở rộng tất cả các ô hàng xóm trước khi đi sâu hơn.</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Sử dụng hàng đợi (queue).</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Trong mê cung:</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BFS sẽ “lan tỏa” dần dần như sóng nước từ điểm xuất phát.</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Nó đảm bảo tìm được đường đi ngắn nhất (ít bước nhất) nếu các cạnh có trọng số bằng nhau (mỗi bước đi = 1).</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Nhược điểm:</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Rất tốn bộ nhớ vì phải lưu tất cả nút cùng tầng.</a:t>
            </a:r>
          </a:p>
          <a:p>
            <a:pPr algn="just" marL="0" indent="0" lvl="0">
              <a:lnSpc>
                <a:spcPts val="4079"/>
              </a:lnSpc>
            </a:pPr>
            <a:r>
              <a:rPr lang="en-US" sz="2400">
                <a:solidFill>
                  <a:srgbClr val="0F4662"/>
                </a:solidFill>
                <a:latin typeface="Quicksand"/>
                <a:ea typeface="Quicksand"/>
                <a:cs typeface="Quicksand"/>
                <a:sym typeface="Quicksand"/>
              </a:rPr>
              <a:t> </a:t>
            </a:r>
          </a:p>
          <a:p>
            <a:pPr algn="just" marL="0" indent="0" lvl="0">
              <a:lnSpc>
                <a:spcPts val="4079"/>
              </a:lnSpc>
            </a:pPr>
          </a:p>
        </p:txBody>
      </p:sp>
      <p:sp>
        <p:nvSpPr>
          <p:cNvPr name="TextBox 3" id="3"/>
          <p:cNvSpPr txBox="true"/>
          <p:nvPr/>
        </p:nvSpPr>
        <p:spPr>
          <a:xfrm rot="0">
            <a:off x="455130" y="82551"/>
            <a:ext cx="8048163" cy="946149"/>
          </a:xfrm>
          <a:prstGeom prst="rect">
            <a:avLst/>
          </a:prstGeom>
        </p:spPr>
        <p:txBody>
          <a:bodyPr anchor="t" rtlCol="false" tIns="0" lIns="0" bIns="0" rIns="0">
            <a:spAutoFit/>
          </a:bodyPr>
          <a:lstStyle/>
          <a:p>
            <a:pPr algn="l" marL="0" indent="0" lvl="0">
              <a:lnSpc>
                <a:spcPts val="7700"/>
              </a:lnSpc>
              <a:spcBef>
                <a:spcPct val="0"/>
              </a:spcBef>
            </a:pPr>
            <a:r>
              <a:rPr lang="en-US" b="true" sz="5500" i="true">
                <a:solidFill>
                  <a:srgbClr val="0F4662"/>
                </a:solidFill>
                <a:latin typeface="Cormorant Garamond Bold Italics"/>
                <a:ea typeface="Cormorant Garamond Bold Italics"/>
                <a:cs typeface="Cormorant Garamond Bold Italics"/>
                <a:sym typeface="Cormorant Garamond Bold Italics"/>
              </a:rPr>
              <a:t>Phần I: Comparisons</a:t>
            </a:r>
          </a:p>
        </p:txBody>
      </p:sp>
      <p:sp>
        <p:nvSpPr>
          <p:cNvPr name="TextBox 4" id="4"/>
          <p:cNvSpPr txBox="true"/>
          <p:nvPr/>
        </p:nvSpPr>
        <p:spPr>
          <a:xfrm rot="0">
            <a:off x="-816491" y="1132376"/>
            <a:ext cx="9960491" cy="520700"/>
          </a:xfrm>
          <a:prstGeom prst="rect">
            <a:avLst/>
          </a:prstGeom>
        </p:spPr>
        <p:txBody>
          <a:bodyPr anchor="t" rtlCol="false" tIns="0" lIns="0" bIns="0" rIns="0">
            <a:spAutoFit/>
          </a:bodyPr>
          <a:lstStyle/>
          <a:p>
            <a:pPr algn="ctr" marL="0" indent="0" lvl="0">
              <a:lnSpc>
                <a:spcPts val="4419"/>
              </a:lnSpc>
            </a:pPr>
            <a:r>
              <a:rPr lang="en-US" b="true" sz="2599">
                <a:solidFill>
                  <a:srgbClr val="0F4662"/>
                </a:solidFill>
                <a:latin typeface="Quicksand Bold"/>
                <a:ea typeface="Quicksand Bold"/>
                <a:cs typeface="Quicksand Bold"/>
                <a:sym typeface="Quicksand Bold"/>
              </a:rPr>
              <a:t>* Mô tả cách hoạt động của BFS, DFS, A*, GBFS </a:t>
            </a:r>
          </a:p>
        </p:txBody>
      </p:sp>
      <p:sp>
        <p:nvSpPr>
          <p:cNvPr name="TextBox 5" id="5"/>
          <p:cNvSpPr txBox="true"/>
          <p:nvPr/>
        </p:nvSpPr>
        <p:spPr>
          <a:xfrm rot="0">
            <a:off x="9543384" y="2278031"/>
            <a:ext cx="8297051" cy="7686675"/>
          </a:xfrm>
          <a:prstGeom prst="rect">
            <a:avLst/>
          </a:prstGeom>
        </p:spPr>
        <p:txBody>
          <a:bodyPr anchor="t" rtlCol="false" tIns="0" lIns="0" bIns="0" rIns="0">
            <a:spAutoFit/>
          </a:bodyPr>
          <a:lstStyle/>
          <a:p>
            <a:pPr algn="just">
              <a:lnSpc>
                <a:spcPts val="4079"/>
              </a:lnSpc>
            </a:pPr>
            <a:r>
              <a:rPr lang="en-US" sz="2400" b="true">
                <a:solidFill>
                  <a:srgbClr val="0F4662"/>
                </a:solidFill>
                <a:latin typeface="Quicksand Bold"/>
                <a:ea typeface="Quicksand Bold"/>
                <a:cs typeface="Quicksand Bold"/>
                <a:sym typeface="Quicksand Bold"/>
              </a:rPr>
              <a:t>2. DFS – Depth-First Search (Tìm kiếm theo chiều sâu)</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Cách hoạt động:</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L</a:t>
            </a:r>
            <a:r>
              <a:rPr lang="en-US" sz="2400">
                <a:solidFill>
                  <a:srgbClr val="0F4662"/>
                </a:solidFill>
                <a:latin typeface="Quicksand"/>
                <a:ea typeface="Quicksand"/>
                <a:cs typeface="Quicksand"/>
                <a:sym typeface="Quicksand"/>
              </a:rPr>
              <a:t>uôn đi sâu xuống theo một nhánh cho đến khi gặp bế tắc thì quay lui.</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Sử dụng ngăn xếp (stack) hoặc đệ quy.</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Trong mê cung:</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D</a:t>
            </a:r>
            <a:r>
              <a:rPr lang="en-US" sz="2400">
                <a:solidFill>
                  <a:srgbClr val="0F4662"/>
                </a:solidFill>
                <a:latin typeface="Quicksand"/>
                <a:ea typeface="Quicksand"/>
                <a:cs typeface="Quicksand"/>
                <a:sym typeface="Quicksand"/>
              </a:rPr>
              <a:t>FS sẽ giống như một người "cắm đầu" đi đến khi kẹt thì mới quay lại thử nhánh khác.</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Nó không đảm bảo tìm đường ngắn nhất.</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Ưu điểm:</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Tốn ít bộ nhớ hơn BFS.</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Nhược điểm:</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Có thể đi vào nhánh dài vô ích → tìm ra đường rất chậm.</a:t>
            </a:r>
          </a:p>
          <a:p>
            <a:pPr algn="just" marL="0" indent="0" lvl="0">
              <a:lnSpc>
                <a:spcPts val="4079"/>
              </a:lnSpc>
            </a:pPr>
          </a:p>
        </p:txBody>
      </p:sp>
      <p:sp>
        <p:nvSpPr>
          <p:cNvPr name="AutoShape 6" id="6"/>
          <p:cNvSpPr/>
          <p:nvPr/>
        </p:nvSpPr>
        <p:spPr>
          <a:xfrm flipH="true">
            <a:off x="9204122" y="2402058"/>
            <a:ext cx="38100" cy="7169796"/>
          </a:xfrm>
          <a:prstGeom prst="line">
            <a:avLst/>
          </a:prstGeom>
          <a:ln cap="flat" w="76200">
            <a:solidFill>
              <a:srgbClr val="0F4662"/>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25802" y="1529251"/>
            <a:ext cx="7212372" cy="8201025"/>
          </a:xfrm>
          <a:prstGeom prst="rect">
            <a:avLst/>
          </a:prstGeom>
        </p:spPr>
        <p:txBody>
          <a:bodyPr anchor="t" rtlCol="false" tIns="0" lIns="0" bIns="0" rIns="0">
            <a:spAutoFit/>
          </a:bodyPr>
          <a:lstStyle/>
          <a:p>
            <a:pPr algn="just">
              <a:lnSpc>
                <a:spcPts val="4079"/>
              </a:lnSpc>
            </a:pPr>
            <a:r>
              <a:rPr lang="en-US" sz="2400" b="true">
                <a:solidFill>
                  <a:srgbClr val="0F4662"/>
                </a:solidFill>
                <a:latin typeface="Quicksand Bold"/>
                <a:ea typeface="Quicksand Bold"/>
                <a:cs typeface="Quicksand Bold"/>
                <a:sym typeface="Quicksand Bold"/>
              </a:rPr>
              <a:t> 3. Greedy Best-First Search (GBFS)</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Cách hoạt động:</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Mỗi bước mở rộng nú</a:t>
            </a:r>
            <a:r>
              <a:rPr lang="en-US" sz="2400">
                <a:solidFill>
                  <a:srgbClr val="0F4662"/>
                </a:solidFill>
                <a:latin typeface="Quicksand"/>
                <a:ea typeface="Quicksand"/>
                <a:cs typeface="Quicksand"/>
                <a:sym typeface="Quicksand"/>
              </a:rPr>
              <a:t>t gần đích nhất theo heuristic (ví dụ: khoảng cách Euclidean hoặc Manhattan tới đích).</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Chỉ quan tâm đến đích, không quan tâm đường đã đi.</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Trong mê cung:</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Giố</a:t>
            </a:r>
            <a:r>
              <a:rPr lang="en-US" sz="2400">
                <a:solidFill>
                  <a:srgbClr val="0F4662"/>
                </a:solidFill>
                <a:latin typeface="Quicksand"/>
                <a:ea typeface="Quicksand"/>
                <a:cs typeface="Quicksand"/>
                <a:sym typeface="Quicksand"/>
              </a:rPr>
              <a:t>ng như một người luôn chọn hướng nào có vẻ tiến gần đích nhất.</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Chạy nhanh, ít mở rộng, nhưng có thể không tìm được đường tối ưu.</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Ưu điểm: nhanh, trực quan.</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Nhược điểm: dễ mắc kẹt, không đảm bảo tối ưu.</a:t>
            </a:r>
          </a:p>
          <a:p>
            <a:pPr algn="just" marL="0" indent="0" lvl="0">
              <a:lnSpc>
                <a:spcPts val="4079"/>
              </a:lnSpc>
            </a:pPr>
          </a:p>
        </p:txBody>
      </p:sp>
      <p:sp>
        <p:nvSpPr>
          <p:cNvPr name="TextBox 3" id="3"/>
          <p:cNvSpPr txBox="true"/>
          <p:nvPr/>
        </p:nvSpPr>
        <p:spPr>
          <a:xfrm rot="0">
            <a:off x="455130" y="82551"/>
            <a:ext cx="8048163" cy="946149"/>
          </a:xfrm>
          <a:prstGeom prst="rect">
            <a:avLst/>
          </a:prstGeom>
        </p:spPr>
        <p:txBody>
          <a:bodyPr anchor="t" rtlCol="false" tIns="0" lIns="0" bIns="0" rIns="0">
            <a:spAutoFit/>
          </a:bodyPr>
          <a:lstStyle/>
          <a:p>
            <a:pPr algn="l" marL="0" indent="0" lvl="0">
              <a:lnSpc>
                <a:spcPts val="7700"/>
              </a:lnSpc>
              <a:spcBef>
                <a:spcPct val="0"/>
              </a:spcBef>
            </a:pPr>
            <a:r>
              <a:rPr lang="en-US" b="true" sz="5500" i="true">
                <a:solidFill>
                  <a:srgbClr val="0F4662"/>
                </a:solidFill>
                <a:latin typeface="Cormorant Garamond Bold Italics"/>
                <a:ea typeface="Cormorant Garamond Bold Italics"/>
                <a:cs typeface="Cormorant Garamond Bold Italics"/>
                <a:sym typeface="Cormorant Garamond Bold Italics"/>
              </a:rPr>
              <a:t>Phần I: Comparisons</a:t>
            </a:r>
          </a:p>
        </p:txBody>
      </p:sp>
      <p:sp>
        <p:nvSpPr>
          <p:cNvPr name="TextBox 4" id="4"/>
          <p:cNvSpPr txBox="true"/>
          <p:nvPr/>
        </p:nvSpPr>
        <p:spPr>
          <a:xfrm rot="0">
            <a:off x="8769084" y="1529251"/>
            <a:ext cx="8658611" cy="8715375"/>
          </a:xfrm>
          <a:prstGeom prst="rect">
            <a:avLst/>
          </a:prstGeom>
        </p:spPr>
        <p:txBody>
          <a:bodyPr anchor="t" rtlCol="false" tIns="0" lIns="0" bIns="0" rIns="0">
            <a:spAutoFit/>
          </a:bodyPr>
          <a:lstStyle/>
          <a:p>
            <a:pPr algn="just">
              <a:lnSpc>
                <a:spcPts val="4079"/>
              </a:lnSpc>
            </a:pPr>
            <a:r>
              <a:rPr lang="en-US" sz="2400" b="true">
                <a:solidFill>
                  <a:srgbClr val="0F4662"/>
                </a:solidFill>
                <a:latin typeface="Quicksand Bold"/>
                <a:ea typeface="Quicksand Bold"/>
                <a:cs typeface="Quicksand Bold"/>
                <a:sym typeface="Quicksand Bold"/>
              </a:rPr>
              <a:t> 4. A* Search</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Cách hoạt động:</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Kết hợp chi phí đã</a:t>
            </a:r>
            <a:r>
              <a:rPr lang="en-US" sz="2400">
                <a:solidFill>
                  <a:srgbClr val="0F4662"/>
                </a:solidFill>
                <a:latin typeface="Quicksand"/>
                <a:ea typeface="Quicksand"/>
                <a:cs typeface="Quicksand"/>
                <a:sym typeface="Quicksand"/>
              </a:rPr>
              <a:t> đi (g) và ước lượng khoảng cách đến đích (h).</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Hàm đánh giá:      f (n) = g (n) + h (n)</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Trong đó:</a:t>
            </a:r>
          </a:p>
          <a:p>
            <a:pPr algn="just" marL="1554480" indent="-388620" lvl="3">
              <a:lnSpc>
                <a:spcPts val="4079"/>
              </a:lnSpc>
              <a:buFont typeface="Arial"/>
              <a:buChar char="￭"/>
            </a:pPr>
            <a:r>
              <a:rPr lang="en-US" sz="2400">
                <a:solidFill>
                  <a:srgbClr val="0F4662"/>
                </a:solidFill>
                <a:latin typeface="Quicksand"/>
                <a:ea typeface="Quicksand"/>
                <a:cs typeface="Quicksand"/>
                <a:sym typeface="Quicksand"/>
              </a:rPr>
              <a:t>g (n) : số bước đã đi từ điểm xuất phát đến nút n.</a:t>
            </a:r>
          </a:p>
          <a:p>
            <a:pPr algn="just" marL="1554480" indent="-388620" lvl="3">
              <a:lnSpc>
                <a:spcPts val="4079"/>
              </a:lnSpc>
              <a:buFont typeface="Arial"/>
              <a:buChar char="￭"/>
            </a:pPr>
            <a:r>
              <a:rPr lang="en-US" sz="2400">
                <a:solidFill>
                  <a:srgbClr val="0F4662"/>
                </a:solidFill>
                <a:latin typeface="Quicksand"/>
                <a:ea typeface="Quicksand"/>
                <a:cs typeface="Quicksand"/>
                <a:sym typeface="Quicksand"/>
              </a:rPr>
              <a:t>h</a:t>
            </a:r>
            <a:r>
              <a:rPr lang="en-US" sz="2400">
                <a:solidFill>
                  <a:srgbClr val="0F4662"/>
                </a:solidFill>
                <a:latin typeface="Quicksand"/>
                <a:ea typeface="Quicksand"/>
                <a:cs typeface="Quicksand"/>
                <a:sym typeface="Quicksand"/>
              </a:rPr>
              <a:t> (n) : heuristic (ước lượng số bước còn lại đến đích).</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Trong mê cung:</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A*</a:t>
            </a:r>
            <a:r>
              <a:rPr lang="en-US" sz="2400">
                <a:solidFill>
                  <a:srgbClr val="0F4662"/>
                </a:solidFill>
                <a:latin typeface="Quicksand"/>
                <a:ea typeface="Quicksand"/>
                <a:cs typeface="Quicksand"/>
                <a:sym typeface="Quicksand"/>
              </a:rPr>
              <a:t> cân bằng giữa "nhanh" (giống GBFS) và "an toàn" (giống BFS).</a:t>
            </a:r>
          </a:p>
          <a:p>
            <a:pPr algn="just" marL="1036320" indent="-345440" lvl="2">
              <a:lnSpc>
                <a:spcPts val="4079"/>
              </a:lnSpc>
              <a:buFont typeface="Arial"/>
              <a:buChar char="⚬"/>
            </a:pPr>
            <a:r>
              <a:rPr lang="en-US" sz="2400">
                <a:solidFill>
                  <a:srgbClr val="0F4662"/>
                </a:solidFill>
                <a:latin typeface="Quicksand"/>
                <a:ea typeface="Quicksand"/>
                <a:cs typeface="Quicksand"/>
                <a:sym typeface="Quicksand"/>
              </a:rPr>
              <a:t>Nó đảm bảo tìm ra đường đi ngắn nhất nếu heuristic chấp nhận được (không đánh giá quá cao).</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Ưu điểm: tối ưu, hiệu quả hơn BFS.</a:t>
            </a:r>
          </a:p>
          <a:p>
            <a:pPr algn="just" marL="518160" indent="-259080" lvl="1">
              <a:lnSpc>
                <a:spcPts val="4079"/>
              </a:lnSpc>
              <a:buFont typeface="Arial"/>
              <a:buChar char="•"/>
            </a:pPr>
            <a:r>
              <a:rPr lang="en-US" sz="2400">
                <a:solidFill>
                  <a:srgbClr val="0F4662"/>
                </a:solidFill>
                <a:latin typeface="Quicksand"/>
                <a:ea typeface="Quicksand"/>
                <a:cs typeface="Quicksand"/>
                <a:sym typeface="Quicksand"/>
              </a:rPr>
              <a:t>Nhược điểm:</a:t>
            </a:r>
            <a:r>
              <a:rPr lang="en-US" sz="2400">
                <a:solidFill>
                  <a:srgbClr val="0F4662"/>
                </a:solidFill>
                <a:latin typeface="Quicksand"/>
                <a:ea typeface="Quicksand"/>
                <a:cs typeface="Quicksand"/>
                <a:sym typeface="Quicksand"/>
              </a:rPr>
              <a:t> phức tạp hơn, vẫn tốn nhiều bộ nhớ.</a:t>
            </a:r>
          </a:p>
          <a:p>
            <a:pPr algn="just" marL="0" indent="0" lvl="0">
              <a:lnSpc>
                <a:spcPts val="4079"/>
              </a:lnSpc>
            </a:pPr>
          </a:p>
        </p:txBody>
      </p:sp>
      <p:sp>
        <p:nvSpPr>
          <p:cNvPr name="AutoShape 5" id="5"/>
          <p:cNvSpPr/>
          <p:nvPr/>
        </p:nvSpPr>
        <p:spPr>
          <a:xfrm flipH="true">
            <a:off x="8299722" y="1653279"/>
            <a:ext cx="38100" cy="7169796"/>
          </a:xfrm>
          <a:prstGeom prst="line">
            <a:avLst/>
          </a:prstGeom>
          <a:ln cap="flat" w="76200">
            <a:solidFill>
              <a:srgbClr val="0F4662"/>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9144000" y="15849"/>
            <a:ext cx="9144000" cy="10271151"/>
            <a:chOff x="0" y="0"/>
            <a:chExt cx="2408296" cy="2705159"/>
          </a:xfrm>
        </p:grpSpPr>
        <p:sp>
          <p:nvSpPr>
            <p:cNvPr name="Freeform 3" id="3"/>
            <p:cNvSpPr/>
            <p:nvPr/>
          </p:nvSpPr>
          <p:spPr>
            <a:xfrm flipH="false" flipV="false" rot="0">
              <a:off x="0" y="0"/>
              <a:ext cx="2408296" cy="2705159"/>
            </a:xfrm>
            <a:custGeom>
              <a:avLst/>
              <a:gdLst/>
              <a:ahLst/>
              <a:cxnLst/>
              <a:rect r="r" b="b" t="t" l="l"/>
              <a:pathLst>
                <a:path h="2705159" w="2408296">
                  <a:moveTo>
                    <a:pt x="0" y="0"/>
                  </a:moveTo>
                  <a:lnTo>
                    <a:pt x="2408296" y="0"/>
                  </a:lnTo>
                  <a:lnTo>
                    <a:pt x="2408296" y="2705159"/>
                  </a:lnTo>
                  <a:lnTo>
                    <a:pt x="0" y="2705159"/>
                  </a:lnTo>
                  <a:close/>
                </a:path>
              </a:pathLst>
            </a:custGeom>
            <a:solidFill>
              <a:srgbClr val="7994A0"/>
            </a:solidFill>
          </p:spPr>
        </p:sp>
        <p:sp>
          <p:nvSpPr>
            <p:cNvPr name="TextBox 4" id="4"/>
            <p:cNvSpPr txBox="true"/>
            <p:nvPr/>
          </p:nvSpPr>
          <p:spPr>
            <a:xfrm>
              <a:off x="0" y="-47625"/>
              <a:ext cx="2408296" cy="2752784"/>
            </a:xfrm>
            <a:prstGeom prst="rect">
              <a:avLst/>
            </a:prstGeom>
          </p:spPr>
          <p:txBody>
            <a:bodyPr anchor="ctr" rtlCol="false" tIns="50800" lIns="50800" bIns="50800" rIns="50800"/>
            <a:lstStyle/>
            <a:p>
              <a:pPr algn="ctr">
                <a:lnSpc>
                  <a:spcPts val="3693"/>
                </a:lnSpc>
              </a:pPr>
            </a:p>
          </p:txBody>
        </p:sp>
      </p:grpSp>
      <p:sp>
        <p:nvSpPr>
          <p:cNvPr name="TextBox 5" id="5"/>
          <p:cNvSpPr txBox="true"/>
          <p:nvPr/>
        </p:nvSpPr>
        <p:spPr>
          <a:xfrm rot="0">
            <a:off x="329684" y="1914525"/>
            <a:ext cx="8336098" cy="6334126"/>
          </a:xfrm>
          <a:prstGeom prst="rect">
            <a:avLst/>
          </a:prstGeom>
        </p:spPr>
        <p:txBody>
          <a:bodyPr anchor="t" rtlCol="false" tIns="0" lIns="0" bIns="0" rIns="0">
            <a:spAutoFit/>
          </a:bodyPr>
          <a:lstStyle/>
          <a:p>
            <a:pPr algn="l">
              <a:lnSpc>
                <a:spcPts val="5099"/>
              </a:lnSpc>
            </a:pPr>
            <a:r>
              <a:rPr lang="en-US" sz="2999" b="true">
                <a:solidFill>
                  <a:srgbClr val="0F4662"/>
                </a:solidFill>
                <a:latin typeface="Quicksand Bold"/>
                <a:ea typeface="Quicksand Bold"/>
                <a:cs typeface="Quicksand Bold"/>
                <a:sym typeface="Quicksand Bold"/>
              </a:rPr>
              <a:t>1. Thành phần trong hình/hoạt hình</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Ô trống (trắng): ô có thể đi qua.</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Tường (đen): ô không thể đi qua.</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Start (S): điểm bắt đầu.</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Goal (G): điểm đích.</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Nút đã mở rộng (xanh nhạt / xám): các ô mà thuật toán đã duyệt.</a:t>
            </a:r>
          </a:p>
          <a:p>
            <a:pPr algn="l" marL="0" indent="0" lvl="0">
              <a:lnSpc>
                <a:spcPts val="5099"/>
              </a:lnSpc>
            </a:pPr>
            <a:r>
              <a:rPr lang="en-US" sz="2999">
                <a:solidFill>
                  <a:srgbClr val="0F4662"/>
                </a:solidFill>
                <a:latin typeface="Quicksand"/>
                <a:ea typeface="Quicksand"/>
                <a:cs typeface="Quicksand"/>
                <a:sym typeface="Quicksand"/>
              </a:rPr>
              <a:t>Đường tìm được (màu vàng hoặc xanh đậm): kết quả cuối cùng mà thuật toán chọn.</a:t>
            </a:r>
          </a:p>
          <a:p>
            <a:pPr algn="l" marL="0" indent="0" lvl="0">
              <a:lnSpc>
                <a:spcPts val="5099"/>
              </a:lnSpc>
            </a:pPr>
          </a:p>
        </p:txBody>
      </p:sp>
      <p:sp>
        <p:nvSpPr>
          <p:cNvPr name="TextBox 6" id="6"/>
          <p:cNvSpPr txBox="true"/>
          <p:nvPr/>
        </p:nvSpPr>
        <p:spPr>
          <a:xfrm rot="0">
            <a:off x="247252" y="149368"/>
            <a:ext cx="8500964" cy="1313181"/>
          </a:xfrm>
          <a:prstGeom prst="rect">
            <a:avLst/>
          </a:prstGeom>
        </p:spPr>
        <p:txBody>
          <a:bodyPr anchor="t" rtlCol="false" tIns="0" lIns="0" bIns="0" rIns="0">
            <a:spAutoFit/>
          </a:bodyPr>
          <a:lstStyle/>
          <a:p>
            <a:pPr algn="l" marL="0" indent="0" lvl="0">
              <a:lnSpc>
                <a:spcPts val="5319"/>
              </a:lnSpc>
              <a:spcBef>
                <a:spcPct val="0"/>
              </a:spcBef>
            </a:pPr>
            <a:r>
              <a:rPr lang="en-US" b="true" sz="3799">
                <a:solidFill>
                  <a:srgbClr val="0F4662"/>
                </a:solidFill>
                <a:latin typeface="Quicksand Bold"/>
                <a:ea typeface="Quicksand Bold"/>
                <a:cs typeface="Quicksand Bold"/>
                <a:sym typeface="Quicksand Bold"/>
              </a:rPr>
              <a:t>* Phân tích hình ảnh và hoạt hình tìm kiếm trong mê cung</a:t>
            </a:r>
          </a:p>
        </p:txBody>
      </p:sp>
      <p:sp>
        <p:nvSpPr>
          <p:cNvPr name="TextBox 7" id="7"/>
          <p:cNvSpPr txBox="true"/>
          <p:nvPr/>
        </p:nvSpPr>
        <p:spPr>
          <a:xfrm rot="0">
            <a:off x="9463587" y="1905000"/>
            <a:ext cx="8504826" cy="8382000"/>
          </a:xfrm>
          <a:prstGeom prst="rect">
            <a:avLst/>
          </a:prstGeom>
        </p:spPr>
        <p:txBody>
          <a:bodyPr anchor="t" rtlCol="false" tIns="0" lIns="0" bIns="0" rIns="0">
            <a:spAutoFit/>
          </a:bodyPr>
          <a:lstStyle/>
          <a:p>
            <a:pPr algn="l">
              <a:lnSpc>
                <a:spcPts val="5100"/>
              </a:lnSpc>
            </a:pPr>
            <a:r>
              <a:rPr lang="en-US" sz="3000" b="true">
                <a:solidFill>
                  <a:srgbClr val="FFFFFF"/>
                </a:solidFill>
                <a:latin typeface="Quicksand Bold"/>
                <a:ea typeface="Quicksand Bold"/>
                <a:cs typeface="Quicksand Bold"/>
                <a:sym typeface="Quicksand Bold"/>
              </a:rPr>
              <a:t>2</a:t>
            </a:r>
            <a:r>
              <a:rPr lang="en-US" sz="3000" b="true">
                <a:solidFill>
                  <a:srgbClr val="FFFFFF"/>
                </a:solidFill>
                <a:latin typeface="Quicksand Bold"/>
                <a:ea typeface="Quicksand Bold"/>
                <a:cs typeface="Quicksand Bold"/>
                <a:sym typeface="Quicksand Bold"/>
              </a:rPr>
              <a:t>. BFS (Breadth-First Search)</a:t>
            </a:r>
          </a:p>
          <a:p>
            <a:pPr algn="l" marL="647700" indent="-323850" lvl="1">
              <a:lnSpc>
                <a:spcPts val="5100"/>
              </a:lnSpc>
              <a:buFont typeface="Arial"/>
              <a:buChar char="•"/>
            </a:pPr>
            <a:r>
              <a:rPr lang="en-US" sz="3000">
                <a:solidFill>
                  <a:srgbClr val="FFFFFF"/>
                </a:solidFill>
                <a:latin typeface="Quicksand"/>
                <a:ea typeface="Quicksand"/>
                <a:cs typeface="Quicksand"/>
                <a:sym typeface="Quicksand"/>
              </a:rPr>
              <a:t>Hình ảnh tĩnh:</a:t>
            </a:r>
          </a:p>
          <a:p>
            <a:pPr algn="l" marL="1295400" indent="-431800" lvl="2">
              <a:lnSpc>
                <a:spcPts val="5100"/>
              </a:lnSpc>
              <a:buFont typeface="Arial"/>
              <a:buChar char="⚬"/>
            </a:pPr>
            <a:r>
              <a:rPr lang="en-US" sz="3000">
                <a:solidFill>
                  <a:srgbClr val="FFFFFF"/>
                </a:solidFill>
                <a:latin typeface="Quicksand"/>
                <a:ea typeface="Quicksand"/>
                <a:cs typeface="Quicksand"/>
                <a:sym typeface="Quicksand"/>
              </a:rPr>
              <a:t>Vùng tìm kiếm lan ra đều theo vòng tròn quanh điểm xuất phát.</a:t>
            </a:r>
          </a:p>
          <a:p>
            <a:pPr algn="l" marL="1295400" indent="-431800" lvl="2">
              <a:lnSpc>
                <a:spcPts val="5100"/>
              </a:lnSpc>
              <a:buFont typeface="Arial"/>
              <a:buChar char="⚬"/>
            </a:pPr>
            <a:r>
              <a:rPr lang="en-US" sz="3000">
                <a:solidFill>
                  <a:srgbClr val="FFFFFF"/>
                </a:solidFill>
                <a:latin typeface="Quicksand"/>
                <a:ea typeface="Quicksand"/>
                <a:cs typeface="Quicksand"/>
                <a:sym typeface="Quicksand"/>
              </a:rPr>
              <a:t>Các</a:t>
            </a:r>
            <a:r>
              <a:rPr lang="en-US" sz="3000">
                <a:solidFill>
                  <a:srgbClr val="FFFFFF"/>
                </a:solidFill>
                <a:latin typeface="Quicksand"/>
                <a:ea typeface="Quicksand"/>
                <a:cs typeface="Quicksand"/>
                <a:sym typeface="Quicksand"/>
              </a:rPr>
              <a:t> ô được mở rộng theo lớp (layer).</a:t>
            </a:r>
          </a:p>
          <a:p>
            <a:pPr algn="l" marL="647700" indent="-323850" lvl="1">
              <a:lnSpc>
                <a:spcPts val="5100"/>
              </a:lnSpc>
              <a:buFont typeface="Arial"/>
              <a:buChar char="•"/>
            </a:pPr>
            <a:r>
              <a:rPr lang="en-US" sz="3000">
                <a:solidFill>
                  <a:srgbClr val="FFFFFF"/>
                </a:solidFill>
                <a:latin typeface="Quicksand"/>
                <a:ea typeface="Quicksand"/>
                <a:cs typeface="Quicksand"/>
                <a:sym typeface="Quicksand"/>
              </a:rPr>
              <a:t>Hoạt hình:</a:t>
            </a:r>
          </a:p>
          <a:p>
            <a:pPr algn="l" marL="1295400" indent="-431800" lvl="2">
              <a:lnSpc>
                <a:spcPts val="5100"/>
              </a:lnSpc>
              <a:buFont typeface="Arial"/>
              <a:buChar char="⚬"/>
            </a:pPr>
            <a:r>
              <a:rPr lang="en-US" sz="3000">
                <a:solidFill>
                  <a:srgbClr val="FFFFFF"/>
                </a:solidFill>
                <a:latin typeface="Quicksand"/>
                <a:ea typeface="Quicksand"/>
                <a:cs typeface="Quicksand"/>
                <a:sym typeface="Quicksand"/>
              </a:rPr>
              <a:t>Bạn sẽ thấy BFS giống như một “làn sóng nước” lan dần ra khắp mê cung cho đến khi gặp Goal.</a:t>
            </a:r>
          </a:p>
          <a:p>
            <a:pPr algn="l" marL="647700" indent="-323850" lvl="1">
              <a:lnSpc>
                <a:spcPts val="5100"/>
              </a:lnSpc>
              <a:buFont typeface="Arial"/>
              <a:buChar char="•"/>
            </a:pPr>
            <a:r>
              <a:rPr lang="en-US" sz="3000">
                <a:solidFill>
                  <a:srgbClr val="FFFFFF"/>
                </a:solidFill>
                <a:latin typeface="Quicksand"/>
                <a:ea typeface="Quicksand"/>
                <a:cs typeface="Quicksand"/>
                <a:sym typeface="Quicksand"/>
              </a:rPr>
              <a:t>Kết quả:</a:t>
            </a:r>
          </a:p>
          <a:p>
            <a:pPr algn="l" marL="1295400" indent="-431800" lvl="2">
              <a:lnSpc>
                <a:spcPts val="5100"/>
              </a:lnSpc>
              <a:buFont typeface="Arial"/>
              <a:buChar char="⚬"/>
            </a:pPr>
            <a:r>
              <a:rPr lang="en-US" sz="3000">
                <a:solidFill>
                  <a:srgbClr val="FFFFFF"/>
                </a:solidFill>
                <a:latin typeface="Quicksand"/>
                <a:ea typeface="Quicksand"/>
                <a:cs typeface="Quicksand"/>
                <a:sym typeface="Quicksand"/>
              </a:rPr>
              <a:t>Đường đi tìm được ngắn nhất (ít bước nhất).</a:t>
            </a:r>
          </a:p>
          <a:p>
            <a:pPr algn="l" marL="0" indent="0" lvl="0">
              <a:lnSpc>
                <a:spcPts val="5100"/>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9144000" y="15849"/>
            <a:ext cx="9144000" cy="10271151"/>
            <a:chOff x="0" y="0"/>
            <a:chExt cx="2408296" cy="2705159"/>
          </a:xfrm>
        </p:grpSpPr>
        <p:sp>
          <p:nvSpPr>
            <p:cNvPr name="Freeform 3" id="3"/>
            <p:cNvSpPr/>
            <p:nvPr/>
          </p:nvSpPr>
          <p:spPr>
            <a:xfrm flipH="false" flipV="false" rot="0">
              <a:off x="0" y="0"/>
              <a:ext cx="2408296" cy="2705159"/>
            </a:xfrm>
            <a:custGeom>
              <a:avLst/>
              <a:gdLst/>
              <a:ahLst/>
              <a:cxnLst/>
              <a:rect r="r" b="b" t="t" l="l"/>
              <a:pathLst>
                <a:path h="2705159" w="2408296">
                  <a:moveTo>
                    <a:pt x="0" y="0"/>
                  </a:moveTo>
                  <a:lnTo>
                    <a:pt x="2408296" y="0"/>
                  </a:lnTo>
                  <a:lnTo>
                    <a:pt x="2408296" y="2705159"/>
                  </a:lnTo>
                  <a:lnTo>
                    <a:pt x="0" y="2705159"/>
                  </a:lnTo>
                  <a:close/>
                </a:path>
              </a:pathLst>
            </a:custGeom>
            <a:solidFill>
              <a:srgbClr val="7994A0"/>
            </a:solidFill>
          </p:spPr>
        </p:sp>
        <p:sp>
          <p:nvSpPr>
            <p:cNvPr name="TextBox 4" id="4"/>
            <p:cNvSpPr txBox="true"/>
            <p:nvPr/>
          </p:nvSpPr>
          <p:spPr>
            <a:xfrm>
              <a:off x="0" y="-47625"/>
              <a:ext cx="2408296" cy="2752784"/>
            </a:xfrm>
            <a:prstGeom prst="rect">
              <a:avLst/>
            </a:prstGeom>
          </p:spPr>
          <p:txBody>
            <a:bodyPr anchor="ctr" rtlCol="false" tIns="50800" lIns="50800" bIns="50800" rIns="50800"/>
            <a:lstStyle/>
            <a:p>
              <a:pPr algn="ctr">
                <a:lnSpc>
                  <a:spcPts val="3693"/>
                </a:lnSpc>
              </a:pPr>
            </a:p>
          </p:txBody>
        </p:sp>
      </p:grpSp>
      <p:sp>
        <p:nvSpPr>
          <p:cNvPr name="TextBox 5" id="5"/>
          <p:cNvSpPr txBox="true"/>
          <p:nvPr/>
        </p:nvSpPr>
        <p:spPr>
          <a:xfrm rot="0">
            <a:off x="412117" y="1657350"/>
            <a:ext cx="8336098" cy="8886826"/>
          </a:xfrm>
          <a:prstGeom prst="rect">
            <a:avLst/>
          </a:prstGeom>
        </p:spPr>
        <p:txBody>
          <a:bodyPr anchor="t" rtlCol="false" tIns="0" lIns="0" bIns="0" rIns="0">
            <a:spAutoFit/>
          </a:bodyPr>
          <a:lstStyle/>
          <a:p>
            <a:pPr algn="l">
              <a:lnSpc>
                <a:spcPts val="5099"/>
              </a:lnSpc>
            </a:pPr>
            <a:r>
              <a:rPr lang="en-US" sz="2999" b="true">
                <a:solidFill>
                  <a:srgbClr val="0F4662"/>
                </a:solidFill>
                <a:latin typeface="Quicksand Bold"/>
                <a:ea typeface="Quicksand Bold"/>
                <a:cs typeface="Quicksand Bold"/>
                <a:sym typeface="Quicksand Bold"/>
              </a:rPr>
              <a:t>3. DFS (Depth-First Search)</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Hình ảnh tĩnh:</a:t>
            </a:r>
          </a:p>
          <a:p>
            <a:pPr algn="l" marL="1295394" indent="-431798" lvl="2">
              <a:lnSpc>
                <a:spcPts val="5099"/>
              </a:lnSpc>
              <a:buFont typeface="Arial"/>
              <a:buChar char="⚬"/>
            </a:pPr>
            <a:r>
              <a:rPr lang="en-US" sz="2999">
                <a:solidFill>
                  <a:srgbClr val="0F4662"/>
                </a:solidFill>
                <a:latin typeface="Quicksand"/>
                <a:ea typeface="Quicksand"/>
                <a:cs typeface="Quicksand"/>
                <a:sym typeface="Quicksand"/>
              </a:rPr>
              <a:t>Vùng tìm kiếm là một nhánh sâu từ Start đến khi chạm bế tắc rồi quay lại.</a:t>
            </a:r>
          </a:p>
          <a:p>
            <a:pPr algn="l" marL="1295394" indent="-431798" lvl="2">
              <a:lnSpc>
                <a:spcPts val="5099"/>
              </a:lnSpc>
              <a:buFont typeface="Arial"/>
              <a:buChar char="⚬"/>
            </a:pPr>
            <a:r>
              <a:rPr lang="en-US" sz="2999">
                <a:solidFill>
                  <a:srgbClr val="0F4662"/>
                </a:solidFill>
                <a:latin typeface="Quicksand"/>
                <a:ea typeface="Quicksand"/>
                <a:cs typeface="Quicksand"/>
                <a:sym typeface="Quicksand"/>
              </a:rPr>
              <a:t>Dễ thấy</a:t>
            </a:r>
            <a:r>
              <a:rPr lang="en-US" sz="2999">
                <a:solidFill>
                  <a:srgbClr val="0F4662"/>
                </a:solidFill>
                <a:latin typeface="Quicksand"/>
                <a:ea typeface="Quicksand"/>
                <a:cs typeface="Quicksand"/>
                <a:sym typeface="Quicksand"/>
              </a:rPr>
              <a:t> có nhiều ô bị duyệt nhưng không liên quan đến đường ngắn nhất.</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Hoạ</a:t>
            </a:r>
            <a:r>
              <a:rPr lang="en-US" sz="2999">
                <a:solidFill>
                  <a:srgbClr val="0F4662"/>
                </a:solidFill>
                <a:latin typeface="Quicksand"/>
                <a:ea typeface="Quicksand"/>
                <a:cs typeface="Quicksand"/>
                <a:sym typeface="Quicksand"/>
              </a:rPr>
              <a:t>t hình:</a:t>
            </a:r>
          </a:p>
          <a:p>
            <a:pPr algn="l" marL="1295394" indent="-431798" lvl="2">
              <a:lnSpc>
                <a:spcPts val="5099"/>
              </a:lnSpc>
              <a:buFont typeface="Arial"/>
              <a:buChar char="⚬"/>
            </a:pPr>
            <a:r>
              <a:rPr lang="en-US" sz="2999">
                <a:solidFill>
                  <a:srgbClr val="0F4662"/>
                </a:solidFill>
                <a:latin typeface="Quicksand"/>
                <a:ea typeface="Quicksand"/>
                <a:cs typeface="Quicksand"/>
                <a:sym typeface="Quicksand"/>
              </a:rPr>
              <a:t>DFS giống như một người “cắm đầu” đi sâu theo một hướng cho đến khi kẹt → quay lại → thử nhánh khác.</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Kết</a:t>
            </a:r>
            <a:r>
              <a:rPr lang="en-US" sz="2999">
                <a:solidFill>
                  <a:srgbClr val="0F4662"/>
                </a:solidFill>
                <a:latin typeface="Quicksand"/>
                <a:ea typeface="Quicksand"/>
                <a:cs typeface="Quicksand"/>
                <a:sym typeface="Quicksand"/>
              </a:rPr>
              <a:t> quả:</a:t>
            </a:r>
          </a:p>
          <a:p>
            <a:pPr algn="l" marL="1295394" indent="-431798" lvl="2">
              <a:lnSpc>
                <a:spcPts val="5099"/>
              </a:lnSpc>
              <a:buFont typeface="Arial"/>
              <a:buChar char="⚬"/>
            </a:pPr>
            <a:r>
              <a:rPr lang="en-US" sz="2999">
                <a:solidFill>
                  <a:srgbClr val="0F4662"/>
                </a:solidFill>
                <a:latin typeface="Quicksand"/>
                <a:ea typeface="Quicksand"/>
                <a:cs typeface="Quicksand"/>
                <a:sym typeface="Quicksand"/>
              </a:rPr>
              <a:t>Tìm được đường đến Goal nhưng không tối ưu (có thể rất vòng vèo).</a:t>
            </a:r>
          </a:p>
          <a:p>
            <a:pPr algn="l" marL="0" indent="0" lvl="0">
              <a:lnSpc>
                <a:spcPts val="5099"/>
              </a:lnSpc>
            </a:pPr>
          </a:p>
        </p:txBody>
      </p:sp>
      <p:sp>
        <p:nvSpPr>
          <p:cNvPr name="TextBox 6" id="6"/>
          <p:cNvSpPr txBox="true"/>
          <p:nvPr/>
        </p:nvSpPr>
        <p:spPr>
          <a:xfrm rot="0">
            <a:off x="185060" y="254633"/>
            <a:ext cx="16768633" cy="764541"/>
          </a:xfrm>
          <a:prstGeom prst="rect">
            <a:avLst/>
          </a:prstGeom>
        </p:spPr>
        <p:txBody>
          <a:bodyPr anchor="t" rtlCol="false" tIns="0" lIns="0" bIns="0" rIns="0">
            <a:spAutoFit/>
          </a:bodyPr>
          <a:lstStyle/>
          <a:p>
            <a:pPr algn="l" marL="0" indent="0" lvl="0">
              <a:lnSpc>
                <a:spcPts val="6159"/>
              </a:lnSpc>
              <a:spcBef>
                <a:spcPct val="0"/>
              </a:spcBef>
            </a:pPr>
            <a:r>
              <a:rPr lang="en-US" b="true" sz="4399">
                <a:solidFill>
                  <a:srgbClr val="0F4662"/>
                </a:solidFill>
                <a:latin typeface="Quicksand Bold"/>
                <a:ea typeface="Quicksand Bold"/>
                <a:cs typeface="Quicksand Bold"/>
                <a:sym typeface="Quicksand Bold"/>
              </a:rPr>
              <a:t>* Phân tích hình ảnh và hoạt hình  </a:t>
            </a:r>
            <a:r>
              <a:rPr lang="en-US" b="true" sz="4399">
                <a:solidFill>
                  <a:srgbClr val="FFFFFF"/>
                </a:solidFill>
                <a:latin typeface="Quicksand Bold"/>
                <a:ea typeface="Quicksand Bold"/>
                <a:cs typeface="Quicksand Bold"/>
                <a:sym typeface="Quicksand Bold"/>
              </a:rPr>
              <a:t>tìm kiếm trong mê cung</a:t>
            </a:r>
          </a:p>
        </p:txBody>
      </p:sp>
      <p:sp>
        <p:nvSpPr>
          <p:cNvPr name="TextBox 7" id="7"/>
          <p:cNvSpPr txBox="true"/>
          <p:nvPr/>
        </p:nvSpPr>
        <p:spPr>
          <a:xfrm rot="0">
            <a:off x="9463587" y="1647825"/>
            <a:ext cx="8504826" cy="9029700"/>
          </a:xfrm>
          <a:prstGeom prst="rect">
            <a:avLst/>
          </a:prstGeom>
        </p:spPr>
        <p:txBody>
          <a:bodyPr anchor="t" rtlCol="false" tIns="0" lIns="0" bIns="0" rIns="0">
            <a:spAutoFit/>
          </a:bodyPr>
          <a:lstStyle/>
          <a:p>
            <a:pPr algn="l">
              <a:lnSpc>
                <a:spcPts val="5100"/>
              </a:lnSpc>
            </a:pPr>
            <a:r>
              <a:rPr lang="en-US" sz="3000" b="true">
                <a:solidFill>
                  <a:srgbClr val="FFFFFF"/>
                </a:solidFill>
                <a:latin typeface="Quicksand Bold"/>
                <a:ea typeface="Quicksand Bold"/>
                <a:cs typeface="Quicksand Bold"/>
                <a:sym typeface="Quicksand Bold"/>
              </a:rPr>
              <a:t>4</a:t>
            </a:r>
            <a:r>
              <a:rPr lang="en-US" sz="3000" b="true">
                <a:solidFill>
                  <a:srgbClr val="FFFFFF"/>
                </a:solidFill>
                <a:latin typeface="Quicksand Bold"/>
                <a:ea typeface="Quicksand Bold"/>
                <a:cs typeface="Quicksand Bold"/>
                <a:sym typeface="Quicksand Bold"/>
              </a:rPr>
              <a:t>. Greedy Best-First Search (GBFS)</a:t>
            </a:r>
          </a:p>
          <a:p>
            <a:pPr algn="l" marL="647700" indent="-323850" lvl="1">
              <a:lnSpc>
                <a:spcPts val="5100"/>
              </a:lnSpc>
              <a:buFont typeface="Arial"/>
              <a:buChar char="•"/>
            </a:pPr>
            <a:r>
              <a:rPr lang="en-US" sz="3000">
                <a:solidFill>
                  <a:srgbClr val="FFFFFF"/>
                </a:solidFill>
                <a:latin typeface="Quicksand"/>
                <a:ea typeface="Quicksand"/>
                <a:cs typeface="Quicksand"/>
                <a:sym typeface="Quicksand"/>
              </a:rPr>
              <a:t>Hình ảnh tĩnh:</a:t>
            </a:r>
          </a:p>
          <a:p>
            <a:pPr algn="l" marL="1295400" indent="-431800" lvl="2">
              <a:lnSpc>
                <a:spcPts val="5100"/>
              </a:lnSpc>
              <a:buFont typeface="Arial"/>
              <a:buChar char="⚬"/>
            </a:pPr>
            <a:r>
              <a:rPr lang="en-US" sz="3000">
                <a:solidFill>
                  <a:srgbClr val="FFFFFF"/>
                </a:solidFill>
                <a:latin typeface="Quicksand"/>
                <a:ea typeface="Quicksand"/>
                <a:cs typeface="Quicksand"/>
                <a:sym typeface="Quicksand"/>
              </a:rPr>
              <a:t>Vùng tìm kiếm tập trung theo hướng về Goal, không lan rộng đều như BFS.</a:t>
            </a:r>
          </a:p>
          <a:p>
            <a:pPr algn="l" marL="1295400" indent="-431800" lvl="2">
              <a:lnSpc>
                <a:spcPts val="5100"/>
              </a:lnSpc>
              <a:buFont typeface="Arial"/>
              <a:buChar char="⚬"/>
            </a:pPr>
            <a:r>
              <a:rPr lang="en-US" sz="3000">
                <a:solidFill>
                  <a:srgbClr val="FFFFFF"/>
                </a:solidFill>
                <a:latin typeface="Quicksand"/>
                <a:ea typeface="Quicksand"/>
                <a:cs typeface="Quicksand"/>
                <a:sym typeface="Quicksand"/>
              </a:rPr>
              <a:t>Đường tìm ra khá nhanh nhưng có thể vòng vèo.</a:t>
            </a:r>
          </a:p>
          <a:p>
            <a:pPr algn="l" marL="647700" indent="-323850" lvl="1">
              <a:lnSpc>
                <a:spcPts val="5100"/>
              </a:lnSpc>
              <a:buFont typeface="Arial"/>
              <a:buChar char="•"/>
            </a:pPr>
            <a:r>
              <a:rPr lang="en-US" sz="3000">
                <a:solidFill>
                  <a:srgbClr val="FFFFFF"/>
                </a:solidFill>
                <a:latin typeface="Quicksand"/>
                <a:ea typeface="Quicksand"/>
                <a:cs typeface="Quicksand"/>
                <a:sym typeface="Quicksand"/>
              </a:rPr>
              <a:t>Hoạt hình:</a:t>
            </a:r>
          </a:p>
          <a:p>
            <a:pPr algn="l" marL="1295400" indent="-431800" lvl="2">
              <a:lnSpc>
                <a:spcPts val="5100"/>
              </a:lnSpc>
              <a:buFont typeface="Arial"/>
              <a:buChar char="⚬"/>
            </a:pPr>
            <a:r>
              <a:rPr lang="en-US" sz="3000">
                <a:solidFill>
                  <a:srgbClr val="FFFFFF"/>
                </a:solidFill>
                <a:latin typeface="Quicksand"/>
                <a:ea typeface="Quicksand"/>
                <a:cs typeface="Quicksand"/>
                <a:sym typeface="Quicksand"/>
              </a:rPr>
              <a:t>Bạn sẽ thấy GBFS lao thẳng về phía đích theo heuristic (ví dụ Manhattan distance).</a:t>
            </a:r>
          </a:p>
          <a:p>
            <a:pPr algn="l" marL="647700" indent="-323850" lvl="1">
              <a:lnSpc>
                <a:spcPts val="5100"/>
              </a:lnSpc>
              <a:buFont typeface="Arial"/>
              <a:buChar char="•"/>
            </a:pPr>
            <a:r>
              <a:rPr lang="en-US" sz="3000">
                <a:solidFill>
                  <a:srgbClr val="FFFFFF"/>
                </a:solidFill>
                <a:latin typeface="Quicksand"/>
                <a:ea typeface="Quicksand"/>
                <a:cs typeface="Quicksand"/>
                <a:sym typeface="Quicksand"/>
              </a:rPr>
              <a:t>Kết quả:</a:t>
            </a:r>
          </a:p>
          <a:p>
            <a:pPr algn="l" marL="1295400" indent="-431800" lvl="2">
              <a:lnSpc>
                <a:spcPts val="5100"/>
              </a:lnSpc>
              <a:buFont typeface="Arial"/>
              <a:buChar char="⚬"/>
            </a:pPr>
            <a:r>
              <a:rPr lang="en-US" sz="3000">
                <a:solidFill>
                  <a:srgbClr val="FFFFFF"/>
                </a:solidFill>
                <a:latin typeface="Quicksand"/>
                <a:ea typeface="Quicksand"/>
                <a:cs typeface="Quicksand"/>
                <a:sym typeface="Quicksand"/>
              </a:rPr>
              <a:t>Nhanh, nh</a:t>
            </a:r>
            <a:r>
              <a:rPr lang="en-US" sz="3000">
                <a:solidFill>
                  <a:srgbClr val="FFFFFF"/>
                </a:solidFill>
                <a:latin typeface="Quicksand"/>
                <a:ea typeface="Quicksand"/>
                <a:cs typeface="Quicksand"/>
                <a:sym typeface="Quicksand"/>
              </a:rPr>
              <a:t>ưng không đảm bảo ngắn nhất.</a:t>
            </a:r>
          </a:p>
          <a:p>
            <a:pPr algn="l" marL="0" indent="0" lvl="0">
              <a:lnSpc>
                <a:spcPts val="510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1915959" y="15849"/>
            <a:ext cx="6372041" cy="10271151"/>
            <a:chOff x="0" y="0"/>
            <a:chExt cx="1678233" cy="2705159"/>
          </a:xfrm>
        </p:grpSpPr>
        <p:sp>
          <p:nvSpPr>
            <p:cNvPr name="Freeform 3" id="3"/>
            <p:cNvSpPr/>
            <p:nvPr/>
          </p:nvSpPr>
          <p:spPr>
            <a:xfrm flipH="false" flipV="false" rot="0">
              <a:off x="0" y="0"/>
              <a:ext cx="1678233" cy="2705159"/>
            </a:xfrm>
            <a:custGeom>
              <a:avLst/>
              <a:gdLst/>
              <a:ahLst/>
              <a:cxnLst/>
              <a:rect r="r" b="b" t="t" l="l"/>
              <a:pathLst>
                <a:path h="2705159" w="1678233">
                  <a:moveTo>
                    <a:pt x="0" y="0"/>
                  </a:moveTo>
                  <a:lnTo>
                    <a:pt x="1678233" y="0"/>
                  </a:lnTo>
                  <a:lnTo>
                    <a:pt x="1678233" y="2705159"/>
                  </a:lnTo>
                  <a:lnTo>
                    <a:pt x="0" y="2705159"/>
                  </a:lnTo>
                  <a:close/>
                </a:path>
              </a:pathLst>
            </a:custGeom>
            <a:solidFill>
              <a:srgbClr val="7994A0"/>
            </a:solidFill>
          </p:spPr>
        </p:sp>
        <p:sp>
          <p:nvSpPr>
            <p:cNvPr name="TextBox 4" id="4"/>
            <p:cNvSpPr txBox="true"/>
            <p:nvPr/>
          </p:nvSpPr>
          <p:spPr>
            <a:xfrm>
              <a:off x="0" y="-47625"/>
              <a:ext cx="1678233" cy="2752784"/>
            </a:xfrm>
            <a:prstGeom prst="rect">
              <a:avLst/>
            </a:prstGeom>
          </p:spPr>
          <p:txBody>
            <a:bodyPr anchor="ctr" rtlCol="false" tIns="50800" lIns="50800" bIns="50800" rIns="50800"/>
            <a:lstStyle/>
            <a:p>
              <a:pPr algn="ctr">
                <a:lnSpc>
                  <a:spcPts val="3693"/>
                </a:lnSpc>
              </a:pPr>
            </a:p>
          </p:txBody>
        </p:sp>
      </p:grpSp>
      <p:sp>
        <p:nvSpPr>
          <p:cNvPr name="TextBox 5" id="5"/>
          <p:cNvSpPr txBox="true"/>
          <p:nvPr/>
        </p:nvSpPr>
        <p:spPr>
          <a:xfrm rot="0">
            <a:off x="604949" y="2091221"/>
            <a:ext cx="10867017" cy="6972301"/>
          </a:xfrm>
          <a:prstGeom prst="rect">
            <a:avLst/>
          </a:prstGeom>
        </p:spPr>
        <p:txBody>
          <a:bodyPr anchor="t" rtlCol="false" tIns="0" lIns="0" bIns="0" rIns="0">
            <a:spAutoFit/>
          </a:bodyPr>
          <a:lstStyle/>
          <a:p>
            <a:pPr algn="l">
              <a:lnSpc>
                <a:spcPts val="5099"/>
              </a:lnSpc>
            </a:pPr>
            <a:r>
              <a:rPr lang="en-US" sz="2999" b="true">
                <a:solidFill>
                  <a:srgbClr val="0F4662"/>
                </a:solidFill>
                <a:latin typeface="Quicksand Bold"/>
                <a:ea typeface="Quicksand Bold"/>
                <a:cs typeface="Quicksand Bold"/>
                <a:sym typeface="Quicksand Bold"/>
              </a:rPr>
              <a:t>5. A* Search</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Hình ảnh tĩnh:</a:t>
            </a:r>
          </a:p>
          <a:p>
            <a:pPr algn="l" marL="1295394" indent="-431798" lvl="2">
              <a:lnSpc>
                <a:spcPts val="5099"/>
              </a:lnSpc>
              <a:buFont typeface="Arial"/>
              <a:buChar char="⚬"/>
            </a:pPr>
            <a:r>
              <a:rPr lang="en-US" sz="2999">
                <a:solidFill>
                  <a:srgbClr val="0F4662"/>
                </a:solidFill>
                <a:latin typeface="Quicksand"/>
                <a:ea typeface="Quicksand"/>
                <a:cs typeface="Quicksand"/>
                <a:sym typeface="Quicksand"/>
              </a:rPr>
              <a:t>Vùng tìm kiếm “nửa tròn” về phía đích: không lan rộng vô ng</a:t>
            </a:r>
            <a:r>
              <a:rPr lang="en-US" sz="2999">
                <a:solidFill>
                  <a:srgbClr val="0F4662"/>
                </a:solidFill>
                <a:latin typeface="Quicksand"/>
                <a:ea typeface="Quicksand"/>
                <a:cs typeface="Quicksand"/>
                <a:sym typeface="Quicksand"/>
              </a:rPr>
              <a:t>hĩa</a:t>
            </a:r>
            <a:r>
              <a:rPr lang="en-US" sz="2999">
                <a:solidFill>
                  <a:srgbClr val="0F4662"/>
                </a:solidFill>
                <a:latin typeface="Quicksand"/>
                <a:ea typeface="Quicksand"/>
                <a:cs typeface="Quicksand"/>
                <a:sym typeface="Quicksand"/>
              </a:rPr>
              <a:t> như BFS, cũng không mạo hiểm như GBFS.</a:t>
            </a:r>
          </a:p>
          <a:p>
            <a:pPr algn="l" marL="1295394" indent="-431798" lvl="2">
              <a:lnSpc>
                <a:spcPts val="5099"/>
              </a:lnSpc>
              <a:buFont typeface="Arial"/>
              <a:buChar char="⚬"/>
            </a:pPr>
            <a:r>
              <a:rPr lang="en-US" sz="2999">
                <a:solidFill>
                  <a:srgbClr val="0F4662"/>
                </a:solidFill>
                <a:latin typeface="Quicksand"/>
                <a:ea typeface="Quicksand"/>
                <a:cs typeface="Quicksand"/>
                <a:sym typeface="Quicksand"/>
              </a:rPr>
              <a:t>Đường đi luôn ngắn nhất.</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Hoạ</a:t>
            </a:r>
            <a:r>
              <a:rPr lang="en-US" sz="2999">
                <a:solidFill>
                  <a:srgbClr val="0F4662"/>
                </a:solidFill>
                <a:latin typeface="Quicksand"/>
                <a:ea typeface="Quicksand"/>
                <a:cs typeface="Quicksand"/>
                <a:sym typeface="Quicksand"/>
              </a:rPr>
              <a:t>t hình:</a:t>
            </a:r>
          </a:p>
          <a:p>
            <a:pPr algn="l" marL="1295394" indent="-431798" lvl="2">
              <a:lnSpc>
                <a:spcPts val="5099"/>
              </a:lnSpc>
              <a:buFont typeface="Arial"/>
              <a:buChar char="⚬"/>
            </a:pPr>
            <a:r>
              <a:rPr lang="en-US" sz="2999">
                <a:solidFill>
                  <a:srgbClr val="0F4662"/>
                </a:solidFill>
                <a:latin typeface="Quicksand"/>
                <a:ea typeface="Quicksand"/>
                <a:cs typeface="Quicksand"/>
                <a:sym typeface="Quicksand"/>
              </a:rPr>
              <a:t>Bạ</a:t>
            </a:r>
            <a:r>
              <a:rPr lang="en-US" sz="2999">
                <a:solidFill>
                  <a:srgbClr val="0F4662"/>
                </a:solidFill>
                <a:latin typeface="Quicksand"/>
                <a:ea typeface="Quicksand"/>
                <a:cs typeface="Quicksand"/>
                <a:sym typeface="Quicksand"/>
              </a:rPr>
              <a:t>n sẽ thấy A* mở rộng vừa cẩn thận (giữ đường ngắn nhất) vừa có định hướng (tiến về Goal).</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Kết</a:t>
            </a:r>
            <a:r>
              <a:rPr lang="en-US" sz="2999">
                <a:solidFill>
                  <a:srgbClr val="0F4662"/>
                </a:solidFill>
                <a:latin typeface="Quicksand"/>
                <a:ea typeface="Quicksand"/>
                <a:cs typeface="Quicksand"/>
                <a:sym typeface="Quicksand"/>
              </a:rPr>
              <a:t> quả:</a:t>
            </a:r>
          </a:p>
          <a:p>
            <a:pPr algn="l" marL="1295394" indent="-431798" lvl="2">
              <a:lnSpc>
                <a:spcPts val="5099"/>
              </a:lnSpc>
              <a:buFont typeface="Arial"/>
              <a:buChar char="⚬"/>
            </a:pPr>
            <a:r>
              <a:rPr lang="en-US" sz="2999">
                <a:solidFill>
                  <a:srgbClr val="0F4662"/>
                </a:solidFill>
                <a:latin typeface="Quicksand"/>
                <a:ea typeface="Quicksand"/>
                <a:cs typeface="Quicksand"/>
                <a:sym typeface="Quicksand"/>
              </a:rPr>
              <a:t>Đ</a:t>
            </a:r>
            <a:r>
              <a:rPr lang="en-US" sz="2999">
                <a:solidFill>
                  <a:srgbClr val="0F4662"/>
                </a:solidFill>
                <a:latin typeface="Quicksand"/>
                <a:ea typeface="Quicksand"/>
                <a:cs typeface="Quicksand"/>
                <a:sym typeface="Quicksand"/>
              </a:rPr>
              <a:t>ường đi tối ưu, số ô mở rộng ít hơn BFS.</a:t>
            </a:r>
          </a:p>
          <a:p>
            <a:pPr algn="l" marL="0" indent="0" lvl="0">
              <a:lnSpc>
                <a:spcPts val="5099"/>
              </a:lnSpc>
            </a:pPr>
          </a:p>
        </p:txBody>
      </p:sp>
      <p:sp>
        <p:nvSpPr>
          <p:cNvPr name="Freeform 6" id="6"/>
          <p:cNvSpPr/>
          <p:nvPr/>
        </p:nvSpPr>
        <p:spPr>
          <a:xfrm flipH="false" flipV="false" rot="0">
            <a:off x="13988652" y="1306421"/>
            <a:ext cx="2226655" cy="2226655"/>
          </a:xfrm>
          <a:custGeom>
            <a:avLst/>
            <a:gdLst/>
            <a:ahLst/>
            <a:cxnLst/>
            <a:rect r="r" b="b" t="t" l="l"/>
            <a:pathLst>
              <a:path h="2226655" w="2226655">
                <a:moveTo>
                  <a:pt x="0" y="0"/>
                </a:moveTo>
                <a:lnTo>
                  <a:pt x="2226655" y="0"/>
                </a:lnTo>
                <a:lnTo>
                  <a:pt x="2226655" y="2226656"/>
                </a:lnTo>
                <a:lnTo>
                  <a:pt x="0" y="22266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861247" y="5143500"/>
            <a:ext cx="4481465" cy="4114800"/>
          </a:xfrm>
          <a:custGeom>
            <a:avLst/>
            <a:gdLst/>
            <a:ahLst/>
            <a:cxnLst/>
            <a:rect r="r" b="b" t="t" l="l"/>
            <a:pathLst>
              <a:path h="4114800" w="4481465">
                <a:moveTo>
                  <a:pt x="0" y="0"/>
                </a:moveTo>
                <a:lnTo>
                  <a:pt x="4481465" y="0"/>
                </a:lnTo>
                <a:lnTo>
                  <a:pt x="448146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499043" y="129059"/>
            <a:ext cx="7681428" cy="1384300"/>
          </a:xfrm>
          <a:prstGeom prst="rect">
            <a:avLst/>
          </a:prstGeom>
        </p:spPr>
        <p:txBody>
          <a:bodyPr anchor="t" rtlCol="false" tIns="0" lIns="0" bIns="0" rIns="0">
            <a:spAutoFit/>
          </a:bodyPr>
          <a:lstStyle/>
          <a:p>
            <a:pPr algn="l" marL="0" indent="0" lvl="0">
              <a:lnSpc>
                <a:spcPts val="5599"/>
              </a:lnSpc>
              <a:spcBef>
                <a:spcPct val="0"/>
              </a:spcBef>
            </a:pPr>
            <a:r>
              <a:rPr lang="en-US" b="true" sz="3999">
                <a:solidFill>
                  <a:srgbClr val="0F4662"/>
                </a:solidFill>
                <a:latin typeface="Quicksand Bold"/>
                <a:ea typeface="Quicksand Bold"/>
                <a:cs typeface="Quicksand Bold"/>
                <a:sym typeface="Quicksand Bold"/>
              </a:rPr>
              <a:t>* Phân tích hình ảnh và hoạt hình tìm kiếm trong mê cung</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8449761" y="0"/>
            <a:ext cx="9838239" cy="10287000"/>
            <a:chOff x="0" y="0"/>
            <a:chExt cx="2591141" cy="2709333"/>
          </a:xfrm>
        </p:grpSpPr>
        <p:sp>
          <p:nvSpPr>
            <p:cNvPr name="Freeform 3" id="3"/>
            <p:cNvSpPr/>
            <p:nvPr/>
          </p:nvSpPr>
          <p:spPr>
            <a:xfrm flipH="false" flipV="false" rot="0">
              <a:off x="0" y="0"/>
              <a:ext cx="2591141" cy="2709333"/>
            </a:xfrm>
            <a:custGeom>
              <a:avLst/>
              <a:gdLst/>
              <a:ahLst/>
              <a:cxnLst/>
              <a:rect r="r" b="b" t="t" l="l"/>
              <a:pathLst>
                <a:path h="2709333" w="2591141">
                  <a:moveTo>
                    <a:pt x="0" y="0"/>
                  </a:moveTo>
                  <a:lnTo>
                    <a:pt x="2591141" y="0"/>
                  </a:lnTo>
                  <a:lnTo>
                    <a:pt x="2591141" y="2709333"/>
                  </a:lnTo>
                  <a:lnTo>
                    <a:pt x="0" y="2709333"/>
                  </a:lnTo>
                  <a:close/>
                </a:path>
              </a:pathLst>
            </a:custGeom>
            <a:solidFill>
              <a:srgbClr val="DBE5EA"/>
            </a:solidFill>
          </p:spPr>
        </p:sp>
        <p:sp>
          <p:nvSpPr>
            <p:cNvPr name="TextBox 4" id="4"/>
            <p:cNvSpPr txBox="true"/>
            <p:nvPr/>
          </p:nvSpPr>
          <p:spPr>
            <a:xfrm>
              <a:off x="0" y="-123825"/>
              <a:ext cx="2591141" cy="2833158"/>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595195" y="161925"/>
            <a:ext cx="17097610" cy="762000"/>
          </a:xfrm>
          <a:prstGeom prst="rect">
            <a:avLst/>
          </a:prstGeom>
        </p:spPr>
        <p:txBody>
          <a:bodyPr anchor="t" rtlCol="false" tIns="0" lIns="0" bIns="0" rIns="0">
            <a:spAutoFit/>
          </a:bodyPr>
          <a:lstStyle/>
          <a:p>
            <a:pPr algn="l" marL="0" indent="0" lvl="0">
              <a:lnSpc>
                <a:spcPts val="6299"/>
              </a:lnSpc>
              <a:spcBef>
                <a:spcPct val="0"/>
              </a:spcBef>
            </a:pPr>
            <a:r>
              <a:rPr lang="en-US" b="true" sz="4499" i="true">
                <a:solidFill>
                  <a:srgbClr val="0F4662"/>
                </a:solidFill>
                <a:latin typeface="Cormorant Garamond Bold Italics"/>
                <a:ea typeface="Cormorant Garamond Bold Italics"/>
                <a:cs typeface="Cormorant Garamond Bold Italics"/>
                <a:sym typeface="Cormorant Garamond Bold Italics"/>
              </a:rPr>
              <a:t>*Giải thích sự khác biệt giữa BFS và A* (độ sâu, tốc độ, số nút mở rộng)</a:t>
            </a:r>
          </a:p>
        </p:txBody>
      </p:sp>
      <p:sp>
        <p:nvSpPr>
          <p:cNvPr name="TextBox 6" id="6"/>
          <p:cNvSpPr txBox="true"/>
          <p:nvPr/>
        </p:nvSpPr>
        <p:spPr>
          <a:xfrm rot="0">
            <a:off x="281476" y="2524125"/>
            <a:ext cx="7618420" cy="5629275"/>
          </a:xfrm>
          <a:prstGeom prst="rect">
            <a:avLst/>
          </a:prstGeom>
        </p:spPr>
        <p:txBody>
          <a:bodyPr anchor="t" rtlCol="false" tIns="0" lIns="0" bIns="0" rIns="0">
            <a:spAutoFit/>
          </a:bodyPr>
          <a:lstStyle/>
          <a:p>
            <a:pPr algn="l">
              <a:lnSpc>
                <a:spcPts val="4079"/>
              </a:lnSpc>
            </a:pPr>
            <a:r>
              <a:rPr lang="en-US" sz="2400" b="true">
                <a:solidFill>
                  <a:srgbClr val="0F4662"/>
                </a:solidFill>
                <a:latin typeface="Quicksand Bold"/>
                <a:ea typeface="Quicksand Bold"/>
                <a:cs typeface="Quicksand Bold"/>
                <a:sym typeface="Quicksand Bold"/>
              </a:rPr>
              <a:t>1. Độ sâu (chiều dài đường đi)</a:t>
            </a:r>
          </a:p>
          <a:p>
            <a:pPr algn="l" marL="518160" indent="-259080" lvl="1">
              <a:lnSpc>
                <a:spcPts val="4079"/>
              </a:lnSpc>
              <a:buFont typeface="Arial"/>
              <a:buChar char="•"/>
            </a:pPr>
            <a:r>
              <a:rPr lang="en-US" b="true" sz="2400">
                <a:solidFill>
                  <a:srgbClr val="0F4662"/>
                </a:solidFill>
                <a:latin typeface="Quicksand Bold"/>
                <a:ea typeface="Quicksand Bold"/>
                <a:cs typeface="Quicksand Bold"/>
                <a:sym typeface="Quicksand Bold"/>
              </a:rPr>
              <a:t>BFS (Breadth-First Search):</a:t>
            </a:r>
          </a:p>
          <a:p>
            <a:pPr algn="l" marL="1036320" indent="-345440" lvl="2">
              <a:lnSpc>
                <a:spcPts val="4079"/>
              </a:lnSpc>
              <a:buFont typeface="Arial"/>
              <a:buChar char="⚬"/>
            </a:pPr>
            <a:r>
              <a:rPr lang="en-US" sz="2400">
                <a:solidFill>
                  <a:srgbClr val="0F4662"/>
                </a:solidFill>
                <a:latin typeface="Quicksand"/>
                <a:ea typeface="Quicksand"/>
                <a:cs typeface="Quicksand"/>
                <a:sym typeface="Quicksand"/>
              </a:rPr>
              <a:t>Luôn mở rộng theo lớp (layer).</a:t>
            </a:r>
          </a:p>
          <a:p>
            <a:pPr algn="l" marL="1036320" indent="-345440" lvl="2">
              <a:lnSpc>
                <a:spcPts val="4079"/>
              </a:lnSpc>
              <a:buFont typeface="Arial"/>
              <a:buChar char="⚬"/>
            </a:pPr>
            <a:r>
              <a:rPr lang="en-US" sz="2400">
                <a:solidFill>
                  <a:srgbClr val="0F4662"/>
                </a:solidFill>
                <a:latin typeface="Quicksand"/>
                <a:ea typeface="Quicksand"/>
                <a:cs typeface="Quicksand"/>
                <a:sym typeface="Quicksand"/>
              </a:rPr>
              <a:t>Đảm</a:t>
            </a:r>
            <a:r>
              <a:rPr lang="en-US" sz="2400">
                <a:solidFill>
                  <a:srgbClr val="0F4662"/>
                </a:solidFill>
                <a:latin typeface="Quicksand"/>
                <a:ea typeface="Quicksand"/>
                <a:cs typeface="Quicksand"/>
                <a:sym typeface="Quicksand"/>
              </a:rPr>
              <a:t> bảo tìm được đường đi ngắn nhất nếu mỗi bước có chi phí bằng nhau (cost = 1).</a:t>
            </a:r>
          </a:p>
          <a:p>
            <a:pPr algn="l" marL="518160" indent="-259080" lvl="1">
              <a:lnSpc>
                <a:spcPts val="4079"/>
              </a:lnSpc>
              <a:buFont typeface="Arial"/>
              <a:buChar char="•"/>
            </a:pPr>
            <a:r>
              <a:rPr lang="en-US" b="true" sz="2400">
                <a:solidFill>
                  <a:srgbClr val="0F4662"/>
                </a:solidFill>
                <a:latin typeface="Quicksand Bold"/>
                <a:ea typeface="Quicksand Bold"/>
                <a:cs typeface="Quicksand Bold"/>
                <a:sym typeface="Quicksand Bold"/>
              </a:rPr>
              <a:t>A* (A-Star Search):</a:t>
            </a:r>
          </a:p>
          <a:p>
            <a:pPr algn="l" marL="1036320" indent="-345440" lvl="2">
              <a:lnSpc>
                <a:spcPts val="4079"/>
              </a:lnSpc>
              <a:buFont typeface="Arial"/>
              <a:buChar char="⚬"/>
            </a:pPr>
            <a:r>
              <a:rPr lang="en-US" sz="2400">
                <a:solidFill>
                  <a:srgbClr val="0F4662"/>
                </a:solidFill>
                <a:latin typeface="Quicksand"/>
                <a:ea typeface="Quicksand"/>
                <a:cs typeface="Quicksand"/>
                <a:sym typeface="Quicksand"/>
              </a:rPr>
              <a:t>Dùng hàm f (n) = g (n) + h (n) (chi phí đã đi + ước lượng còn lại).</a:t>
            </a:r>
          </a:p>
          <a:p>
            <a:pPr algn="l" marL="1036320" indent="-345440" lvl="2">
              <a:lnSpc>
                <a:spcPts val="4079"/>
              </a:lnSpc>
              <a:buFont typeface="Arial"/>
              <a:buChar char="⚬"/>
            </a:pPr>
            <a:r>
              <a:rPr lang="en-US" sz="2400">
                <a:solidFill>
                  <a:srgbClr val="0F4662"/>
                </a:solidFill>
                <a:latin typeface="Quicksand"/>
                <a:ea typeface="Quicksand"/>
                <a:cs typeface="Quicksand"/>
                <a:sym typeface="Quicksand"/>
              </a:rPr>
              <a:t>Nếu heuristic chấp nhận được (không đánh giá quá cao), A* cũng tìm được đường đi ngắn nhất.</a:t>
            </a:r>
          </a:p>
        </p:txBody>
      </p:sp>
      <p:sp>
        <p:nvSpPr>
          <p:cNvPr name="TextBox 7" id="7"/>
          <p:cNvSpPr txBox="true"/>
          <p:nvPr/>
        </p:nvSpPr>
        <p:spPr>
          <a:xfrm rot="0">
            <a:off x="763923" y="1248700"/>
            <a:ext cx="3665365" cy="565150"/>
          </a:xfrm>
          <a:prstGeom prst="rect">
            <a:avLst/>
          </a:prstGeom>
        </p:spPr>
        <p:txBody>
          <a:bodyPr anchor="t" rtlCol="false" tIns="0" lIns="0" bIns="0" rIns="0">
            <a:spAutoFit/>
          </a:bodyPr>
          <a:lstStyle/>
          <a:p>
            <a:pPr algn="l" marL="0" indent="0" lvl="0">
              <a:lnSpc>
                <a:spcPts val="4759"/>
              </a:lnSpc>
            </a:pPr>
            <a:r>
              <a:rPr lang="en-US" b="true" sz="2799">
                <a:solidFill>
                  <a:srgbClr val="0F4662"/>
                </a:solidFill>
                <a:latin typeface="Quicksand Bold"/>
                <a:ea typeface="Quicksand Bold"/>
                <a:cs typeface="Quicksand Bold"/>
                <a:sym typeface="Quicksand Bold"/>
              </a:rPr>
              <a:t>So sánh BFS và A*</a:t>
            </a:r>
          </a:p>
        </p:txBody>
      </p:sp>
      <p:sp>
        <p:nvSpPr>
          <p:cNvPr name="AutoShape 8" id="8"/>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9" id="9"/>
          <p:cNvSpPr txBox="true"/>
          <p:nvPr/>
        </p:nvSpPr>
        <p:spPr>
          <a:xfrm rot="0">
            <a:off x="9640880" y="2524125"/>
            <a:ext cx="7618420" cy="5114925"/>
          </a:xfrm>
          <a:prstGeom prst="rect">
            <a:avLst/>
          </a:prstGeom>
        </p:spPr>
        <p:txBody>
          <a:bodyPr anchor="t" rtlCol="false" tIns="0" lIns="0" bIns="0" rIns="0">
            <a:spAutoFit/>
          </a:bodyPr>
          <a:lstStyle/>
          <a:p>
            <a:pPr algn="l">
              <a:lnSpc>
                <a:spcPts val="4079"/>
              </a:lnSpc>
            </a:pPr>
            <a:r>
              <a:rPr lang="en-US" sz="2400" b="true">
                <a:solidFill>
                  <a:srgbClr val="0F4662"/>
                </a:solidFill>
                <a:latin typeface="Quicksand Bold"/>
                <a:ea typeface="Quicksand Bold"/>
                <a:cs typeface="Quicksand Bold"/>
                <a:sym typeface="Quicksand Bold"/>
              </a:rPr>
              <a:t>2. Tốc độ tìm kiếm</a:t>
            </a:r>
          </a:p>
          <a:p>
            <a:pPr algn="l" marL="518160" indent="-259080" lvl="1">
              <a:lnSpc>
                <a:spcPts val="4079"/>
              </a:lnSpc>
              <a:buFont typeface="Arial"/>
              <a:buChar char="•"/>
            </a:pPr>
            <a:r>
              <a:rPr lang="en-US" b="true" sz="2400">
                <a:solidFill>
                  <a:srgbClr val="0F4662"/>
                </a:solidFill>
                <a:latin typeface="Quicksand Bold"/>
                <a:ea typeface="Quicksand Bold"/>
                <a:cs typeface="Quicksand Bold"/>
                <a:sym typeface="Quicksand Bold"/>
              </a:rPr>
              <a:t>BFS:</a:t>
            </a:r>
          </a:p>
          <a:p>
            <a:pPr algn="l" marL="1036320" indent="-345440" lvl="2">
              <a:lnSpc>
                <a:spcPts val="4079"/>
              </a:lnSpc>
              <a:buFont typeface="Arial"/>
              <a:buChar char="⚬"/>
            </a:pPr>
            <a:r>
              <a:rPr lang="en-US" sz="2400">
                <a:solidFill>
                  <a:srgbClr val="0F4662"/>
                </a:solidFill>
                <a:latin typeface="Quicksand"/>
                <a:ea typeface="Quicksand"/>
                <a:cs typeface="Quicksand"/>
                <a:sym typeface="Quicksand"/>
              </a:rPr>
              <a:t>Mở rộng theo sóng →</a:t>
            </a:r>
            <a:r>
              <a:rPr lang="en-US" sz="2400">
                <a:solidFill>
                  <a:srgbClr val="0F4662"/>
                </a:solidFill>
                <a:latin typeface="Quicksand"/>
                <a:ea typeface="Quicksand"/>
                <a:cs typeface="Quicksand"/>
                <a:sym typeface="Quicksand"/>
              </a:rPr>
              <a:t> phải duyệt rất nhiều nút trước khi tới đích.</a:t>
            </a:r>
          </a:p>
          <a:p>
            <a:pPr algn="l" marL="1036320" indent="-345440" lvl="2">
              <a:lnSpc>
                <a:spcPts val="4079"/>
              </a:lnSpc>
              <a:buFont typeface="Arial"/>
              <a:buChar char="⚬"/>
            </a:pPr>
            <a:r>
              <a:rPr lang="en-US" sz="2400">
                <a:solidFill>
                  <a:srgbClr val="0F4662"/>
                </a:solidFill>
                <a:latin typeface="Quicksand"/>
                <a:ea typeface="Quicksand"/>
                <a:cs typeface="Quicksand"/>
                <a:sym typeface="Quicksand"/>
              </a:rPr>
              <a:t>C</a:t>
            </a:r>
            <a:r>
              <a:rPr lang="en-US" sz="2400">
                <a:solidFill>
                  <a:srgbClr val="0F4662"/>
                </a:solidFill>
                <a:latin typeface="Quicksand"/>
                <a:ea typeface="Quicksand"/>
                <a:cs typeface="Quicksand"/>
                <a:sym typeface="Quicksand"/>
              </a:rPr>
              <a:t>àng xa đích, BFS càng chậm.</a:t>
            </a:r>
          </a:p>
          <a:p>
            <a:pPr algn="l" marL="518160" indent="-259080" lvl="1">
              <a:lnSpc>
                <a:spcPts val="4079"/>
              </a:lnSpc>
              <a:buFont typeface="Arial"/>
              <a:buChar char="•"/>
            </a:pPr>
            <a:r>
              <a:rPr lang="en-US" b="true" sz="2400">
                <a:solidFill>
                  <a:srgbClr val="0F4662"/>
                </a:solidFill>
                <a:latin typeface="Quicksand Bold"/>
                <a:ea typeface="Quicksand Bold"/>
                <a:cs typeface="Quicksand Bold"/>
                <a:sym typeface="Quicksand Bold"/>
              </a:rPr>
              <a:t>A*:</a:t>
            </a:r>
          </a:p>
          <a:p>
            <a:pPr algn="l" marL="1036320" indent="-345440" lvl="2">
              <a:lnSpc>
                <a:spcPts val="4079"/>
              </a:lnSpc>
              <a:buFont typeface="Arial"/>
              <a:buChar char="⚬"/>
            </a:pPr>
            <a:r>
              <a:rPr lang="en-US" sz="2400">
                <a:solidFill>
                  <a:srgbClr val="0F4662"/>
                </a:solidFill>
                <a:latin typeface="Quicksand"/>
                <a:ea typeface="Quicksand"/>
                <a:cs typeface="Quicksand"/>
                <a:sym typeface="Quicksand"/>
              </a:rPr>
              <a:t>Dựa vào</a:t>
            </a:r>
            <a:r>
              <a:rPr lang="en-US" sz="2400">
                <a:solidFill>
                  <a:srgbClr val="0F4662"/>
                </a:solidFill>
                <a:latin typeface="Quicksand"/>
                <a:ea typeface="Quicksand"/>
                <a:cs typeface="Quicksand"/>
                <a:sym typeface="Quicksand"/>
              </a:rPr>
              <a:t> heuristic để “hướng” tìm kiếm về phía Goal.</a:t>
            </a:r>
          </a:p>
          <a:p>
            <a:pPr algn="l" marL="1036320" indent="-345440" lvl="2">
              <a:lnSpc>
                <a:spcPts val="4079"/>
              </a:lnSpc>
              <a:buFont typeface="Arial"/>
              <a:buChar char="⚬"/>
            </a:pPr>
            <a:r>
              <a:rPr lang="en-US" sz="2400">
                <a:solidFill>
                  <a:srgbClr val="0F4662"/>
                </a:solidFill>
                <a:latin typeface="Quicksand"/>
                <a:ea typeface="Quicksand"/>
                <a:cs typeface="Quicksand"/>
                <a:sym typeface="Quicksand"/>
              </a:rPr>
              <a:t>Ít mở rộng hơn → tìm ra đích nhanh hơn BFS</a:t>
            </a:r>
            <a:r>
              <a:rPr lang="en-US" b="true" sz="2400">
                <a:solidFill>
                  <a:srgbClr val="0F4662"/>
                </a:solidFill>
                <a:latin typeface="Quicksand Bold"/>
                <a:ea typeface="Quicksand Bold"/>
                <a:cs typeface="Quicksand Bold"/>
                <a:sym typeface="Quicksand Bold"/>
              </a:rPr>
              <a:t>.</a:t>
            </a:r>
          </a:p>
          <a:p>
            <a:pPr algn="l">
              <a:lnSpc>
                <a:spcPts val="4079"/>
              </a:lnSpc>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8449761" y="0"/>
            <a:ext cx="9838239" cy="10287000"/>
            <a:chOff x="0" y="0"/>
            <a:chExt cx="2591141" cy="2709333"/>
          </a:xfrm>
        </p:grpSpPr>
        <p:sp>
          <p:nvSpPr>
            <p:cNvPr name="Freeform 3" id="3"/>
            <p:cNvSpPr/>
            <p:nvPr/>
          </p:nvSpPr>
          <p:spPr>
            <a:xfrm flipH="false" flipV="false" rot="0">
              <a:off x="0" y="0"/>
              <a:ext cx="2591141" cy="2709333"/>
            </a:xfrm>
            <a:custGeom>
              <a:avLst/>
              <a:gdLst/>
              <a:ahLst/>
              <a:cxnLst/>
              <a:rect r="r" b="b" t="t" l="l"/>
              <a:pathLst>
                <a:path h="2709333" w="2591141">
                  <a:moveTo>
                    <a:pt x="0" y="0"/>
                  </a:moveTo>
                  <a:lnTo>
                    <a:pt x="2591141" y="0"/>
                  </a:lnTo>
                  <a:lnTo>
                    <a:pt x="2591141" y="2709333"/>
                  </a:lnTo>
                  <a:lnTo>
                    <a:pt x="0" y="2709333"/>
                  </a:lnTo>
                  <a:close/>
                </a:path>
              </a:pathLst>
            </a:custGeom>
            <a:solidFill>
              <a:srgbClr val="DBE5EA"/>
            </a:solidFill>
          </p:spPr>
        </p:sp>
        <p:sp>
          <p:nvSpPr>
            <p:cNvPr name="TextBox 4" id="4"/>
            <p:cNvSpPr txBox="true"/>
            <p:nvPr/>
          </p:nvSpPr>
          <p:spPr>
            <a:xfrm>
              <a:off x="0" y="-123825"/>
              <a:ext cx="2591141" cy="2833158"/>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595195" y="161925"/>
            <a:ext cx="17097610" cy="762000"/>
          </a:xfrm>
          <a:prstGeom prst="rect">
            <a:avLst/>
          </a:prstGeom>
        </p:spPr>
        <p:txBody>
          <a:bodyPr anchor="t" rtlCol="false" tIns="0" lIns="0" bIns="0" rIns="0">
            <a:spAutoFit/>
          </a:bodyPr>
          <a:lstStyle/>
          <a:p>
            <a:pPr algn="l" marL="0" indent="0" lvl="0">
              <a:lnSpc>
                <a:spcPts val="6299"/>
              </a:lnSpc>
              <a:spcBef>
                <a:spcPct val="0"/>
              </a:spcBef>
            </a:pPr>
            <a:r>
              <a:rPr lang="en-US" b="true" sz="4499" i="true">
                <a:solidFill>
                  <a:srgbClr val="0F4662"/>
                </a:solidFill>
                <a:latin typeface="Cormorant Garamond Bold Italics"/>
                <a:ea typeface="Cormorant Garamond Bold Italics"/>
                <a:cs typeface="Cormorant Garamond Bold Italics"/>
                <a:sym typeface="Cormorant Garamond Bold Italics"/>
              </a:rPr>
              <a:t>*Giải thích sự khác biệt giữa BFS và A* (độ sâu, tốc độ, số nút mở rộng)</a:t>
            </a:r>
          </a:p>
        </p:txBody>
      </p:sp>
      <p:sp>
        <p:nvSpPr>
          <p:cNvPr name="TextBox 6" id="6"/>
          <p:cNvSpPr txBox="true"/>
          <p:nvPr/>
        </p:nvSpPr>
        <p:spPr>
          <a:xfrm rot="0">
            <a:off x="595195" y="2545592"/>
            <a:ext cx="7618420" cy="5629275"/>
          </a:xfrm>
          <a:prstGeom prst="rect">
            <a:avLst/>
          </a:prstGeom>
        </p:spPr>
        <p:txBody>
          <a:bodyPr anchor="t" rtlCol="false" tIns="0" lIns="0" bIns="0" rIns="0">
            <a:spAutoFit/>
          </a:bodyPr>
          <a:lstStyle/>
          <a:p>
            <a:pPr algn="l">
              <a:lnSpc>
                <a:spcPts val="4079"/>
              </a:lnSpc>
            </a:pPr>
            <a:r>
              <a:rPr lang="en-US" sz="2400" b="true">
                <a:solidFill>
                  <a:srgbClr val="0F4662"/>
                </a:solidFill>
                <a:latin typeface="Quicksand Bold"/>
                <a:ea typeface="Quicksand Bold"/>
                <a:cs typeface="Quicksand Bold"/>
                <a:sym typeface="Quicksand Bold"/>
              </a:rPr>
              <a:t>3. Số nút mở rộng</a:t>
            </a:r>
          </a:p>
          <a:p>
            <a:pPr algn="l" marL="518160" indent="-259080" lvl="1">
              <a:lnSpc>
                <a:spcPts val="4079"/>
              </a:lnSpc>
              <a:buFont typeface="Arial"/>
              <a:buChar char="•"/>
            </a:pPr>
            <a:r>
              <a:rPr lang="en-US" b="true" sz="2400">
                <a:solidFill>
                  <a:srgbClr val="0F4662"/>
                </a:solidFill>
                <a:latin typeface="Quicksand Bold"/>
                <a:ea typeface="Quicksand Bold"/>
                <a:cs typeface="Quicksand Bold"/>
                <a:sym typeface="Quicksand Bold"/>
              </a:rPr>
              <a:t>BFS:</a:t>
            </a:r>
          </a:p>
          <a:p>
            <a:pPr algn="l" marL="1036320" indent="-345440" lvl="2">
              <a:lnSpc>
                <a:spcPts val="4079"/>
              </a:lnSpc>
              <a:buFont typeface="Arial"/>
              <a:buChar char="⚬"/>
            </a:pPr>
            <a:r>
              <a:rPr lang="en-US" sz="2400">
                <a:solidFill>
                  <a:srgbClr val="0F4662"/>
                </a:solidFill>
                <a:latin typeface="Quicksand"/>
                <a:ea typeface="Quicksand"/>
                <a:cs typeface="Quicksand"/>
                <a:sym typeface="Quicksand"/>
              </a:rPr>
              <a:t>Phải duyệt tất cả các nút trong bán kính từ Star</a:t>
            </a:r>
            <a:r>
              <a:rPr lang="en-US" sz="2400">
                <a:solidFill>
                  <a:srgbClr val="0F4662"/>
                </a:solidFill>
                <a:latin typeface="Quicksand"/>
                <a:ea typeface="Quicksand"/>
                <a:cs typeface="Quicksand"/>
                <a:sym typeface="Quicksand"/>
              </a:rPr>
              <a:t>t đến Goal.</a:t>
            </a:r>
          </a:p>
          <a:p>
            <a:pPr algn="l" marL="1036320" indent="-345440" lvl="2">
              <a:lnSpc>
                <a:spcPts val="4079"/>
              </a:lnSpc>
              <a:buFont typeface="Arial"/>
              <a:buChar char="⚬"/>
            </a:pPr>
            <a:r>
              <a:rPr lang="en-US" sz="2400">
                <a:solidFill>
                  <a:srgbClr val="0F4662"/>
                </a:solidFill>
                <a:latin typeface="Quicksand"/>
                <a:ea typeface="Quicksand"/>
                <a:cs typeface="Quicksand"/>
                <a:sym typeface="Quicksand"/>
              </a:rPr>
              <a:t>Số nút mở rộng rất lớn, đặc biệt trong không gian tìm kiếm rộng.</a:t>
            </a:r>
          </a:p>
          <a:p>
            <a:pPr algn="l" marL="518160" indent="-259080" lvl="1">
              <a:lnSpc>
                <a:spcPts val="4079"/>
              </a:lnSpc>
              <a:buFont typeface="Arial"/>
              <a:buChar char="•"/>
            </a:pPr>
            <a:r>
              <a:rPr lang="en-US" b="true" sz="2400">
                <a:solidFill>
                  <a:srgbClr val="0F4662"/>
                </a:solidFill>
                <a:latin typeface="Quicksand Bold"/>
                <a:ea typeface="Quicksand Bold"/>
                <a:cs typeface="Quicksand Bold"/>
                <a:sym typeface="Quicksand Bold"/>
              </a:rPr>
              <a:t>A*:</a:t>
            </a:r>
          </a:p>
          <a:p>
            <a:pPr algn="l" marL="1036320" indent="-345440" lvl="2">
              <a:lnSpc>
                <a:spcPts val="4079"/>
              </a:lnSpc>
              <a:buFont typeface="Arial"/>
              <a:buChar char="⚬"/>
            </a:pPr>
            <a:r>
              <a:rPr lang="en-US" sz="2400">
                <a:solidFill>
                  <a:srgbClr val="0F4662"/>
                </a:solidFill>
                <a:latin typeface="Quicksand"/>
                <a:ea typeface="Quicksand"/>
                <a:cs typeface="Quicksand"/>
                <a:sym typeface="Quicksand"/>
              </a:rPr>
              <a:t>C</a:t>
            </a:r>
            <a:r>
              <a:rPr lang="en-US" sz="2400">
                <a:solidFill>
                  <a:srgbClr val="0F4662"/>
                </a:solidFill>
                <a:latin typeface="Quicksand"/>
                <a:ea typeface="Quicksand"/>
                <a:cs typeface="Quicksand"/>
                <a:sym typeface="Quicksand"/>
              </a:rPr>
              <a:t>hỉ mở rộng những nút có tiềm năng tốt theo f(n).</a:t>
            </a:r>
          </a:p>
          <a:p>
            <a:pPr algn="l" marL="1036320" indent="-345440" lvl="2">
              <a:lnSpc>
                <a:spcPts val="4079"/>
              </a:lnSpc>
              <a:buFont typeface="Arial"/>
              <a:buChar char="⚬"/>
            </a:pPr>
            <a:r>
              <a:rPr lang="en-US" sz="2400">
                <a:solidFill>
                  <a:srgbClr val="0F4662"/>
                </a:solidFill>
                <a:latin typeface="Quicksand"/>
                <a:ea typeface="Quicksand"/>
                <a:cs typeface="Quicksand"/>
                <a:sym typeface="Quicksand"/>
              </a:rPr>
              <a:t>Số nút mở rộng ít hơn BFS đáng kể.</a:t>
            </a:r>
          </a:p>
          <a:p>
            <a:pPr algn="l">
              <a:lnSpc>
                <a:spcPts val="4079"/>
              </a:lnSpc>
            </a:pPr>
          </a:p>
        </p:txBody>
      </p:sp>
      <p:sp>
        <p:nvSpPr>
          <p:cNvPr name="TextBox 7" id="7"/>
          <p:cNvSpPr txBox="true"/>
          <p:nvPr/>
        </p:nvSpPr>
        <p:spPr>
          <a:xfrm rot="0">
            <a:off x="763923" y="1248700"/>
            <a:ext cx="3665365" cy="565150"/>
          </a:xfrm>
          <a:prstGeom prst="rect">
            <a:avLst/>
          </a:prstGeom>
        </p:spPr>
        <p:txBody>
          <a:bodyPr anchor="t" rtlCol="false" tIns="0" lIns="0" bIns="0" rIns="0">
            <a:spAutoFit/>
          </a:bodyPr>
          <a:lstStyle/>
          <a:p>
            <a:pPr algn="l" marL="0" indent="0" lvl="0">
              <a:lnSpc>
                <a:spcPts val="4759"/>
              </a:lnSpc>
            </a:pPr>
            <a:r>
              <a:rPr lang="en-US" b="true" sz="2799">
                <a:solidFill>
                  <a:srgbClr val="0F4662"/>
                </a:solidFill>
                <a:latin typeface="Quicksand Bold"/>
                <a:ea typeface="Quicksand Bold"/>
                <a:cs typeface="Quicksand Bold"/>
                <a:sym typeface="Quicksand Bold"/>
              </a:rPr>
              <a:t>So sánh BFS và A*</a:t>
            </a:r>
          </a:p>
        </p:txBody>
      </p:sp>
      <p:sp>
        <p:nvSpPr>
          <p:cNvPr name="AutoShape 8" id="8"/>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9" id="9"/>
          <p:cNvSpPr txBox="true"/>
          <p:nvPr/>
        </p:nvSpPr>
        <p:spPr>
          <a:xfrm rot="0">
            <a:off x="9559671" y="2545592"/>
            <a:ext cx="7618420" cy="3571875"/>
          </a:xfrm>
          <a:prstGeom prst="rect">
            <a:avLst/>
          </a:prstGeom>
        </p:spPr>
        <p:txBody>
          <a:bodyPr anchor="t" rtlCol="false" tIns="0" lIns="0" bIns="0" rIns="0">
            <a:spAutoFit/>
          </a:bodyPr>
          <a:lstStyle/>
          <a:p>
            <a:pPr algn="l">
              <a:lnSpc>
                <a:spcPts val="4079"/>
              </a:lnSpc>
            </a:pPr>
            <a:r>
              <a:rPr lang="en-US" sz="2400" b="true">
                <a:solidFill>
                  <a:srgbClr val="0F4662"/>
                </a:solidFill>
                <a:latin typeface="Quicksand Bold"/>
                <a:ea typeface="Quicksand Bold"/>
                <a:cs typeface="Quicksand Bold"/>
                <a:sym typeface="Quicksand Bold"/>
              </a:rPr>
              <a:t>4.Kết Luận:</a:t>
            </a:r>
          </a:p>
          <a:p>
            <a:pPr algn="l" marL="518160" indent="-259080" lvl="1">
              <a:lnSpc>
                <a:spcPts val="4079"/>
              </a:lnSpc>
              <a:buFont typeface="Arial"/>
              <a:buChar char="•"/>
            </a:pPr>
            <a:r>
              <a:rPr lang="en-US" b="true" sz="2400">
                <a:solidFill>
                  <a:srgbClr val="0F4662"/>
                </a:solidFill>
                <a:latin typeface="Quicksand Bold"/>
                <a:ea typeface="Quicksand Bold"/>
                <a:cs typeface="Quicksand Bold"/>
                <a:sym typeface="Quicksand Bold"/>
              </a:rPr>
              <a:t>BFS = an toàn nhưng chậm, mở rộng rộng → tối ưu nhưng không hiệu quả.</a:t>
            </a:r>
          </a:p>
          <a:p>
            <a:pPr algn="l" marL="518160" indent="-259080" lvl="1">
              <a:lnSpc>
                <a:spcPts val="4079"/>
              </a:lnSpc>
              <a:buFont typeface="Arial"/>
              <a:buChar char="•"/>
            </a:pPr>
            <a:r>
              <a:rPr lang="en-US" b="true" sz="2400">
                <a:solidFill>
                  <a:srgbClr val="0F4662"/>
                </a:solidFill>
                <a:latin typeface="Quicksand Bold"/>
                <a:ea typeface="Quicksand Bold"/>
                <a:cs typeface="Quicksand Bold"/>
                <a:sym typeface="Quicksand Bold"/>
              </a:rPr>
              <a:t>A* = thông minh, mở rộng có định hướng → vẫn tối ưu nhưng nhanh hơn.</a:t>
            </a:r>
          </a:p>
          <a:p>
            <a:pPr algn="l">
              <a:lnSpc>
                <a:spcPts val="4079"/>
              </a:lnSpc>
            </a:pPr>
          </a:p>
          <a:p>
            <a:pPr algn="l">
              <a:lnSpc>
                <a:spcPts val="407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7038622" y="4099272"/>
            <a:ext cx="4210757" cy="3273864"/>
          </a:xfrm>
          <a:custGeom>
            <a:avLst/>
            <a:gdLst/>
            <a:ahLst/>
            <a:cxnLst/>
            <a:rect r="r" b="b" t="t" l="l"/>
            <a:pathLst>
              <a:path h="3273864" w="4210757">
                <a:moveTo>
                  <a:pt x="0" y="0"/>
                </a:moveTo>
                <a:lnTo>
                  <a:pt x="4210756" y="0"/>
                </a:lnTo>
                <a:lnTo>
                  <a:pt x="4210756" y="3273864"/>
                </a:lnTo>
                <a:lnTo>
                  <a:pt x="0" y="3273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2032015" y="4070697"/>
            <a:ext cx="4344915" cy="0"/>
          </a:xfrm>
          <a:prstGeom prst="line">
            <a:avLst/>
          </a:prstGeom>
          <a:ln cap="flat" w="57150">
            <a:solidFill>
              <a:srgbClr val="7994A0"/>
            </a:solidFill>
            <a:prstDash val="solid"/>
            <a:headEnd type="none" len="sm" w="sm"/>
            <a:tailEnd type="none" len="sm" w="sm"/>
          </a:ln>
        </p:spPr>
      </p:sp>
      <p:sp>
        <p:nvSpPr>
          <p:cNvPr name="AutoShape 4" id="4"/>
          <p:cNvSpPr/>
          <p:nvPr/>
        </p:nvSpPr>
        <p:spPr>
          <a:xfrm>
            <a:off x="11251537" y="5114925"/>
            <a:ext cx="4346753" cy="0"/>
          </a:xfrm>
          <a:prstGeom prst="line">
            <a:avLst/>
          </a:prstGeom>
          <a:ln cap="flat" w="57150">
            <a:solidFill>
              <a:srgbClr val="7994A0"/>
            </a:solidFill>
            <a:prstDash val="solid"/>
            <a:headEnd type="none" len="sm" w="sm"/>
            <a:tailEnd type="none" len="sm" w="sm"/>
          </a:ln>
        </p:spPr>
      </p:sp>
      <p:sp>
        <p:nvSpPr>
          <p:cNvPr name="AutoShape 5" id="5"/>
          <p:cNvSpPr/>
          <p:nvPr/>
        </p:nvSpPr>
        <p:spPr>
          <a:xfrm flipV="true">
            <a:off x="1656224" y="6028402"/>
            <a:ext cx="4716390" cy="0"/>
          </a:xfrm>
          <a:prstGeom prst="line">
            <a:avLst/>
          </a:prstGeom>
          <a:ln cap="flat" w="57150">
            <a:solidFill>
              <a:srgbClr val="7994A0"/>
            </a:solidFill>
            <a:prstDash val="solid"/>
            <a:headEnd type="none" len="sm" w="sm"/>
            <a:tailEnd type="none" len="sm" w="sm"/>
          </a:ln>
        </p:spPr>
      </p:sp>
      <p:sp>
        <p:nvSpPr>
          <p:cNvPr name="TextBox 6" id="6"/>
          <p:cNvSpPr txBox="true"/>
          <p:nvPr/>
        </p:nvSpPr>
        <p:spPr>
          <a:xfrm rot="0">
            <a:off x="1024384" y="733579"/>
            <a:ext cx="14072064" cy="2218690"/>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Phần 2: Giải quyết Mê Cung bằng Goal-Based Agent</a:t>
            </a:r>
          </a:p>
        </p:txBody>
      </p:sp>
      <p:sp>
        <p:nvSpPr>
          <p:cNvPr name="TextBox 7" id="7"/>
          <p:cNvSpPr txBox="true"/>
          <p:nvPr/>
        </p:nvSpPr>
        <p:spPr>
          <a:xfrm rot="0">
            <a:off x="1024384" y="3161819"/>
            <a:ext cx="5348229" cy="490855"/>
          </a:xfrm>
          <a:prstGeom prst="rect">
            <a:avLst/>
          </a:prstGeom>
        </p:spPr>
        <p:txBody>
          <a:bodyPr anchor="t" rtlCol="false" tIns="0" lIns="0" bIns="0" rIns="0">
            <a:spAutoFit/>
          </a:bodyPr>
          <a:lstStyle/>
          <a:p>
            <a:pPr algn="r" marL="0" indent="0" lvl="0">
              <a:lnSpc>
                <a:spcPts val="3919"/>
              </a:lnSpc>
              <a:spcBef>
                <a:spcPct val="0"/>
              </a:spcBef>
            </a:pPr>
            <a:r>
              <a:rPr lang="en-US" b="true" sz="2799">
                <a:solidFill>
                  <a:srgbClr val="0F4662"/>
                </a:solidFill>
                <a:latin typeface="Quicksand Bold"/>
                <a:ea typeface="Quicksand Bold"/>
                <a:cs typeface="Quicksand Bold"/>
                <a:sym typeface="Quicksand Bold"/>
              </a:rPr>
              <a:t>Giới thiệu</a:t>
            </a:r>
          </a:p>
        </p:txBody>
      </p:sp>
      <p:sp>
        <p:nvSpPr>
          <p:cNvPr name="TextBox 8" id="8"/>
          <p:cNvSpPr txBox="true"/>
          <p:nvPr/>
        </p:nvSpPr>
        <p:spPr>
          <a:xfrm rot="0">
            <a:off x="11251537" y="3613532"/>
            <a:ext cx="5348229" cy="9861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Bài toán – Trạng thái và hành động</a:t>
            </a:r>
          </a:p>
        </p:txBody>
      </p:sp>
      <p:sp>
        <p:nvSpPr>
          <p:cNvPr name="TextBox 9" id="9"/>
          <p:cNvSpPr txBox="true"/>
          <p:nvPr/>
        </p:nvSpPr>
        <p:spPr>
          <a:xfrm rot="0">
            <a:off x="1028700" y="5118447"/>
            <a:ext cx="5352545" cy="490855"/>
          </a:xfrm>
          <a:prstGeom prst="rect">
            <a:avLst/>
          </a:prstGeom>
        </p:spPr>
        <p:txBody>
          <a:bodyPr anchor="t" rtlCol="false" tIns="0" lIns="0" bIns="0" rIns="0">
            <a:spAutoFit/>
          </a:bodyPr>
          <a:lstStyle/>
          <a:p>
            <a:pPr algn="r" marL="0" indent="0" lvl="0">
              <a:lnSpc>
                <a:spcPts val="3919"/>
              </a:lnSpc>
              <a:spcBef>
                <a:spcPct val="0"/>
              </a:spcBef>
            </a:pPr>
            <a:r>
              <a:rPr lang="en-US" b="true" sz="2799">
                <a:solidFill>
                  <a:srgbClr val="0F4662"/>
                </a:solidFill>
                <a:latin typeface="Quicksand Bold"/>
                <a:ea typeface="Quicksand Bold"/>
                <a:cs typeface="Quicksand Bold"/>
                <a:sym typeface="Quicksand Bold"/>
              </a:rPr>
              <a:t>Các Thuật Toán</a:t>
            </a:r>
          </a:p>
        </p:txBody>
      </p:sp>
      <p:sp>
        <p:nvSpPr>
          <p:cNvPr name="Freeform 10" id="10"/>
          <p:cNvSpPr/>
          <p:nvPr/>
        </p:nvSpPr>
        <p:spPr>
          <a:xfrm flipH="false" flipV="false" rot="0">
            <a:off x="15579303" y="714009"/>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24384" y="9529723"/>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7597347" y="5800725"/>
            <a:ext cx="5352545" cy="490855"/>
          </a:xfrm>
          <a:prstGeom prst="rect">
            <a:avLst/>
          </a:prstGeom>
        </p:spPr>
        <p:txBody>
          <a:bodyPr anchor="t" rtlCol="false" tIns="0" lIns="0" bIns="0" rIns="0">
            <a:spAutoFit/>
          </a:bodyPr>
          <a:lstStyle/>
          <a:p>
            <a:pPr algn="r" marL="0" indent="0" lvl="0">
              <a:lnSpc>
                <a:spcPts val="3919"/>
              </a:lnSpc>
              <a:spcBef>
                <a:spcPct val="0"/>
              </a:spcBef>
            </a:pPr>
            <a:r>
              <a:rPr lang="en-US" b="true" sz="2799">
                <a:solidFill>
                  <a:srgbClr val="0F4662"/>
                </a:solidFill>
                <a:latin typeface="Quicksand Bold"/>
                <a:ea typeface="Quicksand Bold"/>
                <a:cs typeface="Quicksand Bold"/>
                <a:sym typeface="Quicksand Bold"/>
              </a:rPr>
              <a:t>Kết quả</a:t>
            </a:r>
          </a:p>
        </p:txBody>
      </p:sp>
      <p:sp>
        <p:nvSpPr>
          <p:cNvPr name="TextBox 13" id="13"/>
          <p:cNvSpPr txBox="true"/>
          <p:nvPr/>
        </p:nvSpPr>
        <p:spPr>
          <a:xfrm rot="0">
            <a:off x="1656224" y="7076152"/>
            <a:ext cx="5352545" cy="490855"/>
          </a:xfrm>
          <a:prstGeom prst="rect">
            <a:avLst/>
          </a:prstGeom>
        </p:spPr>
        <p:txBody>
          <a:bodyPr anchor="t" rtlCol="false" tIns="0" lIns="0" bIns="0" rIns="0">
            <a:spAutoFit/>
          </a:bodyPr>
          <a:lstStyle/>
          <a:p>
            <a:pPr algn="r" marL="0" indent="0" lvl="0">
              <a:lnSpc>
                <a:spcPts val="3919"/>
              </a:lnSpc>
              <a:spcBef>
                <a:spcPct val="0"/>
              </a:spcBef>
            </a:pPr>
            <a:r>
              <a:rPr lang="en-US" b="true" sz="2799">
                <a:solidFill>
                  <a:srgbClr val="0F4662"/>
                </a:solidFill>
                <a:latin typeface="Quicksand Bold"/>
                <a:ea typeface="Quicksand Bold"/>
                <a:cs typeface="Quicksand Bold"/>
                <a:sym typeface="Quicksand Bold"/>
              </a:rPr>
              <a:t>Kết Luận</a:t>
            </a:r>
          </a:p>
        </p:txBody>
      </p:sp>
      <p:sp>
        <p:nvSpPr>
          <p:cNvPr name="AutoShape 14" id="14"/>
          <p:cNvSpPr/>
          <p:nvPr/>
        </p:nvSpPr>
        <p:spPr>
          <a:xfrm>
            <a:off x="11251537" y="6805930"/>
            <a:ext cx="4346753" cy="0"/>
          </a:xfrm>
          <a:prstGeom prst="line">
            <a:avLst/>
          </a:prstGeom>
          <a:ln cap="flat" w="57150">
            <a:solidFill>
              <a:srgbClr val="7994A0"/>
            </a:solidFill>
            <a:prstDash val="solid"/>
            <a:headEnd type="none" len="sm" w="sm"/>
            <a:tailEnd type="none" len="sm" w="sm"/>
          </a:ln>
        </p:spPr>
      </p:sp>
      <p:sp>
        <p:nvSpPr>
          <p:cNvPr name="AutoShape 15" id="15"/>
          <p:cNvSpPr/>
          <p:nvPr/>
        </p:nvSpPr>
        <p:spPr>
          <a:xfrm flipV="true">
            <a:off x="2292379" y="7793350"/>
            <a:ext cx="4716390" cy="0"/>
          </a:xfrm>
          <a:prstGeom prst="line">
            <a:avLst/>
          </a:prstGeom>
          <a:ln cap="flat" w="57150">
            <a:solidFill>
              <a:srgbClr val="7994A0"/>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919567" y="0"/>
            <a:ext cx="5368433" cy="10287000"/>
            <a:chOff x="0" y="0"/>
            <a:chExt cx="1413908" cy="2709333"/>
          </a:xfrm>
        </p:grpSpPr>
        <p:sp>
          <p:nvSpPr>
            <p:cNvPr name="Freeform 3" id="3"/>
            <p:cNvSpPr/>
            <p:nvPr/>
          </p:nvSpPr>
          <p:spPr>
            <a:xfrm flipH="false" flipV="false" rot="0">
              <a:off x="0" y="0"/>
              <a:ext cx="1413908" cy="2709333"/>
            </a:xfrm>
            <a:custGeom>
              <a:avLst/>
              <a:gdLst/>
              <a:ahLst/>
              <a:cxnLst/>
              <a:rect r="r" b="b" t="t" l="l"/>
              <a:pathLst>
                <a:path h="2709333" w="1413908">
                  <a:moveTo>
                    <a:pt x="0" y="0"/>
                  </a:moveTo>
                  <a:lnTo>
                    <a:pt x="1413908" y="0"/>
                  </a:lnTo>
                  <a:lnTo>
                    <a:pt x="1413908" y="2709333"/>
                  </a:lnTo>
                  <a:lnTo>
                    <a:pt x="0" y="2709333"/>
                  </a:lnTo>
                  <a:close/>
                </a:path>
              </a:pathLst>
            </a:custGeom>
            <a:solidFill>
              <a:srgbClr val="DBE5EA"/>
            </a:solidFill>
          </p:spPr>
        </p:sp>
        <p:sp>
          <p:nvSpPr>
            <p:cNvPr name="TextBox 4" id="4"/>
            <p:cNvSpPr txBox="true"/>
            <p:nvPr/>
          </p:nvSpPr>
          <p:spPr>
            <a:xfrm>
              <a:off x="0" y="-123825"/>
              <a:ext cx="1413908"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6" id="6"/>
          <p:cNvSpPr txBox="true"/>
          <p:nvPr/>
        </p:nvSpPr>
        <p:spPr>
          <a:xfrm rot="0">
            <a:off x="800667" y="537845"/>
            <a:ext cx="1896864"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1.Giới Thiệu</a:t>
            </a:r>
          </a:p>
        </p:txBody>
      </p:sp>
      <p:sp>
        <p:nvSpPr>
          <p:cNvPr name="TextBox 7" id="7"/>
          <p:cNvSpPr txBox="true"/>
          <p:nvPr/>
        </p:nvSpPr>
        <p:spPr>
          <a:xfrm rot="0">
            <a:off x="1028700" y="1593392"/>
            <a:ext cx="12340180" cy="1481455"/>
          </a:xfrm>
          <a:prstGeom prst="rect">
            <a:avLst/>
          </a:prstGeom>
        </p:spPr>
        <p:txBody>
          <a:bodyPr anchor="t" rtlCol="false" tIns="0" lIns="0" bIns="0" rIns="0">
            <a:spAutoFit/>
          </a:bodyPr>
          <a:lstStyle/>
          <a:p>
            <a:pPr algn="l">
              <a:lnSpc>
                <a:spcPts val="3919"/>
              </a:lnSpc>
              <a:spcBef>
                <a:spcPct val="0"/>
              </a:spcBef>
            </a:pPr>
            <a:r>
              <a:rPr lang="en-US" sz="2799">
                <a:solidFill>
                  <a:srgbClr val="0F4662"/>
                </a:solidFill>
                <a:latin typeface="Quicksand"/>
                <a:ea typeface="Quicksand"/>
                <a:cs typeface="Quicksand"/>
                <a:sym typeface="Quicksand"/>
              </a:rPr>
              <a:t>Nghiên cứu các thuật toán tìm kiếm: BFS, DFS, GBFS, A* và biến thể nâng cao</a:t>
            </a:r>
          </a:p>
          <a:p>
            <a:pPr algn="l">
              <a:lnSpc>
                <a:spcPts val="3919"/>
              </a:lnSpc>
              <a:spcBef>
                <a:spcPct val="0"/>
              </a:spcBef>
            </a:pPr>
            <a:r>
              <a:rPr lang="en-US" sz="2799">
                <a:solidFill>
                  <a:srgbClr val="0F4662"/>
                </a:solidFill>
                <a:latin typeface="Quicksand"/>
                <a:ea typeface="Quicksand"/>
                <a:cs typeface="Quicksand"/>
                <a:sym typeface="Quicksand"/>
              </a:rPr>
              <a:t>So sánh hiệu quả: chi phí, số nút mở rộng, độ sâu, bộ nhớ</a:t>
            </a:r>
          </a:p>
        </p:txBody>
      </p:sp>
      <p:sp>
        <p:nvSpPr>
          <p:cNvPr name="TextBox 8" id="8"/>
          <p:cNvSpPr txBox="true"/>
          <p:nvPr/>
        </p:nvSpPr>
        <p:spPr>
          <a:xfrm rot="0">
            <a:off x="1028700" y="5076825"/>
            <a:ext cx="11455426" cy="2472055"/>
          </a:xfrm>
          <a:prstGeom prst="rect">
            <a:avLst/>
          </a:prstGeom>
        </p:spPr>
        <p:txBody>
          <a:bodyPr anchor="t" rtlCol="false" tIns="0" lIns="0" bIns="0" rIns="0">
            <a:spAutoFit/>
          </a:bodyPr>
          <a:lstStyle/>
          <a:p>
            <a:pPr algn="l">
              <a:lnSpc>
                <a:spcPts val="3919"/>
              </a:lnSpc>
              <a:spcBef>
                <a:spcPct val="0"/>
              </a:spcBef>
            </a:pPr>
            <a:r>
              <a:rPr lang="en-US" b="true" sz="2799">
                <a:solidFill>
                  <a:srgbClr val="0F4662"/>
                </a:solidFill>
                <a:latin typeface="Quicksand Bold"/>
                <a:ea typeface="Quicksand Bold"/>
                <a:cs typeface="Quicksand Bold"/>
                <a:sym typeface="Quicksand Bold"/>
              </a:rPr>
              <a:t>Mục tiêu:</a:t>
            </a:r>
          </a:p>
          <a:p>
            <a:pPr algn="l">
              <a:lnSpc>
                <a:spcPts val="3919"/>
              </a:lnSpc>
              <a:spcBef>
                <a:spcPct val="0"/>
              </a:spcBef>
            </a:pPr>
            <a:r>
              <a:rPr lang="en-US" sz="2799">
                <a:solidFill>
                  <a:srgbClr val="0F4662"/>
                </a:solidFill>
                <a:latin typeface="Quicksand"/>
                <a:ea typeface="Quicksand"/>
                <a:cs typeface="Quicksand"/>
                <a:sym typeface="Quicksand"/>
              </a:rPr>
              <a:t>Hiểu cơ chế hoạt động của Goal-Based Agent</a:t>
            </a:r>
          </a:p>
          <a:p>
            <a:pPr algn="l">
              <a:lnSpc>
                <a:spcPts val="3919"/>
              </a:lnSpc>
              <a:spcBef>
                <a:spcPct val="0"/>
              </a:spcBef>
            </a:pPr>
            <a:r>
              <a:rPr lang="en-US" sz="2799">
                <a:solidFill>
                  <a:srgbClr val="0F4662"/>
                </a:solidFill>
                <a:latin typeface="Quicksand"/>
                <a:ea typeface="Quicksand"/>
                <a:cs typeface="Quicksand"/>
                <a:sym typeface="Quicksand"/>
              </a:rPr>
              <a:t>So sánh hiệu quả thuật toán trên các maze khác nhau</a:t>
            </a:r>
          </a:p>
          <a:p>
            <a:pPr algn="l">
              <a:lnSpc>
                <a:spcPts val="3919"/>
              </a:lnSpc>
              <a:spcBef>
                <a:spcPct val="0"/>
              </a:spcBef>
            </a:pPr>
            <a:r>
              <a:rPr lang="en-US" sz="2799">
                <a:solidFill>
                  <a:srgbClr val="0F4662"/>
                </a:solidFill>
                <a:latin typeface="Quicksand"/>
                <a:ea typeface="Quicksand"/>
                <a:cs typeface="Quicksand"/>
                <a:sym typeface="Quicksand"/>
              </a:rPr>
              <a:t>Thuật toán áp dụng: BFS, DFS, GBFS, A*, Weighted A*, IDS</a:t>
            </a:r>
          </a:p>
          <a:p>
            <a:pPr algn="l">
              <a:lnSpc>
                <a:spcPts val="3919"/>
              </a:lnSpc>
              <a:spcBef>
                <a:spcPct val="0"/>
              </a:spcBef>
            </a:pPr>
            <a:r>
              <a:rPr lang="en-US" sz="2799">
                <a:solidFill>
                  <a:srgbClr val="0F4662"/>
                </a:solidFill>
                <a:latin typeface="Quicksand"/>
                <a:ea typeface="Quicksand"/>
                <a:cs typeface="Quicksand"/>
                <a:sym typeface="Quicksand"/>
              </a:rPr>
              <a:t>Maze thử nghiệm: Small, Medium, Large, Open, Wall, Loops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919567" y="0"/>
            <a:ext cx="5368433" cy="10287000"/>
            <a:chOff x="0" y="0"/>
            <a:chExt cx="1413908" cy="2709333"/>
          </a:xfrm>
        </p:grpSpPr>
        <p:sp>
          <p:nvSpPr>
            <p:cNvPr name="Freeform 3" id="3"/>
            <p:cNvSpPr/>
            <p:nvPr/>
          </p:nvSpPr>
          <p:spPr>
            <a:xfrm flipH="false" flipV="false" rot="0">
              <a:off x="0" y="0"/>
              <a:ext cx="1413908" cy="2709333"/>
            </a:xfrm>
            <a:custGeom>
              <a:avLst/>
              <a:gdLst/>
              <a:ahLst/>
              <a:cxnLst/>
              <a:rect r="r" b="b" t="t" l="l"/>
              <a:pathLst>
                <a:path h="2709333" w="1413908">
                  <a:moveTo>
                    <a:pt x="0" y="0"/>
                  </a:moveTo>
                  <a:lnTo>
                    <a:pt x="1413908" y="0"/>
                  </a:lnTo>
                  <a:lnTo>
                    <a:pt x="1413908" y="2709333"/>
                  </a:lnTo>
                  <a:lnTo>
                    <a:pt x="0" y="2709333"/>
                  </a:lnTo>
                  <a:close/>
                </a:path>
              </a:pathLst>
            </a:custGeom>
            <a:solidFill>
              <a:srgbClr val="DBE5EA"/>
            </a:solidFill>
          </p:spPr>
        </p:sp>
        <p:sp>
          <p:nvSpPr>
            <p:cNvPr name="TextBox 4" id="4"/>
            <p:cNvSpPr txBox="true"/>
            <p:nvPr/>
          </p:nvSpPr>
          <p:spPr>
            <a:xfrm>
              <a:off x="0" y="-123825"/>
              <a:ext cx="1413908"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746386" y="3243249"/>
            <a:ext cx="6406828" cy="6342759"/>
          </a:xfrm>
          <a:custGeom>
            <a:avLst/>
            <a:gdLst/>
            <a:ahLst/>
            <a:cxnLst/>
            <a:rect r="r" b="b" t="t" l="l"/>
            <a:pathLst>
              <a:path h="6342759" w="6406828">
                <a:moveTo>
                  <a:pt x="0" y="0"/>
                </a:moveTo>
                <a:lnTo>
                  <a:pt x="6406827" y="0"/>
                </a:lnTo>
                <a:lnTo>
                  <a:pt x="6406827" y="6342759"/>
                </a:lnTo>
                <a:lnTo>
                  <a:pt x="0" y="6342759"/>
                </a:lnTo>
                <a:lnTo>
                  <a:pt x="0" y="0"/>
                </a:lnTo>
                <a:close/>
              </a:path>
            </a:pathLst>
          </a:custGeom>
          <a:blipFill>
            <a:blip r:embed="rId2"/>
            <a:stretch>
              <a:fillRect l="0" t="0" r="0" b="0"/>
            </a:stretch>
          </a:blipFill>
        </p:spPr>
      </p:sp>
      <p:sp>
        <p:nvSpPr>
          <p:cNvPr name="Freeform 7" id="7"/>
          <p:cNvSpPr/>
          <p:nvPr/>
        </p:nvSpPr>
        <p:spPr>
          <a:xfrm flipH="false" flipV="false" rot="0">
            <a:off x="7879693" y="3349294"/>
            <a:ext cx="6406828" cy="6342759"/>
          </a:xfrm>
          <a:custGeom>
            <a:avLst/>
            <a:gdLst/>
            <a:ahLst/>
            <a:cxnLst/>
            <a:rect r="r" b="b" t="t" l="l"/>
            <a:pathLst>
              <a:path h="6342759" w="6406828">
                <a:moveTo>
                  <a:pt x="0" y="0"/>
                </a:moveTo>
                <a:lnTo>
                  <a:pt x="6406828" y="0"/>
                </a:lnTo>
                <a:lnTo>
                  <a:pt x="6406828" y="6342759"/>
                </a:lnTo>
                <a:lnTo>
                  <a:pt x="0" y="6342759"/>
                </a:lnTo>
                <a:lnTo>
                  <a:pt x="0" y="0"/>
                </a:lnTo>
                <a:close/>
              </a:path>
            </a:pathLst>
          </a:custGeom>
          <a:blipFill>
            <a:blip r:embed="rId3"/>
            <a:stretch>
              <a:fillRect l="0" t="0" r="0" b="0"/>
            </a:stretch>
          </a:blipFill>
        </p:spPr>
      </p:sp>
      <p:sp>
        <p:nvSpPr>
          <p:cNvPr name="TextBox 8" id="8"/>
          <p:cNvSpPr txBox="true"/>
          <p:nvPr/>
        </p:nvSpPr>
        <p:spPr>
          <a:xfrm rot="0">
            <a:off x="800667" y="537845"/>
            <a:ext cx="1896864"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1.Giới Thiệu</a:t>
            </a:r>
          </a:p>
        </p:txBody>
      </p:sp>
      <p:sp>
        <p:nvSpPr>
          <p:cNvPr name="TextBox 9" id="9"/>
          <p:cNvSpPr txBox="true"/>
          <p:nvPr/>
        </p:nvSpPr>
        <p:spPr>
          <a:xfrm rot="0">
            <a:off x="1028700" y="1477944"/>
            <a:ext cx="2921099"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Các loại mê cung</a:t>
            </a:r>
          </a:p>
        </p:txBody>
      </p:sp>
      <p:sp>
        <p:nvSpPr>
          <p:cNvPr name="TextBox 10" id="10"/>
          <p:cNvSpPr txBox="true"/>
          <p:nvPr/>
        </p:nvSpPr>
        <p:spPr>
          <a:xfrm rot="0">
            <a:off x="1028700" y="2418044"/>
            <a:ext cx="1776313"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Wall maze</a:t>
            </a:r>
          </a:p>
        </p:txBody>
      </p:sp>
      <p:sp>
        <p:nvSpPr>
          <p:cNvPr name="TextBox 11" id="11"/>
          <p:cNvSpPr txBox="true"/>
          <p:nvPr/>
        </p:nvSpPr>
        <p:spPr>
          <a:xfrm rot="0">
            <a:off x="9144000" y="2630134"/>
            <a:ext cx="2137569"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Empty maze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919567" y="0"/>
            <a:ext cx="5368433" cy="10287000"/>
            <a:chOff x="0" y="0"/>
            <a:chExt cx="1413908" cy="2709333"/>
          </a:xfrm>
        </p:grpSpPr>
        <p:sp>
          <p:nvSpPr>
            <p:cNvPr name="Freeform 3" id="3"/>
            <p:cNvSpPr/>
            <p:nvPr/>
          </p:nvSpPr>
          <p:spPr>
            <a:xfrm flipH="false" flipV="false" rot="0">
              <a:off x="0" y="0"/>
              <a:ext cx="1413908" cy="2709333"/>
            </a:xfrm>
            <a:custGeom>
              <a:avLst/>
              <a:gdLst/>
              <a:ahLst/>
              <a:cxnLst/>
              <a:rect r="r" b="b" t="t" l="l"/>
              <a:pathLst>
                <a:path h="2709333" w="1413908">
                  <a:moveTo>
                    <a:pt x="0" y="0"/>
                  </a:moveTo>
                  <a:lnTo>
                    <a:pt x="1413908" y="0"/>
                  </a:lnTo>
                  <a:lnTo>
                    <a:pt x="1413908" y="2709333"/>
                  </a:lnTo>
                  <a:lnTo>
                    <a:pt x="0" y="2709333"/>
                  </a:lnTo>
                  <a:close/>
                </a:path>
              </a:pathLst>
            </a:custGeom>
            <a:solidFill>
              <a:srgbClr val="DBE5EA"/>
            </a:solidFill>
          </p:spPr>
        </p:sp>
        <p:sp>
          <p:nvSpPr>
            <p:cNvPr name="TextBox 4" id="4"/>
            <p:cNvSpPr txBox="true"/>
            <p:nvPr/>
          </p:nvSpPr>
          <p:spPr>
            <a:xfrm>
              <a:off x="0" y="-123825"/>
              <a:ext cx="1413908"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746386" y="3349294"/>
            <a:ext cx="6406828" cy="6342759"/>
          </a:xfrm>
          <a:custGeom>
            <a:avLst/>
            <a:gdLst/>
            <a:ahLst/>
            <a:cxnLst/>
            <a:rect r="r" b="b" t="t" l="l"/>
            <a:pathLst>
              <a:path h="6342759" w="6406828">
                <a:moveTo>
                  <a:pt x="0" y="0"/>
                </a:moveTo>
                <a:lnTo>
                  <a:pt x="6406827" y="0"/>
                </a:lnTo>
                <a:lnTo>
                  <a:pt x="6406827" y="6342759"/>
                </a:lnTo>
                <a:lnTo>
                  <a:pt x="0" y="6342759"/>
                </a:lnTo>
                <a:lnTo>
                  <a:pt x="0" y="0"/>
                </a:lnTo>
                <a:close/>
              </a:path>
            </a:pathLst>
          </a:custGeom>
          <a:blipFill>
            <a:blip r:embed="rId2"/>
            <a:stretch>
              <a:fillRect l="0" t="0" r="0" b="0"/>
            </a:stretch>
          </a:blipFill>
        </p:spPr>
      </p:sp>
      <p:sp>
        <p:nvSpPr>
          <p:cNvPr name="Freeform 7" id="7"/>
          <p:cNvSpPr/>
          <p:nvPr/>
        </p:nvSpPr>
        <p:spPr>
          <a:xfrm flipH="false" flipV="false" rot="0">
            <a:off x="8868822" y="3349294"/>
            <a:ext cx="6400544" cy="6344540"/>
          </a:xfrm>
          <a:custGeom>
            <a:avLst/>
            <a:gdLst/>
            <a:ahLst/>
            <a:cxnLst/>
            <a:rect r="r" b="b" t="t" l="l"/>
            <a:pathLst>
              <a:path h="6344540" w="6400544">
                <a:moveTo>
                  <a:pt x="0" y="0"/>
                </a:moveTo>
                <a:lnTo>
                  <a:pt x="6400544" y="0"/>
                </a:lnTo>
                <a:lnTo>
                  <a:pt x="6400544" y="6344540"/>
                </a:lnTo>
                <a:lnTo>
                  <a:pt x="0" y="6344540"/>
                </a:lnTo>
                <a:lnTo>
                  <a:pt x="0" y="0"/>
                </a:lnTo>
                <a:close/>
              </a:path>
            </a:pathLst>
          </a:custGeom>
          <a:blipFill>
            <a:blip r:embed="rId3"/>
            <a:stretch>
              <a:fillRect l="0" t="0" r="0" b="0"/>
            </a:stretch>
          </a:blipFill>
        </p:spPr>
      </p:sp>
      <p:sp>
        <p:nvSpPr>
          <p:cNvPr name="TextBox 8" id="8"/>
          <p:cNvSpPr txBox="true"/>
          <p:nvPr/>
        </p:nvSpPr>
        <p:spPr>
          <a:xfrm rot="0">
            <a:off x="800667" y="537845"/>
            <a:ext cx="1896864"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1.Giới Thiệu</a:t>
            </a:r>
          </a:p>
        </p:txBody>
      </p:sp>
      <p:sp>
        <p:nvSpPr>
          <p:cNvPr name="TextBox 9" id="9"/>
          <p:cNvSpPr txBox="true"/>
          <p:nvPr/>
        </p:nvSpPr>
        <p:spPr>
          <a:xfrm rot="0">
            <a:off x="1028700" y="1477944"/>
            <a:ext cx="2921099"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Các loại mê cung</a:t>
            </a:r>
          </a:p>
        </p:txBody>
      </p:sp>
      <p:sp>
        <p:nvSpPr>
          <p:cNvPr name="TextBox 10" id="10"/>
          <p:cNvSpPr txBox="true"/>
          <p:nvPr/>
        </p:nvSpPr>
        <p:spPr>
          <a:xfrm rot="0">
            <a:off x="1028700" y="2630134"/>
            <a:ext cx="2439492"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Empty2 maze </a:t>
            </a:r>
          </a:p>
        </p:txBody>
      </p:sp>
      <p:sp>
        <p:nvSpPr>
          <p:cNvPr name="TextBox 11" id="11"/>
          <p:cNvSpPr txBox="true"/>
          <p:nvPr/>
        </p:nvSpPr>
        <p:spPr>
          <a:xfrm rot="0">
            <a:off x="9144000" y="2630134"/>
            <a:ext cx="2130127"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 Large maze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919567" y="0"/>
            <a:ext cx="5368433" cy="10287000"/>
            <a:chOff x="0" y="0"/>
            <a:chExt cx="1413908" cy="2709333"/>
          </a:xfrm>
        </p:grpSpPr>
        <p:sp>
          <p:nvSpPr>
            <p:cNvPr name="Freeform 3" id="3"/>
            <p:cNvSpPr/>
            <p:nvPr/>
          </p:nvSpPr>
          <p:spPr>
            <a:xfrm flipH="false" flipV="false" rot="0">
              <a:off x="0" y="0"/>
              <a:ext cx="1413908" cy="2709333"/>
            </a:xfrm>
            <a:custGeom>
              <a:avLst/>
              <a:gdLst/>
              <a:ahLst/>
              <a:cxnLst/>
              <a:rect r="r" b="b" t="t" l="l"/>
              <a:pathLst>
                <a:path h="2709333" w="1413908">
                  <a:moveTo>
                    <a:pt x="0" y="0"/>
                  </a:moveTo>
                  <a:lnTo>
                    <a:pt x="1413908" y="0"/>
                  </a:lnTo>
                  <a:lnTo>
                    <a:pt x="1413908" y="2709333"/>
                  </a:lnTo>
                  <a:lnTo>
                    <a:pt x="0" y="2709333"/>
                  </a:lnTo>
                  <a:close/>
                </a:path>
              </a:pathLst>
            </a:custGeom>
            <a:solidFill>
              <a:srgbClr val="DBE5EA"/>
            </a:solidFill>
          </p:spPr>
        </p:sp>
        <p:sp>
          <p:nvSpPr>
            <p:cNvPr name="TextBox 4" id="4"/>
            <p:cNvSpPr txBox="true"/>
            <p:nvPr/>
          </p:nvSpPr>
          <p:spPr>
            <a:xfrm>
              <a:off x="0" y="-123825"/>
              <a:ext cx="1413908"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746386" y="3349294"/>
            <a:ext cx="6406828" cy="6342759"/>
          </a:xfrm>
          <a:custGeom>
            <a:avLst/>
            <a:gdLst/>
            <a:ahLst/>
            <a:cxnLst/>
            <a:rect r="r" b="b" t="t" l="l"/>
            <a:pathLst>
              <a:path h="6342759" w="6406828">
                <a:moveTo>
                  <a:pt x="0" y="0"/>
                </a:moveTo>
                <a:lnTo>
                  <a:pt x="6406827" y="0"/>
                </a:lnTo>
                <a:lnTo>
                  <a:pt x="6406827" y="6342759"/>
                </a:lnTo>
                <a:lnTo>
                  <a:pt x="0" y="6342759"/>
                </a:lnTo>
                <a:lnTo>
                  <a:pt x="0" y="0"/>
                </a:lnTo>
                <a:close/>
              </a:path>
            </a:pathLst>
          </a:custGeom>
          <a:blipFill>
            <a:blip r:embed="rId2"/>
            <a:stretch>
              <a:fillRect l="0" t="0" r="0" b="0"/>
            </a:stretch>
          </a:blipFill>
        </p:spPr>
      </p:sp>
      <p:sp>
        <p:nvSpPr>
          <p:cNvPr name="Freeform 7" id="7"/>
          <p:cNvSpPr/>
          <p:nvPr/>
        </p:nvSpPr>
        <p:spPr>
          <a:xfrm flipH="false" flipV="false" rot="0">
            <a:off x="8206469" y="4058080"/>
            <a:ext cx="9426197" cy="4925188"/>
          </a:xfrm>
          <a:custGeom>
            <a:avLst/>
            <a:gdLst/>
            <a:ahLst/>
            <a:cxnLst/>
            <a:rect r="r" b="b" t="t" l="l"/>
            <a:pathLst>
              <a:path h="4925188" w="9426197">
                <a:moveTo>
                  <a:pt x="0" y="0"/>
                </a:moveTo>
                <a:lnTo>
                  <a:pt x="9426196" y="0"/>
                </a:lnTo>
                <a:lnTo>
                  <a:pt x="9426196" y="4925188"/>
                </a:lnTo>
                <a:lnTo>
                  <a:pt x="0" y="4925188"/>
                </a:lnTo>
                <a:lnTo>
                  <a:pt x="0" y="0"/>
                </a:lnTo>
                <a:close/>
              </a:path>
            </a:pathLst>
          </a:custGeom>
          <a:blipFill>
            <a:blip r:embed="rId3"/>
            <a:stretch>
              <a:fillRect l="0" t="0" r="0" b="0"/>
            </a:stretch>
          </a:blipFill>
        </p:spPr>
      </p:sp>
      <p:sp>
        <p:nvSpPr>
          <p:cNvPr name="TextBox 8" id="8"/>
          <p:cNvSpPr txBox="true"/>
          <p:nvPr/>
        </p:nvSpPr>
        <p:spPr>
          <a:xfrm rot="0">
            <a:off x="800667" y="537845"/>
            <a:ext cx="1896864"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1.Giới Thiệu</a:t>
            </a:r>
          </a:p>
        </p:txBody>
      </p:sp>
      <p:sp>
        <p:nvSpPr>
          <p:cNvPr name="TextBox 9" id="9"/>
          <p:cNvSpPr txBox="true"/>
          <p:nvPr/>
        </p:nvSpPr>
        <p:spPr>
          <a:xfrm rot="0">
            <a:off x="1028700" y="1477944"/>
            <a:ext cx="2921099"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Các loại mê cung</a:t>
            </a:r>
          </a:p>
        </p:txBody>
      </p:sp>
      <p:sp>
        <p:nvSpPr>
          <p:cNvPr name="TextBox 10" id="10"/>
          <p:cNvSpPr txBox="true"/>
          <p:nvPr/>
        </p:nvSpPr>
        <p:spPr>
          <a:xfrm rot="0">
            <a:off x="1382114" y="2630134"/>
            <a:ext cx="2630835"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Loop maze </a:t>
            </a:r>
          </a:p>
        </p:txBody>
      </p:sp>
      <p:sp>
        <p:nvSpPr>
          <p:cNvPr name="TextBox 11" id="11"/>
          <p:cNvSpPr txBox="true"/>
          <p:nvPr/>
        </p:nvSpPr>
        <p:spPr>
          <a:xfrm rot="0">
            <a:off x="8849585" y="2752394"/>
            <a:ext cx="2373610"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Medium maze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919567" y="0"/>
            <a:ext cx="5368433" cy="10287000"/>
            <a:chOff x="0" y="0"/>
            <a:chExt cx="1413908" cy="2709333"/>
          </a:xfrm>
        </p:grpSpPr>
        <p:sp>
          <p:nvSpPr>
            <p:cNvPr name="Freeform 3" id="3"/>
            <p:cNvSpPr/>
            <p:nvPr/>
          </p:nvSpPr>
          <p:spPr>
            <a:xfrm flipH="false" flipV="false" rot="0">
              <a:off x="0" y="0"/>
              <a:ext cx="1413908" cy="2709333"/>
            </a:xfrm>
            <a:custGeom>
              <a:avLst/>
              <a:gdLst/>
              <a:ahLst/>
              <a:cxnLst/>
              <a:rect r="r" b="b" t="t" l="l"/>
              <a:pathLst>
                <a:path h="2709333" w="1413908">
                  <a:moveTo>
                    <a:pt x="0" y="0"/>
                  </a:moveTo>
                  <a:lnTo>
                    <a:pt x="1413908" y="0"/>
                  </a:lnTo>
                  <a:lnTo>
                    <a:pt x="1413908" y="2709333"/>
                  </a:lnTo>
                  <a:lnTo>
                    <a:pt x="0" y="2709333"/>
                  </a:lnTo>
                  <a:close/>
                </a:path>
              </a:pathLst>
            </a:custGeom>
            <a:solidFill>
              <a:srgbClr val="DBE5EA"/>
            </a:solidFill>
          </p:spPr>
        </p:sp>
        <p:sp>
          <p:nvSpPr>
            <p:cNvPr name="TextBox 4" id="4"/>
            <p:cNvSpPr txBox="true"/>
            <p:nvPr/>
          </p:nvSpPr>
          <p:spPr>
            <a:xfrm>
              <a:off x="0" y="-123825"/>
              <a:ext cx="1413908"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574597" y="3635339"/>
            <a:ext cx="7092888" cy="4601511"/>
          </a:xfrm>
          <a:custGeom>
            <a:avLst/>
            <a:gdLst/>
            <a:ahLst/>
            <a:cxnLst/>
            <a:rect r="r" b="b" t="t" l="l"/>
            <a:pathLst>
              <a:path h="4601511" w="7092888">
                <a:moveTo>
                  <a:pt x="0" y="0"/>
                </a:moveTo>
                <a:lnTo>
                  <a:pt x="7092888" y="0"/>
                </a:lnTo>
                <a:lnTo>
                  <a:pt x="7092888" y="4601511"/>
                </a:lnTo>
                <a:lnTo>
                  <a:pt x="0" y="4601511"/>
                </a:lnTo>
                <a:lnTo>
                  <a:pt x="0" y="0"/>
                </a:lnTo>
                <a:close/>
              </a:path>
            </a:pathLst>
          </a:custGeom>
          <a:blipFill>
            <a:blip r:embed="rId2"/>
            <a:stretch>
              <a:fillRect l="0" t="0" r="0" b="0"/>
            </a:stretch>
          </a:blipFill>
        </p:spPr>
      </p:sp>
      <p:sp>
        <p:nvSpPr>
          <p:cNvPr name="Freeform 7" id="7"/>
          <p:cNvSpPr/>
          <p:nvPr/>
        </p:nvSpPr>
        <p:spPr>
          <a:xfrm flipH="false" flipV="false" rot="0">
            <a:off x="8489037" y="3442591"/>
            <a:ext cx="9517139" cy="4794259"/>
          </a:xfrm>
          <a:custGeom>
            <a:avLst/>
            <a:gdLst/>
            <a:ahLst/>
            <a:cxnLst/>
            <a:rect r="r" b="b" t="t" l="l"/>
            <a:pathLst>
              <a:path h="4794259" w="9517139">
                <a:moveTo>
                  <a:pt x="0" y="0"/>
                </a:moveTo>
                <a:lnTo>
                  <a:pt x="9517139" y="0"/>
                </a:lnTo>
                <a:lnTo>
                  <a:pt x="9517139" y="4794259"/>
                </a:lnTo>
                <a:lnTo>
                  <a:pt x="0" y="4794259"/>
                </a:lnTo>
                <a:lnTo>
                  <a:pt x="0" y="0"/>
                </a:lnTo>
                <a:close/>
              </a:path>
            </a:pathLst>
          </a:custGeom>
          <a:blipFill>
            <a:blip r:embed="rId3"/>
            <a:stretch>
              <a:fillRect l="0" t="0" r="0" b="0"/>
            </a:stretch>
          </a:blipFill>
        </p:spPr>
      </p:sp>
      <p:sp>
        <p:nvSpPr>
          <p:cNvPr name="TextBox 8" id="8"/>
          <p:cNvSpPr txBox="true"/>
          <p:nvPr/>
        </p:nvSpPr>
        <p:spPr>
          <a:xfrm rot="0">
            <a:off x="800667" y="537845"/>
            <a:ext cx="1896864"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1.Giới Thiệu</a:t>
            </a:r>
          </a:p>
        </p:txBody>
      </p:sp>
      <p:sp>
        <p:nvSpPr>
          <p:cNvPr name="TextBox 9" id="9"/>
          <p:cNvSpPr txBox="true"/>
          <p:nvPr/>
        </p:nvSpPr>
        <p:spPr>
          <a:xfrm rot="0">
            <a:off x="1028700" y="1477944"/>
            <a:ext cx="2921099"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Các loại mê cung</a:t>
            </a:r>
          </a:p>
        </p:txBody>
      </p:sp>
      <p:sp>
        <p:nvSpPr>
          <p:cNvPr name="TextBox 10" id="10"/>
          <p:cNvSpPr txBox="true"/>
          <p:nvPr/>
        </p:nvSpPr>
        <p:spPr>
          <a:xfrm rot="0">
            <a:off x="1467545" y="2630134"/>
            <a:ext cx="2043410"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Open maze </a:t>
            </a:r>
          </a:p>
        </p:txBody>
      </p:sp>
      <p:sp>
        <p:nvSpPr>
          <p:cNvPr name="TextBox 11" id="11"/>
          <p:cNvSpPr txBox="true"/>
          <p:nvPr/>
        </p:nvSpPr>
        <p:spPr>
          <a:xfrm rot="0">
            <a:off x="10632754" y="2630134"/>
            <a:ext cx="2083891"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F4662"/>
                </a:solidFill>
                <a:latin typeface="Quicksand Bold"/>
                <a:ea typeface="Quicksand Bold"/>
                <a:cs typeface="Quicksand Bold"/>
                <a:sym typeface="Quicksand Bold"/>
              </a:rPr>
              <a:t> Small maze</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6" id="6"/>
          <p:cNvSpPr txBox="true"/>
          <p:nvPr/>
        </p:nvSpPr>
        <p:spPr>
          <a:xfrm rot="0">
            <a:off x="1028700" y="962025"/>
            <a:ext cx="7681483" cy="580264"/>
          </a:xfrm>
          <a:prstGeom prst="rect">
            <a:avLst/>
          </a:prstGeom>
        </p:spPr>
        <p:txBody>
          <a:bodyPr anchor="t" rtlCol="false" tIns="0" lIns="0" bIns="0" rIns="0">
            <a:spAutoFit/>
          </a:bodyPr>
          <a:lstStyle/>
          <a:p>
            <a:pPr algn="ctr">
              <a:lnSpc>
                <a:spcPts val="4746"/>
              </a:lnSpc>
              <a:spcBef>
                <a:spcPct val="0"/>
              </a:spcBef>
            </a:pPr>
            <a:r>
              <a:rPr lang="en-US" b="true" sz="3390">
                <a:solidFill>
                  <a:srgbClr val="0F4662"/>
                </a:solidFill>
                <a:latin typeface="Quicksand Bold"/>
                <a:ea typeface="Quicksand Bold"/>
                <a:cs typeface="Quicksand Bold"/>
                <a:sym typeface="Quicksand Bold"/>
              </a:rPr>
              <a:t>2.</a:t>
            </a:r>
            <a:r>
              <a:rPr lang="en-US" b="true" sz="3390">
                <a:solidFill>
                  <a:srgbClr val="0F4662"/>
                </a:solidFill>
                <a:latin typeface="Quicksand Bold"/>
                <a:ea typeface="Quicksand Bold"/>
                <a:cs typeface="Quicksand Bold"/>
                <a:sym typeface="Quicksand Bold"/>
              </a:rPr>
              <a:t>Bài toán – Trạng thái và hành động</a:t>
            </a:r>
          </a:p>
        </p:txBody>
      </p:sp>
      <p:sp>
        <p:nvSpPr>
          <p:cNvPr name="TextBox 7" id="7"/>
          <p:cNvSpPr txBox="true"/>
          <p:nvPr/>
        </p:nvSpPr>
        <p:spPr>
          <a:xfrm rot="0">
            <a:off x="1028700" y="2217626"/>
            <a:ext cx="13536741" cy="4231485"/>
          </a:xfrm>
          <a:prstGeom prst="rect">
            <a:avLst/>
          </a:prstGeom>
        </p:spPr>
        <p:txBody>
          <a:bodyPr anchor="t" rtlCol="false" tIns="0" lIns="0" bIns="0" rIns="0">
            <a:spAutoFit/>
          </a:bodyPr>
          <a:lstStyle/>
          <a:p>
            <a:pPr algn="l">
              <a:lnSpc>
                <a:spcPts val="4807"/>
              </a:lnSpc>
              <a:spcBef>
                <a:spcPct val="0"/>
              </a:spcBef>
            </a:pPr>
            <a:r>
              <a:rPr lang="en-US" sz="3433">
                <a:solidFill>
                  <a:srgbClr val="0F4662"/>
                </a:solidFill>
                <a:latin typeface="Quicksand"/>
                <a:ea typeface="Quicksand"/>
                <a:cs typeface="Quicksand"/>
                <a:sym typeface="Quicksand"/>
              </a:rPr>
              <a:t>Trạng thái: Tọa độ tác tử (row, column)</a:t>
            </a:r>
          </a:p>
          <a:p>
            <a:pPr algn="l">
              <a:lnSpc>
                <a:spcPts val="4807"/>
              </a:lnSpc>
              <a:spcBef>
                <a:spcPct val="0"/>
              </a:spcBef>
            </a:pPr>
            <a:r>
              <a:rPr lang="en-US" sz="3433">
                <a:solidFill>
                  <a:srgbClr val="0F4662"/>
                </a:solidFill>
                <a:latin typeface="Quicksand"/>
                <a:ea typeface="Quicksand"/>
                <a:cs typeface="Quicksand"/>
                <a:sym typeface="Quicksand"/>
              </a:rPr>
              <a:t>Hành động hợp lệ: Lên, Xuống, Trái, Phải</a:t>
            </a:r>
          </a:p>
          <a:p>
            <a:pPr algn="l">
              <a:lnSpc>
                <a:spcPts val="4807"/>
              </a:lnSpc>
              <a:spcBef>
                <a:spcPct val="0"/>
              </a:spcBef>
            </a:pPr>
            <a:r>
              <a:rPr lang="en-US" sz="3433">
                <a:solidFill>
                  <a:srgbClr val="0F4662"/>
                </a:solidFill>
                <a:latin typeface="Quicksand"/>
                <a:ea typeface="Quicksand"/>
                <a:cs typeface="Quicksand"/>
                <a:sym typeface="Quicksand"/>
              </a:rPr>
              <a:t>Không ra ngoài biên</a:t>
            </a:r>
          </a:p>
          <a:p>
            <a:pPr algn="l">
              <a:lnSpc>
                <a:spcPts val="4807"/>
              </a:lnSpc>
              <a:spcBef>
                <a:spcPct val="0"/>
              </a:spcBef>
            </a:pPr>
            <a:r>
              <a:rPr lang="en-US" sz="3433">
                <a:solidFill>
                  <a:srgbClr val="0F4662"/>
                </a:solidFill>
                <a:latin typeface="Quicksand"/>
                <a:ea typeface="Quicksand"/>
                <a:cs typeface="Quicksand"/>
                <a:sym typeface="Quicksand"/>
              </a:rPr>
              <a:t>Không đi vào tường X</a:t>
            </a:r>
          </a:p>
          <a:p>
            <a:pPr algn="l">
              <a:lnSpc>
                <a:spcPts val="4807"/>
              </a:lnSpc>
              <a:spcBef>
                <a:spcPct val="0"/>
              </a:spcBef>
            </a:pPr>
            <a:r>
              <a:rPr lang="en-US" sz="3433">
                <a:solidFill>
                  <a:srgbClr val="0F4662"/>
                </a:solidFill>
                <a:latin typeface="Quicksand"/>
                <a:ea typeface="Quicksand"/>
                <a:cs typeface="Quicksand"/>
                <a:sym typeface="Quicksand"/>
              </a:rPr>
              <a:t>Mô hình chuyển trạng thái: Result(s, a) → s'</a:t>
            </a:r>
          </a:p>
          <a:p>
            <a:pPr algn="l">
              <a:lnSpc>
                <a:spcPts val="4807"/>
              </a:lnSpc>
              <a:spcBef>
                <a:spcPct val="0"/>
              </a:spcBef>
            </a:pPr>
            <a:r>
              <a:rPr lang="en-US" sz="3433">
                <a:solidFill>
                  <a:srgbClr val="0F4662"/>
                </a:solidFill>
                <a:latin typeface="Quicksand"/>
                <a:ea typeface="Quicksand"/>
                <a:cs typeface="Quicksand"/>
                <a:sym typeface="Quicksand"/>
              </a:rPr>
              <a:t>Trạng thái mục tiêu: Ô G</a:t>
            </a:r>
          </a:p>
          <a:p>
            <a:pPr algn="l">
              <a:lnSpc>
                <a:spcPts val="4807"/>
              </a:lnSpc>
              <a:spcBef>
                <a:spcPct val="0"/>
              </a:spcBef>
            </a:pPr>
            <a:r>
              <a:rPr lang="en-US" sz="3433">
                <a:solidFill>
                  <a:srgbClr val="0F4662"/>
                </a:solidFill>
                <a:latin typeface="Quicksand"/>
                <a:ea typeface="Quicksand"/>
                <a:cs typeface="Quicksand"/>
                <a:sym typeface="Quicksand"/>
              </a:rPr>
              <a:t>Chi phí: 1 bước = 1, tổng chi phí = số bước từ S → G</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6" id="6"/>
          <p:cNvSpPr txBox="true"/>
          <p:nvPr/>
        </p:nvSpPr>
        <p:spPr>
          <a:xfrm rot="0">
            <a:off x="1368092" y="933450"/>
            <a:ext cx="4727362" cy="800946"/>
          </a:xfrm>
          <a:prstGeom prst="rect">
            <a:avLst/>
          </a:prstGeom>
        </p:spPr>
        <p:txBody>
          <a:bodyPr anchor="t" rtlCol="false" tIns="0" lIns="0" bIns="0" rIns="0">
            <a:spAutoFit/>
          </a:bodyPr>
          <a:lstStyle/>
          <a:p>
            <a:pPr algn="ctr">
              <a:lnSpc>
                <a:spcPts val="6521"/>
              </a:lnSpc>
              <a:spcBef>
                <a:spcPct val="0"/>
              </a:spcBef>
            </a:pPr>
            <a:r>
              <a:rPr lang="en-US" b="true" sz="4658">
                <a:solidFill>
                  <a:srgbClr val="0F4662"/>
                </a:solidFill>
                <a:latin typeface="Quicksand Bold"/>
                <a:ea typeface="Quicksand Bold"/>
                <a:cs typeface="Quicksand Bold"/>
                <a:sym typeface="Quicksand Bold"/>
              </a:rPr>
              <a:t>3.Các thuật toán</a:t>
            </a:r>
          </a:p>
        </p:txBody>
      </p:sp>
      <p:sp>
        <p:nvSpPr>
          <p:cNvPr name="TextBox 7" id="7"/>
          <p:cNvSpPr txBox="true"/>
          <p:nvPr/>
        </p:nvSpPr>
        <p:spPr>
          <a:xfrm rot="0">
            <a:off x="1289190" y="2531116"/>
            <a:ext cx="4329340" cy="649519"/>
          </a:xfrm>
          <a:prstGeom prst="rect">
            <a:avLst/>
          </a:prstGeom>
        </p:spPr>
        <p:txBody>
          <a:bodyPr anchor="t" rtlCol="false" tIns="0" lIns="0" bIns="0" rIns="0">
            <a:spAutoFit/>
          </a:bodyPr>
          <a:lstStyle/>
          <a:p>
            <a:pPr algn="ctr">
              <a:lnSpc>
                <a:spcPts val="5386"/>
              </a:lnSpc>
              <a:spcBef>
                <a:spcPct val="0"/>
              </a:spcBef>
            </a:pPr>
            <a:r>
              <a:rPr lang="en-US" b="true" sz="3847">
                <a:solidFill>
                  <a:srgbClr val="0F4662"/>
                </a:solidFill>
                <a:latin typeface="Quicksand Bold"/>
                <a:ea typeface="Quicksand Bold"/>
                <a:cs typeface="Quicksand Bold"/>
                <a:sym typeface="Quicksand Bold"/>
              </a:rPr>
              <a:t>3.1 </a:t>
            </a:r>
            <a:r>
              <a:rPr lang="en-US" b="true" sz="3847">
                <a:solidFill>
                  <a:srgbClr val="0F4662"/>
                </a:solidFill>
                <a:latin typeface="Quicksand Bold"/>
                <a:ea typeface="Quicksand Bold"/>
                <a:cs typeface="Quicksand Bold"/>
                <a:sym typeface="Quicksand Bold"/>
              </a:rPr>
              <a:t>Thuật toán BFS</a:t>
            </a:r>
          </a:p>
        </p:txBody>
      </p:sp>
      <p:sp>
        <p:nvSpPr>
          <p:cNvPr name="TextBox 8" id="8"/>
          <p:cNvSpPr txBox="true"/>
          <p:nvPr/>
        </p:nvSpPr>
        <p:spPr>
          <a:xfrm rot="0">
            <a:off x="1149927" y="3750430"/>
            <a:ext cx="4607865" cy="649519"/>
          </a:xfrm>
          <a:prstGeom prst="rect">
            <a:avLst/>
          </a:prstGeom>
        </p:spPr>
        <p:txBody>
          <a:bodyPr anchor="t" rtlCol="false" tIns="0" lIns="0" bIns="0" rIns="0">
            <a:spAutoFit/>
          </a:bodyPr>
          <a:lstStyle/>
          <a:p>
            <a:pPr algn="ctr">
              <a:lnSpc>
                <a:spcPts val="5386"/>
              </a:lnSpc>
              <a:spcBef>
                <a:spcPct val="0"/>
              </a:spcBef>
            </a:pPr>
            <a:r>
              <a:rPr lang="en-US" b="true" sz="3847">
                <a:solidFill>
                  <a:srgbClr val="0F4662"/>
                </a:solidFill>
                <a:latin typeface="Quicksand Bold"/>
                <a:ea typeface="Quicksand Bold"/>
                <a:cs typeface="Quicksand Bold"/>
                <a:sym typeface="Quicksand Bold"/>
              </a:rPr>
              <a:t> 3.2 Thuật toán DFS</a:t>
            </a:r>
          </a:p>
        </p:txBody>
      </p:sp>
      <p:sp>
        <p:nvSpPr>
          <p:cNvPr name="TextBox 9" id="9"/>
          <p:cNvSpPr txBox="true"/>
          <p:nvPr/>
        </p:nvSpPr>
        <p:spPr>
          <a:xfrm rot="0">
            <a:off x="1289190" y="4969745"/>
            <a:ext cx="4766146" cy="1330085"/>
          </a:xfrm>
          <a:prstGeom prst="rect">
            <a:avLst/>
          </a:prstGeom>
        </p:spPr>
        <p:txBody>
          <a:bodyPr anchor="t" rtlCol="false" tIns="0" lIns="0" bIns="0" rIns="0">
            <a:spAutoFit/>
          </a:bodyPr>
          <a:lstStyle/>
          <a:p>
            <a:pPr algn="ctr">
              <a:lnSpc>
                <a:spcPts val="5386"/>
              </a:lnSpc>
            </a:pPr>
            <a:r>
              <a:rPr lang="en-US" sz="3847" b="true">
                <a:solidFill>
                  <a:srgbClr val="0F4662"/>
                </a:solidFill>
                <a:latin typeface="Quicksand Bold"/>
                <a:ea typeface="Quicksand Bold"/>
                <a:cs typeface="Quicksand Bold"/>
                <a:sym typeface="Quicksand Bold"/>
              </a:rPr>
              <a:t>3.3 Thuật toán GBFS</a:t>
            </a:r>
          </a:p>
          <a:p>
            <a:pPr algn="ctr">
              <a:lnSpc>
                <a:spcPts val="5386"/>
              </a:lnSpc>
              <a:spcBef>
                <a:spcPct val="0"/>
              </a:spcBef>
            </a:pPr>
          </a:p>
        </p:txBody>
      </p:sp>
      <p:sp>
        <p:nvSpPr>
          <p:cNvPr name="TextBox 10" id="10"/>
          <p:cNvSpPr txBox="true"/>
          <p:nvPr/>
        </p:nvSpPr>
        <p:spPr>
          <a:xfrm rot="0">
            <a:off x="1302891" y="6233155"/>
            <a:ext cx="4042090" cy="649519"/>
          </a:xfrm>
          <a:prstGeom prst="rect">
            <a:avLst/>
          </a:prstGeom>
        </p:spPr>
        <p:txBody>
          <a:bodyPr anchor="t" rtlCol="false" tIns="0" lIns="0" bIns="0" rIns="0">
            <a:spAutoFit/>
          </a:bodyPr>
          <a:lstStyle/>
          <a:p>
            <a:pPr algn="ctr">
              <a:lnSpc>
                <a:spcPts val="5386"/>
              </a:lnSpc>
              <a:spcBef>
                <a:spcPct val="0"/>
              </a:spcBef>
            </a:pPr>
            <a:r>
              <a:rPr lang="en-US" b="true" sz="3847">
                <a:solidFill>
                  <a:srgbClr val="0F4662"/>
                </a:solidFill>
                <a:latin typeface="Quicksand Bold"/>
                <a:ea typeface="Quicksand Bold"/>
                <a:cs typeface="Quicksand Bold"/>
                <a:sym typeface="Quicksand Bold"/>
              </a:rPr>
              <a:t>3.4 Thuật toán A*</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6" id="6"/>
          <p:cNvSpPr txBox="true"/>
          <p:nvPr/>
        </p:nvSpPr>
        <p:spPr>
          <a:xfrm rot="0">
            <a:off x="1368092" y="933450"/>
            <a:ext cx="4727362" cy="800946"/>
          </a:xfrm>
          <a:prstGeom prst="rect">
            <a:avLst/>
          </a:prstGeom>
        </p:spPr>
        <p:txBody>
          <a:bodyPr anchor="t" rtlCol="false" tIns="0" lIns="0" bIns="0" rIns="0">
            <a:spAutoFit/>
          </a:bodyPr>
          <a:lstStyle/>
          <a:p>
            <a:pPr algn="ctr">
              <a:lnSpc>
                <a:spcPts val="6521"/>
              </a:lnSpc>
              <a:spcBef>
                <a:spcPct val="0"/>
              </a:spcBef>
            </a:pPr>
            <a:r>
              <a:rPr lang="en-US" b="true" sz="4658">
                <a:solidFill>
                  <a:srgbClr val="0F4662"/>
                </a:solidFill>
                <a:latin typeface="Quicksand Bold"/>
                <a:ea typeface="Quicksand Bold"/>
                <a:cs typeface="Quicksand Bold"/>
                <a:sym typeface="Quicksand Bold"/>
              </a:rPr>
              <a:t>3.Các thuật toán</a:t>
            </a:r>
          </a:p>
        </p:txBody>
      </p:sp>
      <p:sp>
        <p:nvSpPr>
          <p:cNvPr name="TextBox 7" id="7"/>
          <p:cNvSpPr txBox="true"/>
          <p:nvPr/>
        </p:nvSpPr>
        <p:spPr>
          <a:xfrm rot="0">
            <a:off x="1289190" y="2235320"/>
            <a:ext cx="4329340" cy="649519"/>
          </a:xfrm>
          <a:prstGeom prst="rect">
            <a:avLst/>
          </a:prstGeom>
        </p:spPr>
        <p:txBody>
          <a:bodyPr anchor="t" rtlCol="false" tIns="0" lIns="0" bIns="0" rIns="0">
            <a:spAutoFit/>
          </a:bodyPr>
          <a:lstStyle/>
          <a:p>
            <a:pPr algn="ctr">
              <a:lnSpc>
                <a:spcPts val="5386"/>
              </a:lnSpc>
              <a:spcBef>
                <a:spcPct val="0"/>
              </a:spcBef>
            </a:pPr>
            <a:r>
              <a:rPr lang="en-US" b="true" sz="3847">
                <a:solidFill>
                  <a:srgbClr val="0F4662"/>
                </a:solidFill>
                <a:latin typeface="Quicksand Bold"/>
                <a:ea typeface="Quicksand Bold"/>
                <a:cs typeface="Quicksand Bold"/>
                <a:sym typeface="Quicksand Bold"/>
              </a:rPr>
              <a:t>3.1 </a:t>
            </a:r>
            <a:r>
              <a:rPr lang="en-US" b="true" sz="3847">
                <a:solidFill>
                  <a:srgbClr val="0F4662"/>
                </a:solidFill>
                <a:latin typeface="Quicksand Bold"/>
                <a:ea typeface="Quicksand Bold"/>
                <a:cs typeface="Quicksand Bold"/>
                <a:sym typeface="Quicksand Bold"/>
              </a:rPr>
              <a:t>Thuật toán BFS</a:t>
            </a:r>
          </a:p>
        </p:txBody>
      </p:sp>
      <p:sp>
        <p:nvSpPr>
          <p:cNvPr name="TextBox 8" id="8"/>
          <p:cNvSpPr txBox="true"/>
          <p:nvPr/>
        </p:nvSpPr>
        <p:spPr>
          <a:xfrm rot="0">
            <a:off x="1289190" y="3610203"/>
            <a:ext cx="14035231" cy="2767225"/>
          </a:xfrm>
          <a:prstGeom prst="rect">
            <a:avLst/>
          </a:prstGeom>
        </p:spPr>
        <p:txBody>
          <a:bodyPr anchor="t" rtlCol="false" tIns="0" lIns="0" bIns="0" rIns="0">
            <a:spAutoFit/>
          </a:bodyPr>
          <a:lstStyle/>
          <a:p>
            <a:pPr algn="l">
              <a:lnSpc>
                <a:spcPts val="5522"/>
              </a:lnSpc>
              <a:spcBef>
                <a:spcPct val="0"/>
              </a:spcBef>
            </a:pPr>
            <a:r>
              <a:rPr lang="en-US" sz="3944">
                <a:solidFill>
                  <a:srgbClr val="0F4662"/>
                </a:solidFill>
                <a:latin typeface="Quicksand"/>
                <a:ea typeface="Quicksand"/>
                <a:cs typeface="Quicksand"/>
                <a:sym typeface="Quicksand"/>
              </a:rPr>
              <a:t>Ý tưởng: Duyệt theo mức độ (mở tất cả nút ở độ sâu hiện tại)</a:t>
            </a:r>
          </a:p>
          <a:p>
            <a:pPr algn="l">
              <a:lnSpc>
                <a:spcPts val="5522"/>
              </a:lnSpc>
              <a:spcBef>
                <a:spcPct val="0"/>
              </a:spcBef>
            </a:pPr>
            <a:r>
              <a:rPr lang="en-US" sz="3944">
                <a:solidFill>
                  <a:srgbClr val="0F4662"/>
                </a:solidFill>
                <a:latin typeface="Quicksand"/>
                <a:ea typeface="Quicksand"/>
                <a:cs typeface="Quicksand"/>
                <a:sym typeface="Quicksand"/>
              </a:rPr>
              <a:t>Frontier: Hàng đợi (queue)</a:t>
            </a:r>
          </a:p>
          <a:p>
            <a:pPr algn="l">
              <a:lnSpc>
                <a:spcPts val="5522"/>
              </a:lnSpc>
              <a:spcBef>
                <a:spcPct val="0"/>
              </a:spcBef>
            </a:pPr>
            <a:r>
              <a:rPr lang="en-US" sz="3944">
                <a:solidFill>
                  <a:srgbClr val="0F4662"/>
                </a:solidFill>
                <a:latin typeface="Quicksand"/>
                <a:ea typeface="Quicksand"/>
                <a:cs typeface="Quicksand"/>
                <a:sym typeface="Quicksand"/>
              </a:rPr>
              <a:t>Ưu điểm: Đảm bảo đường đi ngắn nhất</a:t>
            </a:r>
          </a:p>
          <a:p>
            <a:pPr algn="l">
              <a:lnSpc>
                <a:spcPts val="5522"/>
              </a:lnSpc>
              <a:spcBef>
                <a:spcPct val="0"/>
              </a:spcBef>
            </a:pPr>
            <a:r>
              <a:rPr lang="en-US" sz="3944">
                <a:solidFill>
                  <a:srgbClr val="0F4662"/>
                </a:solidFill>
                <a:latin typeface="Quicksand"/>
                <a:ea typeface="Quicksand"/>
                <a:cs typeface="Quicksand"/>
                <a:sym typeface="Quicksand"/>
              </a:rPr>
              <a:t>Nhược điểm: Tốn bộ nhớ khi maze lớn</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6" id="6"/>
          <p:cNvSpPr txBox="true"/>
          <p:nvPr/>
        </p:nvSpPr>
        <p:spPr>
          <a:xfrm rot="0">
            <a:off x="1368092" y="933450"/>
            <a:ext cx="4727362" cy="800946"/>
          </a:xfrm>
          <a:prstGeom prst="rect">
            <a:avLst/>
          </a:prstGeom>
        </p:spPr>
        <p:txBody>
          <a:bodyPr anchor="t" rtlCol="false" tIns="0" lIns="0" bIns="0" rIns="0">
            <a:spAutoFit/>
          </a:bodyPr>
          <a:lstStyle/>
          <a:p>
            <a:pPr algn="ctr">
              <a:lnSpc>
                <a:spcPts val="6521"/>
              </a:lnSpc>
              <a:spcBef>
                <a:spcPct val="0"/>
              </a:spcBef>
            </a:pPr>
            <a:r>
              <a:rPr lang="en-US" b="true" sz="4658">
                <a:solidFill>
                  <a:srgbClr val="0F4662"/>
                </a:solidFill>
                <a:latin typeface="Quicksand Bold"/>
                <a:ea typeface="Quicksand Bold"/>
                <a:cs typeface="Quicksand Bold"/>
                <a:sym typeface="Quicksand Bold"/>
              </a:rPr>
              <a:t>3.Các thuật toán</a:t>
            </a:r>
          </a:p>
        </p:txBody>
      </p:sp>
      <p:sp>
        <p:nvSpPr>
          <p:cNvPr name="TextBox 7" id="7"/>
          <p:cNvSpPr txBox="true"/>
          <p:nvPr/>
        </p:nvSpPr>
        <p:spPr>
          <a:xfrm rot="0">
            <a:off x="1289190" y="2074253"/>
            <a:ext cx="4607865" cy="649519"/>
          </a:xfrm>
          <a:prstGeom prst="rect">
            <a:avLst/>
          </a:prstGeom>
        </p:spPr>
        <p:txBody>
          <a:bodyPr anchor="t" rtlCol="false" tIns="0" lIns="0" bIns="0" rIns="0">
            <a:spAutoFit/>
          </a:bodyPr>
          <a:lstStyle/>
          <a:p>
            <a:pPr algn="ctr">
              <a:lnSpc>
                <a:spcPts val="5386"/>
              </a:lnSpc>
              <a:spcBef>
                <a:spcPct val="0"/>
              </a:spcBef>
            </a:pPr>
            <a:r>
              <a:rPr lang="en-US" b="true" sz="3847">
                <a:solidFill>
                  <a:srgbClr val="0F4662"/>
                </a:solidFill>
                <a:latin typeface="Quicksand Bold"/>
                <a:ea typeface="Quicksand Bold"/>
                <a:cs typeface="Quicksand Bold"/>
                <a:sym typeface="Quicksand Bold"/>
              </a:rPr>
              <a:t> 3.2 Thuật toán DFS</a:t>
            </a:r>
          </a:p>
        </p:txBody>
      </p:sp>
      <p:sp>
        <p:nvSpPr>
          <p:cNvPr name="TextBox 8" id="8"/>
          <p:cNvSpPr txBox="true"/>
          <p:nvPr/>
        </p:nvSpPr>
        <p:spPr>
          <a:xfrm rot="0">
            <a:off x="1537940" y="3773136"/>
            <a:ext cx="14507568" cy="2674053"/>
          </a:xfrm>
          <a:prstGeom prst="rect">
            <a:avLst/>
          </a:prstGeom>
        </p:spPr>
        <p:txBody>
          <a:bodyPr anchor="t" rtlCol="false" tIns="0" lIns="0" bIns="0" rIns="0">
            <a:spAutoFit/>
          </a:bodyPr>
          <a:lstStyle/>
          <a:p>
            <a:pPr algn="l">
              <a:lnSpc>
                <a:spcPts val="5386"/>
              </a:lnSpc>
              <a:spcBef>
                <a:spcPct val="0"/>
              </a:spcBef>
            </a:pPr>
            <a:r>
              <a:rPr lang="en-US" sz="3847">
                <a:solidFill>
                  <a:srgbClr val="0F4662"/>
                </a:solidFill>
                <a:latin typeface="Quicksand"/>
                <a:ea typeface="Quicksand"/>
                <a:cs typeface="Quicksand"/>
                <a:sym typeface="Quicksand"/>
              </a:rPr>
              <a:t>Ý tưởng: Duyệt theo chiều sâu, đi sâu đến cùng trước khi quay lui</a:t>
            </a:r>
          </a:p>
          <a:p>
            <a:pPr algn="l">
              <a:lnSpc>
                <a:spcPts val="5386"/>
              </a:lnSpc>
              <a:spcBef>
                <a:spcPct val="0"/>
              </a:spcBef>
            </a:pPr>
            <a:r>
              <a:rPr lang="en-US" sz="3847">
                <a:solidFill>
                  <a:srgbClr val="0F4662"/>
                </a:solidFill>
                <a:latin typeface="Quicksand"/>
                <a:ea typeface="Quicksand"/>
                <a:cs typeface="Quicksand"/>
                <a:sym typeface="Quicksand"/>
              </a:rPr>
              <a:t>Frontier: Ngăn xếp (stack)</a:t>
            </a:r>
          </a:p>
          <a:p>
            <a:pPr algn="l">
              <a:lnSpc>
                <a:spcPts val="5386"/>
              </a:lnSpc>
              <a:spcBef>
                <a:spcPct val="0"/>
              </a:spcBef>
            </a:pPr>
            <a:r>
              <a:rPr lang="en-US" sz="3847">
                <a:solidFill>
                  <a:srgbClr val="0F4662"/>
                </a:solidFill>
                <a:latin typeface="Quicksand"/>
                <a:ea typeface="Quicksand"/>
                <a:cs typeface="Quicksand"/>
                <a:sym typeface="Quicksand"/>
              </a:rPr>
              <a:t>Ưu điểm: Tiết kiệm bộ nhớ</a:t>
            </a:r>
          </a:p>
          <a:p>
            <a:pPr algn="l">
              <a:lnSpc>
                <a:spcPts val="5386"/>
              </a:lnSpc>
              <a:spcBef>
                <a:spcPct val="0"/>
              </a:spcBef>
            </a:pPr>
            <a:r>
              <a:rPr lang="en-US" sz="3847">
                <a:solidFill>
                  <a:srgbClr val="0F4662"/>
                </a:solidFill>
                <a:latin typeface="Quicksand"/>
                <a:ea typeface="Quicksand"/>
                <a:cs typeface="Quicksand"/>
                <a:sym typeface="Quicksand"/>
              </a:rPr>
              <a:t>Nhược điểm: Không đảm bảo tối ưu, dễ dead-end</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6" id="6"/>
          <p:cNvSpPr txBox="true"/>
          <p:nvPr/>
        </p:nvSpPr>
        <p:spPr>
          <a:xfrm rot="0">
            <a:off x="1289190" y="933450"/>
            <a:ext cx="4885166" cy="800946"/>
          </a:xfrm>
          <a:prstGeom prst="rect">
            <a:avLst/>
          </a:prstGeom>
        </p:spPr>
        <p:txBody>
          <a:bodyPr anchor="t" rtlCol="false" tIns="0" lIns="0" bIns="0" rIns="0">
            <a:spAutoFit/>
          </a:bodyPr>
          <a:lstStyle/>
          <a:p>
            <a:pPr algn="ctr">
              <a:lnSpc>
                <a:spcPts val="6521"/>
              </a:lnSpc>
              <a:spcBef>
                <a:spcPct val="0"/>
              </a:spcBef>
            </a:pPr>
            <a:r>
              <a:rPr lang="en-US" b="true" sz="4658">
                <a:solidFill>
                  <a:srgbClr val="0F4662"/>
                </a:solidFill>
                <a:latin typeface="Quicksand Bold"/>
                <a:ea typeface="Quicksand Bold"/>
                <a:cs typeface="Quicksand Bold"/>
                <a:sym typeface="Quicksand Bold"/>
              </a:rPr>
              <a:t>3.Các lthuật toán</a:t>
            </a:r>
          </a:p>
        </p:txBody>
      </p:sp>
      <p:sp>
        <p:nvSpPr>
          <p:cNvPr name="TextBox 7" id="7"/>
          <p:cNvSpPr txBox="true"/>
          <p:nvPr/>
        </p:nvSpPr>
        <p:spPr>
          <a:xfrm rot="0">
            <a:off x="1348700" y="2011785"/>
            <a:ext cx="4766146" cy="1330085"/>
          </a:xfrm>
          <a:prstGeom prst="rect">
            <a:avLst/>
          </a:prstGeom>
        </p:spPr>
        <p:txBody>
          <a:bodyPr anchor="t" rtlCol="false" tIns="0" lIns="0" bIns="0" rIns="0">
            <a:spAutoFit/>
          </a:bodyPr>
          <a:lstStyle/>
          <a:p>
            <a:pPr algn="ctr">
              <a:lnSpc>
                <a:spcPts val="5386"/>
              </a:lnSpc>
            </a:pPr>
            <a:r>
              <a:rPr lang="en-US" sz="3847" b="true">
                <a:solidFill>
                  <a:srgbClr val="0F4662"/>
                </a:solidFill>
                <a:latin typeface="Quicksand Bold"/>
                <a:ea typeface="Quicksand Bold"/>
                <a:cs typeface="Quicksand Bold"/>
                <a:sym typeface="Quicksand Bold"/>
              </a:rPr>
              <a:t>3.3 Thuật toán GBFS</a:t>
            </a:r>
          </a:p>
          <a:p>
            <a:pPr algn="ctr">
              <a:lnSpc>
                <a:spcPts val="5386"/>
              </a:lnSpc>
              <a:spcBef>
                <a:spcPct val="0"/>
              </a:spcBef>
            </a:pPr>
          </a:p>
        </p:txBody>
      </p:sp>
      <p:sp>
        <p:nvSpPr>
          <p:cNvPr name="TextBox 8" id="8"/>
          <p:cNvSpPr txBox="true"/>
          <p:nvPr/>
        </p:nvSpPr>
        <p:spPr>
          <a:xfrm rot="0">
            <a:off x="1348700" y="3608570"/>
            <a:ext cx="15910600" cy="2810682"/>
          </a:xfrm>
          <a:prstGeom prst="rect">
            <a:avLst/>
          </a:prstGeom>
        </p:spPr>
        <p:txBody>
          <a:bodyPr anchor="t" rtlCol="false" tIns="0" lIns="0" bIns="0" rIns="0">
            <a:spAutoFit/>
          </a:bodyPr>
          <a:lstStyle/>
          <a:p>
            <a:pPr algn="l">
              <a:lnSpc>
                <a:spcPts val="5648"/>
              </a:lnSpc>
              <a:spcBef>
                <a:spcPct val="0"/>
              </a:spcBef>
            </a:pPr>
            <a:r>
              <a:rPr lang="en-US" sz="4034">
                <a:solidFill>
                  <a:srgbClr val="0F4662"/>
                </a:solidFill>
                <a:latin typeface="Quicksand"/>
                <a:ea typeface="Quicksand"/>
                <a:cs typeface="Quicksand"/>
                <a:sym typeface="Quicksand"/>
              </a:rPr>
              <a:t>Ý tưởng: Chọn nút tiếp theo dựa trên heuristic (Manhattan distance)</a:t>
            </a:r>
          </a:p>
          <a:p>
            <a:pPr algn="l">
              <a:lnSpc>
                <a:spcPts val="5648"/>
              </a:lnSpc>
              <a:spcBef>
                <a:spcPct val="0"/>
              </a:spcBef>
            </a:pPr>
            <a:r>
              <a:rPr lang="en-US" sz="4034">
                <a:solidFill>
                  <a:srgbClr val="0F4662"/>
                </a:solidFill>
                <a:latin typeface="Quicksand"/>
                <a:ea typeface="Quicksand"/>
                <a:cs typeface="Quicksand"/>
                <a:sym typeface="Quicksand"/>
              </a:rPr>
              <a:t>Frontier: Priority queue theo heuristic</a:t>
            </a:r>
          </a:p>
          <a:p>
            <a:pPr algn="l">
              <a:lnSpc>
                <a:spcPts val="5648"/>
              </a:lnSpc>
              <a:spcBef>
                <a:spcPct val="0"/>
              </a:spcBef>
            </a:pPr>
            <a:r>
              <a:rPr lang="en-US" sz="4034">
                <a:solidFill>
                  <a:srgbClr val="0F4662"/>
                </a:solidFill>
                <a:latin typeface="Quicksand"/>
                <a:ea typeface="Quicksand"/>
                <a:cs typeface="Quicksand"/>
                <a:sym typeface="Quicksand"/>
              </a:rPr>
              <a:t>Ưu điểm: Nhanh, ít mở rộng nút</a:t>
            </a:r>
          </a:p>
          <a:p>
            <a:pPr algn="l">
              <a:lnSpc>
                <a:spcPts val="5648"/>
              </a:lnSpc>
              <a:spcBef>
                <a:spcPct val="0"/>
              </a:spcBef>
            </a:pPr>
            <a:r>
              <a:rPr lang="en-US" sz="4034">
                <a:solidFill>
                  <a:srgbClr val="0F4662"/>
                </a:solidFill>
                <a:latin typeface="Quicksand"/>
                <a:ea typeface="Quicksand"/>
                <a:cs typeface="Quicksand"/>
                <a:sym typeface="Quicksand"/>
              </a:rPr>
              <a:t>Nhược điểm: Không đảm bảo tối ưu</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6" id="6"/>
          <p:cNvSpPr txBox="true"/>
          <p:nvPr/>
        </p:nvSpPr>
        <p:spPr>
          <a:xfrm rot="0">
            <a:off x="1289190" y="933450"/>
            <a:ext cx="4885166" cy="800946"/>
          </a:xfrm>
          <a:prstGeom prst="rect">
            <a:avLst/>
          </a:prstGeom>
        </p:spPr>
        <p:txBody>
          <a:bodyPr anchor="t" rtlCol="false" tIns="0" lIns="0" bIns="0" rIns="0">
            <a:spAutoFit/>
          </a:bodyPr>
          <a:lstStyle/>
          <a:p>
            <a:pPr algn="ctr">
              <a:lnSpc>
                <a:spcPts val="6521"/>
              </a:lnSpc>
              <a:spcBef>
                <a:spcPct val="0"/>
              </a:spcBef>
            </a:pPr>
            <a:r>
              <a:rPr lang="en-US" b="true" sz="4658">
                <a:solidFill>
                  <a:srgbClr val="0F4662"/>
                </a:solidFill>
                <a:latin typeface="Quicksand Bold"/>
                <a:ea typeface="Quicksand Bold"/>
                <a:cs typeface="Quicksand Bold"/>
                <a:sym typeface="Quicksand Bold"/>
              </a:rPr>
              <a:t>3.Các lthuật toán</a:t>
            </a:r>
          </a:p>
        </p:txBody>
      </p:sp>
      <p:sp>
        <p:nvSpPr>
          <p:cNvPr name="TextBox 7" id="7"/>
          <p:cNvSpPr txBox="true"/>
          <p:nvPr/>
        </p:nvSpPr>
        <p:spPr>
          <a:xfrm rot="0">
            <a:off x="1289190" y="2190610"/>
            <a:ext cx="4042090" cy="649519"/>
          </a:xfrm>
          <a:prstGeom prst="rect">
            <a:avLst/>
          </a:prstGeom>
        </p:spPr>
        <p:txBody>
          <a:bodyPr anchor="t" rtlCol="false" tIns="0" lIns="0" bIns="0" rIns="0">
            <a:spAutoFit/>
          </a:bodyPr>
          <a:lstStyle/>
          <a:p>
            <a:pPr algn="ctr">
              <a:lnSpc>
                <a:spcPts val="5386"/>
              </a:lnSpc>
              <a:spcBef>
                <a:spcPct val="0"/>
              </a:spcBef>
            </a:pPr>
            <a:r>
              <a:rPr lang="en-US" b="true" sz="3847">
                <a:solidFill>
                  <a:srgbClr val="0F4662"/>
                </a:solidFill>
                <a:latin typeface="Quicksand Bold"/>
                <a:ea typeface="Quicksand Bold"/>
                <a:cs typeface="Quicksand Bold"/>
                <a:sym typeface="Quicksand Bold"/>
              </a:rPr>
              <a:t>3.4 Thuật toán A*</a:t>
            </a:r>
          </a:p>
        </p:txBody>
      </p:sp>
      <p:sp>
        <p:nvSpPr>
          <p:cNvPr name="TextBox 8" id="8"/>
          <p:cNvSpPr txBox="true"/>
          <p:nvPr/>
        </p:nvSpPr>
        <p:spPr>
          <a:xfrm rot="0">
            <a:off x="1289190" y="3154454"/>
            <a:ext cx="15262146" cy="3728116"/>
          </a:xfrm>
          <a:prstGeom prst="rect">
            <a:avLst/>
          </a:prstGeom>
        </p:spPr>
        <p:txBody>
          <a:bodyPr anchor="t" rtlCol="false" tIns="0" lIns="0" bIns="0" rIns="0">
            <a:spAutoFit/>
          </a:bodyPr>
          <a:lstStyle/>
          <a:p>
            <a:pPr algn="l">
              <a:lnSpc>
                <a:spcPts val="7535"/>
              </a:lnSpc>
              <a:spcBef>
                <a:spcPct val="0"/>
              </a:spcBef>
            </a:pPr>
            <a:r>
              <a:rPr lang="en-US" sz="4432">
                <a:solidFill>
                  <a:srgbClr val="0F4662"/>
                </a:solidFill>
                <a:latin typeface="Quicksand"/>
                <a:ea typeface="Quicksand"/>
                <a:cs typeface="Quicksand"/>
                <a:sym typeface="Quicksand"/>
              </a:rPr>
              <a:t>Ý tưởng: Kết hợp chi phí đã đi và heuristic: f(n) = g(n) + h(n)</a:t>
            </a:r>
          </a:p>
          <a:p>
            <a:pPr algn="l">
              <a:lnSpc>
                <a:spcPts val="7535"/>
              </a:lnSpc>
              <a:spcBef>
                <a:spcPct val="0"/>
              </a:spcBef>
            </a:pPr>
            <a:r>
              <a:rPr lang="en-US" sz="4432">
                <a:solidFill>
                  <a:srgbClr val="0F4662"/>
                </a:solidFill>
                <a:latin typeface="Quicksand"/>
                <a:ea typeface="Quicksand"/>
                <a:cs typeface="Quicksand"/>
                <a:sym typeface="Quicksand"/>
              </a:rPr>
              <a:t>Frontier: Priority queue theo f(n)</a:t>
            </a:r>
          </a:p>
          <a:p>
            <a:pPr algn="l">
              <a:lnSpc>
                <a:spcPts val="7535"/>
              </a:lnSpc>
              <a:spcBef>
                <a:spcPct val="0"/>
              </a:spcBef>
            </a:pPr>
            <a:r>
              <a:rPr lang="en-US" sz="4432">
                <a:solidFill>
                  <a:srgbClr val="0F4662"/>
                </a:solidFill>
                <a:latin typeface="Quicksand"/>
                <a:ea typeface="Quicksand"/>
                <a:cs typeface="Quicksand"/>
                <a:sym typeface="Quicksand"/>
              </a:rPr>
              <a:t>Ưu điểm: Đảm bảo tối ưu nếu heuristic admissible</a:t>
            </a:r>
          </a:p>
          <a:p>
            <a:pPr algn="l">
              <a:lnSpc>
                <a:spcPts val="7535"/>
              </a:lnSpc>
              <a:spcBef>
                <a:spcPct val="0"/>
              </a:spcBef>
            </a:pPr>
            <a:r>
              <a:rPr lang="en-US" sz="4432">
                <a:solidFill>
                  <a:srgbClr val="0F4662"/>
                </a:solidFill>
                <a:latin typeface="Quicksand"/>
                <a:ea typeface="Quicksand"/>
                <a:cs typeface="Quicksand"/>
                <a:sym typeface="Quicksand"/>
              </a:rPr>
              <a:t>Nhược điểm: Bộ nhớ cao với maze lớn</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6" id="6"/>
          <p:cNvSpPr txBox="true"/>
          <p:nvPr/>
        </p:nvSpPr>
        <p:spPr>
          <a:xfrm rot="0">
            <a:off x="1289190" y="932464"/>
            <a:ext cx="2791948" cy="800946"/>
          </a:xfrm>
          <a:prstGeom prst="rect">
            <a:avLst/>
          </a:prstGeom>
        </p:spPr>
        <p:txBody>
          <a:bodyPr anchor="t" rtlCol="false" tIns="0" lIns="0" bIns="0" rIns="0">
            <a:spAutoFit/>
          </a:bodyPr>
          <a:lstStyle/>
          <a:p>
            <a:pPr algn="ctr">
              <a:lnSpc>
                <a:spcPts val="6521"/>
              </a:lnSpc>
              <a:spcBef>
                <a:spcPct val="0"/>
              </a:spcBef>
            </a:pPr>
            <a:r>
              <a:rPr lang="en-US" b="true" sz="4658">
                <a:solidFill>
                  <a:srgbClr val="0F4662"/>
                </a:solidFill>
                <a:latin typeface="Quicksand Bold"/>
                <a:ea typeface="Quicksand Bold"/>
                <a:cs typeface="Quicksand Bold"/>
                <a:sym typeface="Quicksand Bold"/>
              </a:rPr>
              <a:t>4.Kết Qủa</a:t>
            </a:r>
          </a:p>
        </p:txBody>
      </p:sp>
      <p:sp>
        <p:nvSpPr>
          <p:cNvPr name="TextBox 7" id="7"/>
          <p:cNvSpPr txBox="true"/>
          <p:nvPr/>
        </p:nvSpPr>
        <p:spPr>
          <a:xfrm rot="0">
            <a:off x="1580327" y="2066925"/>
            <a:ext cx="14514429" cy="4092685"/>
          </a:xfrm>
          <a:prstGeom prst="rect">
            <a:avLst/>
          </a:prstGeom>
        </p:spPr>
        <p:txBody>
          <a:bodyPr anchor="t" rtlCol="false" tIns="0" lIns="0" bIns="0" rIns="0">
            <a:spAutoFit/>
          </a:bodyPr>
          <a:lstStyle/>
          <a:p>
            <a:pPr algn="l">
              <a:lnSpc>
                <a:spcPts val="5493"/>
              </a:lnSpc>
              <a:spcBef>
                <a:spcPct val="0"/>
              </a:spcBef>
            </a:pPr>
            <a:r>
              <a:rPr lang="en-US" sz="3231">
                <a:solidFill>
                  <a:srgbClr val="0F4662"/>
                </a:solidFill>
                <a:latin typeface="Quicksand"/>
                <a:ea typeface="Quicksand"/>
                <a:cs typeface="Quicksand"/>
                <a:sym typeface="Quicksand"/>
              </a:rPr>
              <a:t>Chạy tất cả thuật toán trên các maze: small, medium, large, open, wall, loops</a:t>
            </a:r>
          </a:p>
          <a:p>
            <a:pPr algn="l">
              <a:lnSpc>
                <a:spcPts val="5493"/>
              </a:lnSpc>
              <a:spcBef>
                <a:spcPct val="0"/>
              </a:spcBef>
            </a:pPr>
            <a:r>
              <a:rPr lang="en-US" sz="3231">
                <a:solidFill>
                  <a:srgbClr val="0F4662"/>
                </a:solidFill>
                <a:latin typeface="Quicksand"/>
                <a:ea typeface="Quicksand"/>
                <a:cs typeface="Quicksand"/>
                <a:sym typeface="Quicksand"/>
              </a:rPr>
              <a:t>Đo lường:</a:t>
            </a:r>
          </a:p>
          <a:p>
            <a:pPr algn="l">
              <a:lnSpc>
                <a:spcPts val="5493"/>
              </a:lnSpc>
              <a:spcBef>
                <a:spcPct val="0"/>
              </a:spcBef>
            </a:pPr>
            <a:r>
              <a:rPr lang="en-US" sz="3231">
                <a:solidFill>
                  <a:srgbClr val="0F4662"/>
                </a:solidFill>
                <a:latin typeface="Quicksand"/>
                <a:ea typeface="Quicksand"/>
                <a:cs typeface="Quicksand"/>
                <a:sym typeface="Quicksand"/>
              </a:rPr>
              <a:t>Chi phí đường đi</a:t>
            </a:r>
          </a:p>
          <a:p>
            <a:pPr algn="l">
              <a:lnSpc>
                <a:spcPts val="5493"/>
              </a:lnSpc>
              <a:spcBef>
                <a:spcPct val="0"/>
              </a:spcBef>
            </a:pPr>
            <a:r>
              <a:rPr lang="en-US" sz="3231">
                <a:solidFill>
                  <a:srgbClr val="0F4662"/>
                </a:solidFill>
                <a:latin typeface="Quicksand"/>
                <a:ea typeface="Quicksand"/>
                <a:cs typeface="Quicksand"/>
                <a:sym typeface="Quicksand"/>
              </a:rPr>
              <a:t>Số nút mở rộng</a:t>
            </a:r>
          </a:p>
          <a:p>
            <a:pPr algn="l">
              <a:lnSpc>
                <a:spcPts val="5493"/>
              </a:lnSpc>
              <a:spcBef>
                <a:spcPct val="0"/>
              </a:spcBef>
            </a:pPr>
            <a:r>
              <a:rPr lang="en-US" sz="3231">
                <a:solidFill>
                  <a:srgbClr val="0F4662"/>
                </a:solidFill>
                <a:latin typeface="Quicksand"/>
                <a:ea typeface="Quicksand"/>
                <a:cs typeface="Quicksand"/>
                <a:sym typeface="Quicksand"/>
              </a:rPr>
              <a:t>Độ sâu tối đa</a:t>
            </a:r>
          </a:p>
          <a:p>
            <a:pPr algn="l">
              <a:lnSpc>
                <a:spcPts val="5493"/>
              </a:lnSpc>
              <a:spcBef>
                <a:spcPct val="0"/>
              </a:spcBef>
            </a:pPr>
            <a:r>
              <a:rPr lang="en-US" sz="3231">
                <a:solidFill>
                  <a:srgbClr val="0F4662"/>
                </a:solidFill>
                <a:latin typeface="Quicksand"/>
                <a:ea typeface="Quicksand"/>
                <a:cs typeface="Quicksand"/>
                <a:sym typeface="Quicksand"/>
              </a:rPr>
              <a:t>Max frontier size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graphicFrame>
        <p:nvGraphicFramePr>
          <p:cNvPr name="Object 6" id="6"/>
          <p:cNvGraphicFramePr/>
          <p:nvPr/>
        </p:nvGraphicFramePr>
        <p:xfrm>
          <a:off x="1754386" y="1988098"/>
          <a:ext cx="13201650" cy="3171825"/>
        </p:xfrm>
        <a:graphic>
          <a:graphicData uri="http://schemas.openxmlformats.org/presentationml/2006/ole">
            <p:oleObj imgW="15836900" imgH="5803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7" id="7"/>
          <p:cNvGraphicFramePr/>
          <p:nvPr/>
        </p:nvGraphicFramePr>
        <p:xfrm>
          <a:off x="9691601" y="2549281"/>
          <a:ext cx="13201650" cy="2514600"/>
        </p:xfrm>
        <a:graphic>
          <a:graphicData uri="http://schemas.openxmlformats.org/presentationml/2006/ole">
            <p:oleObj imgW="15836900" imgH="5143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Freeform 8" id="8"/>
          <p:cNvSpPr/>
          <p:nvPr/>
        </p:nvSpPr>
        <p:spPr>
          <a:xfrm flipH="false" flipV="false" rot="0">
            <a:off x="1562030" y="5400675"/>
            <a:ext cx="7754330" cy="4286426"/>
          </a:xfrm>
          <a:custGeom>
            <a:avLst/>
            <a:gdLst/>
            <a:ahLst/>
            <a:cxnLst/>
            <a:rect r="r" b="b" t="t" l="l"/>
            <a:pathLst>
              <a:path h="4286426" w="7754330">
                <a:moveTo>
                  <a:pt x="0" y="0"/>
                </a:moveTo>
                <a:lnTo>
                  <a:pt x="7754330" y="0"/>
                </a:lnTo>
                <a:lnTo>
                  <a:pt x="7754330" y="4286426"/>
                </a:lnTo>
                <a:lnTo>
                  <a:pt x="0" y="4286426"/>
                </a:lnTo>
                <a:lnTo>
                  <a:pt x="0" y="0"/>
                </a:lnTo>
                <a:close/>
              </a:path>
            </a:pathLst>
          </a:custGeom>
          <a:blipFill>
            <a:blip r:embed="rId6"/>
            <a:stretch>
              <a:fillRect l="0" t="0" r="-10555" b="0"/>
            </a:stretch>
          </a:blipFill>
        </p:spPr>
      </p:sp>
      <p:sp>
        <p:nvSpPr>
          <p:cNvPr name="Freeform 9" id="9"/>
          <p:cNvSpPr/>
          <p:nvPr/>
        </p:nvSpPr>
        <p:spPr>
          <a:xfrm flipH="false" flipV="false" rot="0">
            <a:off x="9944440" y="5782652"/>
            <a:ext cx="7808898" cy="3904449"/>
          </a:xfrm>
          <a:custGeom>
            <a:avLst/>
            <a:gdLst/>
            <a:ahLst/>
            <a:cxnLst/>
            <a:rect r="r" b="b" t="t" l="l"/>
            <a:pathLst>
              <a:path h="3904449" w="7808898">
                <a:moveTo>
                  <a:pt x="0" y="0"/>
                </a:moveTo>
                <a:lnTo>
                  <a:pt x="7808898" y="0"/>
                </a:lnTo>
                <a:lnTo>
                  <a:pt x="7808898" y="3904449"/>
                </a:lnTo>
                <a:lnTo>
                  <a:pt x="0" y="3904449"/>
                </a:lnTo>
                <a:lnTo>
                  <a:pt x="0" y="0"/>
                </a:lnTo>
                <a:close/>
              </a:path>
            </a:pathLst>
          </a:custGeom>
          <a:blipFill>
            <a:blip r:embed="rId7"/>
            <a:stretch>
              <a:fillRect l="0" t="0" r="0" b="0"/>
            </a:stretch>
          </a:blipFill>
        </p:spPr>
      </p:sp>
      <p:sp>
        <p:nvSpPr>
          <p:cNvPr name="TextBox 10" id="10"/>
          <p:cNvSpPr txBox="true"/>
          <p:nvPr/>
        </p:nvSpPr>
        <p:spPr>
          <a:xfrm rot="0">
            <a:off x="1289190" y="932464"/>
            <a:ext cx="2791948" cy="800946"/>
          </a:xfrm>
          <a:prstGeom prst="rect">
            <a:avLst/>
          </a:prstGeom>
        </p:spPr>
        <p:txBody>
          <a:bodyPr anchor="t" rtlCol="false" tIns="0" lIns="0" bIns="0" rIns="0">
            <a:spAutoFit/>
          </a:bodyPr>
          <a:lstStyle/>
          <a:p>
            <a:pPr algn="ctr">
              <a:lnSpc>
                <a:spcPts val="6521"/>
              </a:lnSpc>
              <a:spcBef>
                <a:spcPct val="0"/>
              </a:spcBef>
            </a:pPr>
            <a:r>
              <a:rPr lang="en-US" b="true" sz="4658">
                <a:solidFill>
                  <a:srgbClr val="0F4662"/>
                </a:solidFill>
                <a:latin typeface="Quicksand Bold"/>
                <a:ea typeface="Quicksand Bold"/>
                <a:cs typeface="Quicksand Bold"/>
                <a:sym typeface="Quicksand Bold"/>
              </a:rPr>
              <a:t>4.Kết Qủa</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graphicFrame>
        <p:nvGraphicFramePr>
          <p:cNvPr name="Object 6" id="6"/>
          <p:cNvGraphicFramePr/>
          <p:nvPr/>
        </p:nvGraphicFramePr>
        <p:xfrm>
          <a:off x="1506380" y="2085451"/>
          <a:ext cx="13201650" cy="2514600"/>
        </p:xfrm>
        <a:graphic>
          <a:graphicData uri="http://schemas.openxmlformats.org/presentationml/2006/ole">
            <p:oleObj imgW="15836900" imgH="5143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7" id="7"/>
          <p:cNvGraphicFramePr/>
          <p:nvPr/>
        </p:nvGraphicFramePr>
        <p:xfrm>
          <a:off x="10253262" y="2085451"/>
          <a:ext cx="13201650" cy="2514600"/>
        </p:xfrm>
        <a:graphic>
          <a:graphicData uri="http://schemas.openxmlformats.org/presentationml/2006/ole">
            <p:oleObj imgW="15836900" imgH="5143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Freeform 8" id="8"/>
          <p:cNvSpPr/>
          <p:nvPr/>
        </p:nvSpPr>
        <p:spPr>
          <a:xfrm flipH="false" flipV="false" rot="0">
            <a:off x="1506380" y="5143500"/>
            <a:ext cx="8290518" cy="4145259"/>
          </a:xfrm>
          <a:custGeom>
            <a:avLst/>
            <a:gdLst/>
            <a:ahLst/>
            <a:cxnLst/>
            <a:rect r="r" b="b" t="t" l="l"/>
            <a:pathLst>
              <a:path h="4145259" w="8290518">
                <a:moveTo>
                  <a:pt x="0" y="0"/>
                </a:moveTo>
                <a:lnTo>
                  <a:pt x="8290518" y="0"/>
                </a:lnTo>
                <a:lnTo>
                  <a:pt x="8290518" y="4145259"/>
                </a:lnTo>
                <a:lnTo>
                  <a:pt x="0" y="4145259"/>
                </a:lnTo>
                <a:lnTo>
                  <a:pt x="0" y="0"/>
                </a:lnTo>
                <a:close/>
              </a:path>
            </a:pathLst>
          </a:custGeom>
          <a:blipFill>
            <a:blip r:embed="rId6"/>
            <a:stretch>
              <a:fillRect l="0" t="0" r="0" b="0"/>
            </a:stretch>
          </a:blipFill>
        </p:spPr>
      </p:sp>
      <p:sp>
        <p:nvSpPr>
          <p:cNvPr name="Freeform 9" id="9"/>
          <p:cNvSpPr/>
          <p:nvPr/>
        </p:nvSpPr>
        <p:spPr>
          <a:xfrm flipH="false" flipV="false" rot="0">
            <a:off x="10253262" y="5793571"/>
            <a:ext cx="7581132" cy="3495188"/>
          </a:xfrm>
          <a:custGeom>
            <a:avLst/>
            <a:gdLst/>
            <a:ahLst/>
            <a:cxnLst/>
            <a:rect r="r" b="b" t="t" l="l"/>
            <a:pathLst>
              <a:path h="3495188" w="7581132">
                <a:moveTo>
                  <a:pt x="0" y="0"/>
                </a:moveTo>
                <a:lnTo>
                  <a:pt x="7581132" y="0"/>
                </a:lnTo>
                <a:lnTo>
                  <a:pt x="7581132" y="3495188"/>
                </a:lnTo>
                <a:lnTo>
                  <a:pt x="0" y="3495188"/>
                </a:lnTo>
                <a:lnTo>
                  <a:pt x="0" y="0"/>
                </a:lnTo>
                <a:close/>
              </a:path>
            </a:pathLst>
          </a:custGeom>
          <a:blipFill>
            <a:blip r:embed="rId7"/>
            <a:stretch>
              <a:fillRect l="0" t="-4225" r="0" b="-4225"/>
            </a:stretch>
          </a:blipFill>
        </p:spPr>
      </p:sp>
      <p:sp>
        <p:nvSpPr>
          <p:cNvPr name="TextBox 10" id="10"/>
          <p:cNvSpPr txBox="true"/>
          <p:nvPr/>
        </p:nvSpPr>
        <p:spPr>
          <a:xfrm rot="0">
            <a:off x="1289190" y="932464"/>
            <a:ext cx="2791948" cy="800946"/>
          </a:xfrm>
          <a:prstGeom prst="rect">
            <a:avLst/>
          </a:prstGeom>
        </p:spPr>
        <p:txBody>
          <a:bodyPr anchor="t" rtlCol="false" tIns="0" lIns="0" bIns="0" rIns="0">
            <a:spAutoFit/>
          </a:bodyPr>
          <a:lstStyle/>
          <a:p>
            <a:pPr algn="ctr">
              <a:lnSpc>
                <a:spcPts val="6521"/>
              </a:lnSpc>
              <a:spcBef>
                <a:spcPct val="0"/>
              </a:spcBef>
            </a:pPr>
            <a:r>
              <a:rPr lang="en-US" b="true" sz="4658">
                <a:solidFill>
                  <a:srgbClr val="0F4662"/>
                </a:solidFill>
                <a:latin typeface="Quicksand Bold"/>
                <a:ea typeface="Quicksand Bold"/>
                <a:cs typeface="Quicksand Bold"/>
                <a:sym typeface="Quicksand Bold"/>
              </a:rPr>
              <a:t>4.Kết Qủa</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graphicFrame>
        <p:nvGraphicFramePr>
          <p:cNvPr name="Object 6" id="6"/>
          <p:cNvGraphicFramePr/>
          <p:nvPr/>
        </p:nvGraphicFramePr>
        <p:xfrm>
          <a:off x="1289190" y="2085451"/>
          <a:ext cx="13201650" cy="2514600"/>
        </p:xfrm>
        <a:graphic>
          <a:graphicData uri="http://schemas.openxmlformats.org/presentationml/2006/ole">
            <p:oleObj imgW="15836900" imgH="5143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7" id="7"/>
          <p:cNvGraphicFramePr/>
          <p:nvPr/>
        </p:nvGraphicFramePr>
        <p:xfrm>
          <a:off x="9541957" y="2085451"/>
          <a:ext cx="13201650" cy="2514600"/>
        </p:xfrm>
        <a:graphic>
          <a:graphicData uri="http://schemas.openxmlformats.org/presentationml/2006/ole">
            <p:oleObj imgW="15836900" imgH="5143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Freeform 8" id="8"/>
          <p:cNvSpPr/>
          <p:nvPr/>
        </p:nvSpPr>
        <p:spPr>
          <a:xfrm flipH="false" flipV="false" rot="0">
            <a:off x="1289190" y="5483137"/>
            <a:ext cx="8007210" cy="4003605"/>
          </a:xfrm>
          <a:custGeom>
            <a:avLst/>
            <a:gdLst/>
            <a:ahLst/>
            <a:cxnLst/>
            <a:rect r="r" b="b" t="t" l="l"/>
            <a:pathLst>
              <a:path h="4003605" w="8007210">
                <a:moveTo>
                  <a:pt x="0" y="0"/>
                </a:moveTo>
                <a:lnTo>
                  <a:pt x="8007210" y="0"/>
                </a:lnTo>
                <a:lnTo>
                  <a:pt x="8007210" y="4003605"/>
                </a:lnTo>
                <a:lnTo>
                  <a:pt x="0" y="4003605"/>
                </a:lnTo>
                <a:lnTo>
                  <a:pt x="0" y="0"/>
                </a:lnTo>
                <a:close/>
              </a:path>
            </a:pathLst>
          </a:custGeom>
          <a:blipFill>
            <a:blip r:embed="rId6"/>
            <a:stretch>
              <a:fillRect l="0" t="0" r="0" b="0"/>
            </a:stretch>
          </a:blipFill>
        </p:spPr>
      </p:sp>
      <p:sp>
        <p:nvSpPr>
          <p:cNvPr name="Freeform 9" id="9"/>
          <p:cNvSpPr/>
          <p:nvPr/>
        </p:nvSpPr>
        <p:spPr>
          <a:xfrm flipH="false" flipV="false" rot="0">
            <a:off x="9541957" y="6220741"/>
            <a:ext cx="8464220" cy="3266002"/>
          </a:xfrm>
          <a:custGeom>
            <a:avLst/>
            <a:gdLst/>
            <a:ahLst/>
            <a:cxnLst/>
            <a:rect r="r" b="b" t="t" l="l"/>
            <a:pathLst>
              <a:path h="3266002" w="8464220">
                <a:moveTo>
                  <a:pt x="0" y="0"/>
                </a:moveTo>
                <a:lnTo>
                  <a:pt x="8464219" y="0"/>
                </a:lnTo>
                <a:lnTo>
                  <a:pt x="8464219" y="3266001"/>
                </a:lnTo>
                <a:lnTo>
                  <a:pt x="0" y="3266001"/>
                </a:lnTo>
                <a:lnTo>
                  <a:pt x="0" y="0"/>
                </a:lnTo>
                <a:close/>
              </a:path>
            </a:pathLst>
          </a:custGeom>
          <a:blipFill>
            <a:blip r:embed="rId7"/>
            <a:stretch>
              <a:fillRect l="0" t="-14790" r="0" b="-14790"/>
            </a:stretch>
          </a:blipFill>
        </p:spPr>
      </p:sp>
      <p:sp>
        <p:nvSpPr>
          <p:cNvPr name="TextBox 10" id="10"/>
          <p:cNvSpPr txBox="true"/>
          <p:nvPr/>
        </p:nvSpPr>
        <p:spPr>
          <a:xfrm rot="0">
            <a:off x="1289190" y="932464"/>
            <a:ext cx="2791948" cy="800946"/>
          </a:xfrm>
          <a:prstGeom prst="rect">
            <a:avLst/>
          </a:prstGeom>
        </p:spPr>
        <p:txBody>
          <a:bodyPr anchor="t" rtlCol="false" tIns="0" lIns="0" bIns="0" rIns="0">
            <a:spAutoFit/>
          </a:bodyPr>
          <a:lstStyle/>
          <a:p>
            <a:pPr algn="ctr">
              <a:lnSpc>
                <a:spcPts val="6521"/>
              </a:lnSpc>
              <a:spcBef>
                <a:spcPct val="0"/>
              </a:spcBef>
            </a:pPr>
            <a:r>
              <a:rPr lang="en-US" b="true" sz="4658">
                <a:solidFill>
                  <a:srgbClr val="0F4662"/>
                </a:solidFill>
                <a:latin typeface="Quicksand Bold"/>
                <a:ea typeface="Quicksand Bold"/>
                <a:cs typeface="Quicksand Bold"/>
                <a:sym typeface="Quicksand Bold"/>
              </a:rPr>
              <a:t>4.Kết Qủa</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6" id="6"/>
          <p:cNvSpPr txBox="true"/>
          <p:nvPr/>
        </p:nvSpPr>
        <p:spPr>
          <a:xfrm rot="0">
            <a:off x="1289190" y="932464"/>
            <a:ext cx="2791948" cy="800946"/>
          </a:xfrm>
          <a:prstGeom prst="rect">
            <a:avLst/>
          </a:prstGeom>
        </p:spPr>
        <p:txBody>
          <a:bodyPr anchor="t" rtlCol="false" tIns="0" lIns="0" bIns="0" rIns="0">
            <a:spAutoFit/>
          </a:bodyPr>
          <a:lstStyle/>
          <a:p>
            <a:pPr algn="ctr">
              <a:lnSpc>
                <a:spcPts val="6521"/>
              </a:lnSpc>
              <a:spcBef>
                <a:spcPct val="0"/>
              </a:spcBef>
            </a:pPr>
            <a:r>
              <a:rPr lang="en-US" b="true" sz="4658">
                <a:solidFill>
                  <a:srgbClr val="0F4662"/>
                </a:solidFill>
                <a:latin typeface="Quicksand Bold"/>
                <a:ea typeface="Quicksand Bold"/>
                <a:cs typeface="Quicksand Bold"/>
                <a:sym typeface="Quicksand Bold"/>
              </a:rPr>
              <a:t>4.Kết Qủa</a:t>
            </a:r>
          </a:p>
        </p:txBody>
      </p:sp>
      <p:sp>
        <p:nvSpPr>
          <p:cNvPr name="TextBox 7" id="7"/>
          <p:cNvSpPr txBox="true"/>
          <p:nvPr/>
        </p:nvSpPr>
        <p:spPr>
          <a:xfrm rot="0">
            <a:off x="1289190" y="2173758"/>
            <a:ext cx="12079414" cy="2696040"/>
          </a:xfrm>
          <a:prstGeom prst="rect">
            <a:avLst/>
          </a:prstGeom>
        </p:spPr>
        <p:txBody>
          <a:bodyPr anchor="t" rtlCol="false" tIns="0" lIns="0" bIns="0" rIns="0">
            <a:spAutoFit/>
          </a:bodyPr>
          <a:lstStyle/>
          <a:p>
            <a:pPr algn="l">
              <a:lnSpc>
                <a:spcPts val="5427"/>
              </a:lnSpc>
              <a:spcBef>
                <a:spcPct val="0"/>
              </a:spcBef>
            </a:pPr>
            <a:r>
              <a:rPr lang="en-US" sz="3192">
                <a:solidFill>
                  <a:srgbClr val="0F4662"/>
                </a:solidFill>
                <a:latin typeface="Quicksand"/>
                <a:ea typeface="Quicksand"/>
                <a:cs typeface="Quicksand"/>
                <a:sym typeface="Quicksand"/>
              </a:rPr>
              <a:t>BFS: Tối ưu chi phí, frontier lớn → tốn bộ nhớ</a:t>
            </a:r>
          </a:p>
          <a:p>
            <a:pPr algn="l">
              <a:lnSpc>
                <a:spcPts val="5427"/>
              </a:lnSpc>
              <a:spcBef>
                <a:spcPct val="0"/>
              </a:spcBef>
            </a:pPr>
            <a:r>
              <a:rPr lang="en-US" sz="3192">
                <a:solidFill>
                  <a:srgbClr val="0F4662"/>
                </a:solidFill>
                <a:latin typeface="Quicksand"/>
                <a:ea typeface="Quicksand"/>
                <a:cs typeface="Quicksand"/>
                <a:sym typeface="Quicksand"/>
              </a:rPr>
              <a:t>DFS: Frontier nhỏ, nhưng đường đi dài và không tối ưu</a:t>
            </a:r>
          </a:p>
          <a:p>
            <a:pPr algn="l">
              <a:lnSpc>
                <a:spcPts val="5427"/>
              </a:lnSpc>
              <a:spcBef>
                <a:spcPct val="0"/>
              </a:spcBef>
            </a:pPr>
            <a:r>
              <a:rPr lang="en-US" sz="3192">
                <a:solidFill>
                  <a:srgbClr val="0F4662"/>
                </a:solidFill>
                <a:latin typeface="Quicksand"/>
                <a:ea typeface="Quicksand"/>
                <a:cs typeface="Quicksand"/>
                <a:sym typeface="Quicksand"/>
              </a:rPr>
              <a:t>GBFS: Mở ít nút, nhanh nhưng phụ thuộc heuristic → không tối ưu</a:t>
            </a:r>
          </a:p>
          <a:p>
            <a:pPr algn="l">
              <a:lnSpc>
                <a:spcPts val="5427"/>
              </a:lnSpc>
              <a:spcBef>
                <a:spcPct val="0"/>
              </a:spcBef>
            </a:pPr>
            <a:r>
              <a:rPr lang="en-US" sz="3192">
                <a:solidFill>
                  <a:srgbClr val="0F4662"/>
                </a:solidFill>
                <a:latin typeface="Quicksand"/>
                <a:ea typeface="Quicksand"/>
                <a:cs typeface="Quicksand"/>
                <a:sym typeface="Quicksand"/>
              </a:rPr>
              <a:t>A:* Cân bằng giữa tối ưu và hiệu quả, bộ nhớ vẫn cao</a:t>
            </a:r>
          </a:p>
        </p:txBody>
      </p:sp>
      <p:sp>
        <p:nvSpPr>
          <p:cNvPr name="TextBox 8" id="8"/>
          <p:cNvSpPr txBox="true"/>
          <p:nvPr/>
        </p:nvSpPr>
        <p:spPr>
          <a:xfrm rot="0">
            <a:off x="1289190" y="5505799"/>
            <a:ext cx="15568071" cy="1894306"/>
          </a:xfrm>
          <a:prstGeom prst="rect">
            <a:avLst/>
          </a:prstGeom>
        </p:spPr>
        <p:txBody>
          <a:bodyPr anchor="t" rtlCol="false" tIns="0" lIns="0" bIns="0" rIns="0">
            <a:spAutoFit/>
          </a:bodyPr>
          <a:lstStyle/>
          <a:p>
            <a:pPr algn="l">
              <a:lnSpc>
                <a:spcPts val="5138"/>
              </a:lnSpc>
              <a:spcBef>
                <a:spcPct val="0"/>
              </a:spcBef>
            </a:pPr>
            <a:r>
              <a:rPr lang="en-US" sz="3022">
                <a:solidFill>
                  <a:srgbClr val="0F4662"/>
                </a:solidFill>
                <a:latin typeface="Quicksand"/>
                <a:ea typeface="Quicksand"/>
                <a:cs typeface="Quicksand"/>
                <a:sym typeface="Quicksand"/>
              </a:rPr>
              <a:t>BFS và A*: Tối ưu chi phí → lựa chọn tốt</a:t>
            </a:r>
          </a:p>
          <a:p>
            <a:pPr algn="l">
              <a:lnSpc>
                <a:spcPts val="5138"/>
              </a:lnSpc>
              <a:spcBef>
                <a:spcPct val="0"/>
              </a:spcBef>
            </a:pPr>
            <a:r>
              <a:rPr lang="en-US" sz="3022">
                <a:solidFill>
                  <a:srgbClr val="0F4662"/>
                </a:solidFill>
                <a:latin typeface="Quicksand"/>
                <a:ea typeface="Quicksand"/>
                <a:cs typeface="Quicksand"/>
                <a:sym typeface="Quicksand"/>
              </a:rPr>
              <a:t>DFS và GBFS: Tiết kiệm bộ nhớ hoặc tăng tốc → phù hợp khi cần</a:t>
            </a:r>
          </a:p>
          <a:p>
            <a:pPr algn="l">
              <a:lnSpc>
                <a:spcPts val="5138"/>
              </a:lnSpc>
              <a:spcBef>
                <a:spcPct val="0"/>
              </a:spcBef>
            </a:pPr>
            <a:r>
              <a:rPr lang="en-US" sz="3022">
                <a:solidFill>
                  <a:srgbClr val="0F4662"/>
                </a:solidFill>
                <a:latin typeface="Quicksand"/>
                <a:ea typeface="Quicksand"/>
                <a:cs typeface="Quicksand"/>
                <a:sym typeface="Quicksand"/>
              </a:rPr>
              <a:t>Nền tảng cho các bài toán nâng cao: Iterative Deepening, Weighted A*, multi-goal maze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graphicFrame>
        <p:nvGraphicFramePr>
          <p:cNvPr name="Object 6" id="6"/>
          <p:cNvGraphicFramePr/>
          <p:nvPr/>
        </p:nvGraphicFramePr>
        <p:xfrm>
          <a:off x="1560949" y="2249156"/>
          <a:ext cx="13201650" cy="2514600"/>
        </p:xfrm>
        <a:graphic>
          <a:graphicData uri="http://schemas.openxmlformats.org/presentationml/2006/ole">
            <p:oleObj imgW="15836900" imgH="5143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7" id="7"/>
          <p:cNvGraphicFramePr/>
          <p:nvPr/>
        </p:nvGraphicFramePr>
        <p:xfrm>
          <a:off x="9625729" y="2249156"/>
          <a:ext cx="13201650" cy="2514600"/>
        </p:xfrm>
        <a:graphic>
          <a:graphicData uri="http://schemas.openxmlformats.org/presentationml/2006/ole">
            <p:oleObj imgW="15836900" imgH="5143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Freeform 8" id="8"/>
          <p:cNvSpPr/>
          <p:nvPr/>
        </p:nvSpPr>
        <p:spPr>
          <a:xfrm flipH="false" flipV="false" rot="0">
            <a:off x="1560949" y="5874177"/>
            <a:ext cx="7583051" cy="3467904"/>
          </a:xfrm>
          <a:custGeom>
            <a:avLst/>
            <a:gdLst/>
            <a:ahLst/>
            <a:cxnLst/>
            <a:rect r="r" b="b" t="t" l="l"/>
            <a:pathLst>
              <a:path h="3467904" w="7583051">
                <a:moveTo>
                  <a:pt x="0" y="0"/>
                </a:moveTo>
                <a:lnTo>
                  <a:pt x="7583051" y="0"/>
                </a:lnTo>
                <a:lnTo>
                  <a:pt x="7583051" y="3467904"/>
                </a:lnTo>
                <a:lnTo>
                  <a:pt x="0" y="3467904"/>
                </a:lnTo>
                <a:lnTo>
                  <a:pt x="0" y="0"/>
                </a:lnTo>
                <a:close/>
              </a:path>
            </a:pathLst>
          </a:custGeom>
          <a:blipFill>
            <a:blip r:embed="rId6"/>
            <a:stretch>
              <a:fillRect l="0" t="-4665" r="0" b="-4665"/>
            </a:stretch>
          </a:blipFill>
        </p:spPr>
      </p:sp>
      <p:sp>
        <p:nvSpPr>
          <p:cNvPr name="Freeform 9" id="9"/>
          <p:cNvSpPr/>
          <p:nvPr/>
        </p:nvSpPr>
        <p:spPr>
          <a:xfrm flipH="false" flipV="false" rot="0">
            <a:off x="9625729" y="6056103"/>
            <a:ext cx="7990393" cy="3555992"/>
          </a:xfrm>
          <a:custGeom>
            <a:avLst/>
            <a:gdLst/>
            <a:ahLst/>
            <a:cxnLst/>
            <a:rect r="r" b="b" t="t" l="l"/>
            <a:pathLst>
              <a:path h="3555992" w="7990393">
                <a:moveTo>
                  <a:pt x="0" y="0"/>
                </a:moveTo>
                <a:lnTo>
                  <a:pt x="7990392" y="0"/>
                </a:lnTo>
                <a:lnTo>
                  <a:pt x="7990392" y="3555992"/>
                </a:lnTo>
                <a:lnTo>
                  <a:pt x="0" y="3555992"/>
                </a:lnTo>
                <a:lnTo>
                  <a:pt x="0" y="0"/>
                </a:lnTo>
                <a:close/>
              </a:path>
            </a:pathLst>
          </a:custGeom>
          <a:blipFill>
            <a:blip r:embed="rId7"/>
            <a:stretch>
              <a:fillRect l="0" t="-6175" r="0" b="-6175"/>
            </a:stretch>
          </a:blipFill>
        </p:spPr>
      </p:sp>
      <p:sp>
        <p:nvSpPr>
          <p:cNvPr name="TextBox 10" id="10"/>
          <p:cNvSpPr txBox="true"/>
          <p:nvPr/>
        </p:nvSpPr>
        <p:spPr>
          <a:xfrm rot="0">
            <a:off x="1289190" y="932464"/>
            <a:ext cx="2791948" cy="800946"/>
          </a:xfrm>
          <a:prstGeom prst="rect">
            <a:avLst/>
          </a:prstGeom>
        </p:spPr>
        <p:txBody>
          <a:bodyPr anchor="t" rtlCol="false" tIns="0" lIns="0" bIns="0" rIns="0">
            <a:spAutoFit/>
          </a:bodyPr>
          <a:lstStyle/>
          <a:p>
            <a:pPr algn="ctr">
              <a:lnSpc>
                <a:spcPts val="6521"/>
              </a:lnSpc>
              <a:spcBef>
                <a:spcPct val="0"/>
              </a:spcBef>
            </a:pPr>
            <a:r>
              <a:rPr lang="en-US" b="true" sz="4658">
                <a:solidFill>
                  <a:srgbClr val="0F4662"/>
                </a:solidFill>
                <a:latin typeface="Quicksand Bold"/>
                <a:ea typeface="Quicksand Bold"/>
                <a:cs typeface="Quicksand Bold"/>
                <a:sym typeface="Quicksand Bold"/>
              </a:rPr>
              <a:t>4.Kết Qủa</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7994A0"/>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grpSp>
        <p:nvGrpSpPr>
          <p:cNvPr name="Group 5" id="5"/>
          <p:cNvGrpSpPr/>
          <p:nvPr/>
        </p:nvGrpSpPr>
        <p:grpSpPr>
          <a:xfrm rot="0">
            <a:off x="11915073" y="1684924"/>
            <a:ext cx="5344227" cy="7573376"/>
            <a:chOff x="0" y="0"/>
            <a:chExt cx="827961" cy="1173314"/>
          </a:xfrm>
        </p:grpSpPr>
        <p:sp>
          <p:nvSpPr>
            <p:cNvPr name="Freeform 6" id="6"/>
            <p:cNvSpPr/>
            <p:nvPr/>
          </p:nvSpPr>
          <p:spPr>
            <a:xfrm flipH="false" flipV="false" rot="0">
              <a:off x="0" y="0"/>
              <a:ext cx="827961" cy="1173314"/>
            </a:xfrm>
            <a:custGeom>
              <a:avLst/>
              <a:gdLst/>
              <a:ahLst/>
              <a:cxnLst/>
              <a:rect r="r" b="b" t="t" l="l"/>
              <a:pathLst>
                <a:path h="1173314" w="827961">
                  <a:moveTo>
                    <a:pt x="33319" y="0"/>
                  </a:moveTo>
                  <a:lnTo>
                    <a:pt x="794642" y="0"/>
                  </a:lnTo>
                  <a:cubicBezTo>
                    <a:pt x="813043" y="0"/>
                    <a:pt x="827961" y="14917"/>
                    <a:pt x="827961" y="33319"/>
                  </a:cubicBezTo>
                  <a:lnTo>
                    <a:pt x="827961" y="1139995"/>
                  </a:lnTo>
                  <a:cubicBezTo>
                    <a:pt x="827961" y="1158397"/>
                    <a:pt x="813043" y="1173314"/>
                    <a:pt x="794642" y="1173314"/>
                  </a:cubicBezTo>
                  <a:lnTo>
                    <a:pt x="33319" y="1173314"/>
                  </a:lnTo>
                  <a:cubicBezTo>
                    <a:pt x="14917" y="1173314"/>
                    <a:pt x="0" y="1158397"/>
                    <a:pt x="0" y="1139995"/>
                  </a:cubicBezTo>
                  <a:lnTo>
                    <a:pt x="0" y="33319"/>
                  </a:lnTo>
                  <a:cubicBezTo>
                    <a:pt x="0" y="14917"/>
                    <a:pt x="14917" y="0"/>
                    <a:pt x="33319" y="0"/>
                  </a:cubicBezTo>
                  <a:close/>
                </a:path>
              </a:pathLst>
            </a:custGeom>
            <a:blipFill>
              <a:blip r:embed="rId2"/>
              <a:stretch>
                <a:fillRect l="-56349" t="0" r="-56349" b="0"/>
              </a:stretch>
            </a:blipFill>
          </p:spPr>
        </p:sp>
      </p:grpSp>
      <p:sp>
        <p:nvSpPr>
          <p:cNvPr name="TextBox 7" id="7"/>
          <p:cNvSpPr txBox="true"/>
          <p:nvPr/>
        </p:nvSpPr>
        <p:spPr>
          <a:xfrm rot="0">
            <a:off x="1028700" y="647334"/>
            <a:ext cx="11398269" cy="1251583"/>
          </a:xfrm>
          <a:prstGeom prst="rect">
            <a:avLst/>
          </a:prstGeom>
        </p:spPr>
        <p:txBody>
          <a:bodyPr anchor="t" rtlCol="false" tIns="0" lIns="0" bIns="0" rIns="0">
            <a:spAutoFit/>
          </a:bodyPr>
          <a:lstStyle/>
          <a:p>
            <a:pPr algn="l" marL="0" indent="0" lvl="0">
              <a:lnSpc>
                <a:spcPts val="5040"/>
              </a:lnSpc>
              <a:spcBef>
                <a:spcPct val="0"/>
              </a:spcBef>
            </a:pPr>
            <a:r>
              <a:rPr lang="en-US" b="true" sz="3600" i="true">
                <a:solidFill>
                  <a:srgbClr val="0F4662"/>
                </a:solidFill>
                <a:latin typeface="Cormorant Garamond Bold Italics"/>
                <a:ea typeface="Cormorant Garamond Bold Italics"/>
                <a:cs typeface="Cormorant Garamond Bold Italics"/>
                <a:sym typeface="Cormorant Garamond Bold Italics"/>
              </a:rPr>
              <a:t>Phần III: ẢNH HƯỞNG CỦA HÀM HEURISTIC TRONG TÌM KIẾM THÔNG MINH</a:t>
            </a:r>
          </a:p>
        </p:txBody>
      </p:sp>
      <p:sp>
        <p:nvSpPr>
          <p:cNvPr name="TextBox 8" id="8"/>
          <p:cNvSpPr txBox="true"/>
          <p:nvPr/>
        </p:nvSpPr>
        <p:spPr>
          <a:xfrm rot="0">
            <a:off x="1028700" y="2608479"/>
            <a:ext cx="10527757"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Heuristic giúp thuật toán tìm kiếm hoạt động “thông minh” hơn.</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Định</a:t>
            </a:r>
            <a:r>
              <a:rPr lang="en-US" sz="2400">
                <a:solidFill>
                  <a:srgbClr val="0F4662"/>
                </a:solidFill>
                <a:latin typeface="Quicksand"/>
                <a:ea typeface="Quicksand"/>
                <a:cs typeface="Quicksand"/>
                <a:sym typeface="Quicksand"/>
              </a:rPr>
              <a:t> hướng mở rộng các nút có khả năng gần mục tiêu nhất.</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Giảm số nút cần duyệt → tăng tốc độ và hiệu quả tìm kiếm.</a:t>
            </a:r>
          </a:p>
        </p:txBody>
      </p:sp>
      <p:sp>
        <p:nvSpPr>
          <p:cNvPr name="TextBox 9" id="9"/>
          <p:cNvSpPr txBox="true"/>
          <p:nvPr/>
        </p:nvSpPr>
        <p:spPr>
          <a:xfrm rot="0">
            <a:off x="1028700" y="4898454"/>
            <a:ext cx="10527757"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Heuristic = ước lượng chi phí từ trạng thái hiện tại đến đích.</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Ký</a:t>
            </a:r>
            <a:r>
              <a:rPr lang="en-US" sz="2400">
                <a:solidFill>
                  <a:srgbClr val="0F4662"/>
                </a:solidFill>
                <a:latin typeface="Quicksand"/>
                <a:ea typeface="Quicksand"/>
                <a:cs typeface="Quicksand"/>
                <a:sym typeface="Quicksand"/>
              </a:rPr>
              <a:t> hiệu: h(n)</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Giúp thuật toán “định hướng” tìm kiếm thay vì mù quáng.</a:t>
            </a:r>
          </a:p>
        </p:txBody>
      </p:sp>
      <p:sp>
        <p:nvSpPr>
          <p:cNvPr name="TextBox 10" id="10"/>
          <p:cNvSpPr txBox="true"/>
          <p:nvPr/>
        </p:nvSpPr>
        <p:spPr>
          <a:xfrm rot="0">
            <a:off x="1028700" y="7410958"/>
            <a:ext cx="10527757" cy="10001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1. Greedy Best-Firs</a:t>
            </a:r>
            <a:r>
              <a:rPr lang="en-US" sz="2400">
                <a:solidFill>
                  <a:srgbClr val="0F4662"/>
                </a:solidFill>
                <a:latin typeface="Quicksand"/>
                <a:ea typeface="Quicksand"/>
                <a:cs typeface="Quicksand"/>
                <a:sym typeface="Quicksand"/>
              </a:rPr>
              <a:t>t Search (GBFS):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2. A Search:*</a:t>
            </a:r>
          </a:p>
        </p:txBody>
      </p:sp>
      <p:sp>
        <p:nvSpPr>
          <p:cNvPr name="TextBox 11" id="11"/>
          <p:cNvSpPr txBox="true"/>
          <p:nvPr/>
        </p:nvSpPr>
        <p:spPr>
          <a:xfrm rot="0">
            <a:off x="1028700" y="4218204"/>
            <a:ext cx="10527757" cy="565150"/>
          </a:xfrm>
          <a:prstGeom prst="rect">
            <a:avLst/>
          </a:prstGeom>
        </p:spPr>
        <p:txBody>
          <a:bodyPr anchor="t" rtlCol="false" tIns="0" lIns="0" bIns="0" rIns="0">
            <a:spAutoFit/>
          </a:bodyPr>
          <a:lstStyle/>
          <a:p>
            <a:pPr algn="l" marL="0" indent="0" lvl="0">
              <a:lnSpc>
                <a:spcPts val="4759"/>
              </a:lnSpc>
            </a:pPr>
            <a:r>
              <a:rPr lang="en-US" b="true" sz="2799">
                <a:solidFill>
                  <a:srgbClr val="0F4662"/>
                </a:solidFill>
                <a:latin typeface="Quicksand Bold"/>
                <a:ea typeface="Quicksand Bold"/>
                <a:cs typeface="Quicksand Bold"/>
                <a:sym typeface="Quicksand Bold"/>
              </a:rPr>
              <a:t>1.1. Khái niệm Heuristic</a:t>
            </a:r>
          </a:p>
        </p:txBody>
      </p:sp>
      <p:sp>
        <p:nvSpPr>
          <p:cNvPr name="TextBox 12" id="12"/>
          <p:cNvSpPr txBox="true"/>
          <p:nvPr/>
        </p:nvSpPr>
        <p:spPr>
          <a:xfrm rot="0">
            <a:off x="1028700" y="6837181"/>
            <a:ext cx="10527757" cy="565150"/>
          </a:xfrm>
          <a:prstGeom prst="rect">
            <a:avLst/>
          </a:prstGeom>
        </p:spPr>
        <p:txBody>
          <a:bodyPr anchor="t" rtlCol="false" tIns="0" lIns="0" bIns="0" rIns="0">
            <a:spAutoFit/>
          </a:bodyPr>
          <a:lstStyle/>
          <a:p>
            <a:pPr algn="l" marL="0" indent="0" lvl="0">
              <a:lnSpc>
                <a:spcPts val="4759"/>
              </a:lnSpc>
            </a:pPr>
            <a:r>
              <a:rPr lang="en-US" b="true" sz="2799">
                <a:solidFill>
                  <a:srgbClr val="0F4662"/>
                </a:solidFill>
                <a:latin typeface="Quicksand Bold"/>
                <a:ea typeface="Quicksand Bold"/>
                <a:cs typeface="Quicksand Bold"/>
                <a:sym typeface="Quicksand Bold"/>
              </a:rPr>
              <a:t>1.2. Các thuật toán sử dụng Heuristic</a:t>
            </a:r>
          </a:p>
        </p:txBody>
      </p:sp>
      <p:sp>
        <p:nvSpPr>
          <p:cNvPr name="TextBox 13" id="13"/>
          <p:cNvSpPr txBox="true"/>
          <p:nvPr/>
        </p:nvSpPr>
        <p:spPr>
          <a:xfrm rot="0">
            <a:off x="894121" y="2014754"/>
            <a:ext cx="10527757" cy="565150"/>
          </a:xfrm>
          <a:prstGeom prst="rect">
            <a:avLst/>
          </a:prstGeom>
        </p:spPr>
        <p:txBody>
          <a:bodyPr anchor="t" rtlCol="false" tIns="0" lIns="0" bIns="0" rIns="0">
            <a:spAutoFit/>
          </a:bodyPr>
          <a:lstStyle/>
          <a:p>
            <a:pPr algn="l" marL="604519" indent="-302260" lvl="1">
              <a:lnSpc>
                <a:spcPts val="4759"/>
              </a:lnSpc>
              <a:buAutoNum type="arabicPeriod" startAt="1"/>
            </a:pPr>
            <a:r>
              <a:rPr lang="en-US" b="true" sz="2799">
                <a:solidFill>
                  <a:srgbClr val="0F4662"/>
                </a:solidFill>
                <a:latin typeface="Quicksand Bold"/>
                <a:ea typeface="Quicksand Bold"/>
                <a:cs typeface="Quicksand Bold"/>
                <a:sym typeface="Quicksand Bold"/>
              </a:rPr>
              <a:t>Cơ sở lý thuyết</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71151"/>
            <a:chOff x="0" y="0"/>
            <a:chExt cx="2408296" cy="2705159"/>
          </a:xfrm>
        </p:grpSpPr>
        <p:sp>
          <p:nvSpPr>
            <p:cNvPr name="Freeform 3" id="3"/>
            <p:cNvSpPr/>
            <p:nvPr/>
          </p:nvSpPr>
          <p:spPr>
            <a:xfrm flipH="false" flipV="false" rot="0">
              <a:off x="0" y="0"/>
              <a:ext cx="2408296" cy="2705159"/>
            </a:xfrm>
            <a:custGeom>
              <a:avLst/>
              <a:gdLst/>
              <a:ahLst/>
              <a:cxnLst/>
              <a:rect r="r" b="b" t="t" l="l"/>
              <a:pathLst>
                <a:path h="2705159" w="2408296">
                  <a:moveTo>
                    <a:pt x="0" y="0"/>
                  </a:moveTo>
                  <a:lnTo>
                    <a:pt x="2408296" y="0"/>
                  </a:lnTo>
                  <a:lnTo>
                    <a:pt x="2408296" y="2705159"/>
                  </a:lnTo>
                  <a:lnTo>
                    <a:pt x="0" y="2705159"/>
                  </a:lnTo>
                  <a:close/>
                </a:path>
              </a:pathLst>
            </a:custGeom>
            <a:solidFill>
              <a:srgbClr val="7994A0"/>
            </a:solidFill>
          </p:spPr>
        </p:sp>
        <p:sp>
          <p:nvSpPr>
            <p:cNvPr name="TextBox 4" id="4"/>
            <p:cNvSpPr txBox="true"/>
            <p:nvPr/>
          </p:nvSpPr>
          <p:spPr>
            <a:xfrm>
              <a:off x="0" y="-47625"/>
              <a:ext cx="2408296" cy="2752784"/>
            </a:xfrm>
            <a:prstGeom prst="rect">
              <a:avLst/>
            </a:prstGeom>
          </p:spPr>
          <p:txBody>
            <a:bodyPr anchor="ctr" rtlCol="false" tIns="50800" lIns="50800" bIns="50800" rIns="50800"/>
            <a:lstStyle/>
            <a:p>
              <a:pPr algn="ctr">
                <a:lnSpc>
                  <a:spcPts val="3693"/>
                </a:lnSpc>
              </a:pPr>
            </a:p>
          </p:txBody>
        </p:sp>
      </p:grpSp>
      <p:sp>
        <p:nvSpPr>
          <p:cNvPr name="TextBox 5" id="5"/>
          <p:cNvSpPr txBox="true"/>
          <p:nvPr/>
        </p:nvSpPr>
        <p:spPr>
          <a:xfrm rot="0">
            <a:off x="329684" y="885825"/>
            <a:ext cx="8336098" cy="9525001"/>
          </a:xfrm>
          <a:prstGeom prst="rect">
            <a:avLst/>
          </a:prstGeom>
        </p:spPr>
        <p:txBody>
          <a:bodyPr anchor="t" rtlCol="false" tIns="0" lIns="0" bIns="0" rIns="0">
            <a:spAutoFit/>
          </a:bodyPr>
          <a:lstStyle/>
          <a:p>
            <a:pPr algn="l">
              <a:lnSpc>
                <a:spcPts val="5099"/>
              </a:lnSpc>
            </a:pPr>
            <a:r>
              <a:rPr lang="en-US" sz="2999" b="true">
                <a:solidFill>
                  <a:srgbClr val="0F4662"/>
                </a:solidFill>
                <a:latin typeface="Quicksand Bold"/>
                <a:ea typeface="Quicksand Bold"/>
                <a:cs typeface="Quicksand Bold"/>
                <a:sym typeface="Quicksand Bold"/>
              </a:rPr>
              <a:t>Greedy Best-First Search (GBFS)</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Greedy Best-First Search là một thuật toán tìm kiếm có định hướng, trong đó việc mở rộng nút kế tiếp hoàn toàn dựa trên giá trị h(n) — tức là ước lượng chi phí từ nút hiện tại đến đích.</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 Công thức đánh giá:   f(n)=h(n)</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 Thuật toán luôn chọn nút có h(n) nhỏ nhất để mở rộng trước, với hy vọng nhanh chóng đạt đến đích.</a:t>
            </a:r>
          </a:p>
          <a:p>
            <a:pPr algn="l" marL="647697" indent="-323848" lvl="1">
              <a:lnSpc>
                <a:spcPts val="5099"/>
              </a:lnSpc>
              <a:buFont typeface="Arial"/>
              <a:buChar char="•"/>
            </a:pPr>
            <a:r>
              <a:rPr lang="en-US" sz="2999">
                <a:solidFill>
                  <a:srgbClr val="0F4662"/>
                </a:solidFill>
                <a:latin typeface="Quicksand"/>
                <a:ea typeface="Quicksand"/>
                <a:cs typeface="Quicksand"/>
                <a:sym typeface="Quicksand"/>
              </a:rPr>
              <a:t> Tuy nhiên, vì không xét chi phí đã đi qua (g(n)), GBFS có thể rơi vào bẫy cục bộ (local minima) hoặc tìm ra đường đi không tối ưu.</a:t>
            </a:r>
          </a:p>
          <a:p>
            <a:pPr algn="l" marL="0" indent="0" lvl="0">
              <a:lnSpc>
                <a:spcPts val="5099"/>
              </a:lnSpc>
            </a:pPr>
          </a:p>
        </p:txBody>
      </p:sp>
      <p:sp>
        <p:nvSpPr>
          <p:cNvPr name="TextBox 6" id="6"/>
          <p:cNvSpPr txBox="true"/>
          <p:nvPr/>
        </p:nvSpPr>
        <p:spPr>
          <a:xfrm rot="0">
            <a:off x="247252" y="149368"/>
            <a:ext cx="8500964" cy="646431"/>
          </a:xfrm>
          <a:prstGeom prst="rect">
            <a:avLst/>
          </a:prstGeom>
        </p:spPr>
        <p:txBody>
          <a:bodyPr anchor="t" rtlCol="false" tIns="0" lIns="0" bIns="0" rIns="0">
            <a:spAutoFit/>
          </a:bodyPr>
          <a:lstStyle/>
          <a:p>
            <a:pPr algn="l" marL="0" indent="0" lvl="0">
              <a:lnSpc>
                <a:spcPts val="5319"/>
              </a:lnSpc>
              <a:spcBef>
                <a:spcPct val="0"/>
              </a:spcBef>
            </a:pPr>
            <a:r>
              <a:rPr lang="en-US" b="true" sz="3799">
                <a:solidFill>
                  <a:srgbClr val="0F4662"/>
                </a:solidFill>
                <a:latin typeface="Quicksand Bold"/>
                <a:ea typeface="Quicksand Bold"/>
                <a:cs typeface="Quicksand Bold"/>
                <a:sym typeface="Quicksand Bold"/>
              </a:rPr>
              <a:t>1.2. Các thuật toán sử dụng Heuristic</a:t>
            </a:r>
          </a:p>
        </p:txBody>
      </p:sp>
      <p:sp>
        <p:nvSpPr>
          <p:cNvPr name="TextBox 7" id="7"/>
          <p:cNvSpPr txBox="true"/>
          <p:nvPr/>
        </p:nvSpPr>
        <p:spPr>
          <a:xfrm rot="0">
            <a:off x="9463587" y="876300"/>
            <a:ext cx="8504826" cy="9029700"/>
          </a:xfrm>
          <a:prstGeom prst="rect">
            <a:avLst/>
          </a:prstGeom>
        </p:spPr>
        <p:txBody>
          <a:bodyPr anchor="t" rtlCol="false" tIns="0" lIns="0" bIns="0" rIns="0">
            <a:spAutoFit/>
          </a:bodyPr>
          <a:lstStyle/>
          <a:p>
            <a:pPr algn="l">
              <a:lnSpc>
                <a:spcPts val="5100"/>
              </a:lnSpc>
            </a:pPr>
            <a:r>
              <a:rPr lang="en-US" sz="3000" b="true">
                <a:solidFill>
                  <a:srgbClr val="FFFFFF"/>
                </a:solidFill>
                <a:latin typeface="Quicksand Bold"/>
                <a:ea typeface="Quicksand Bold"/>
                <a:cs typeface="Quicksand Bold"/>
                <a:sym typeface="Quicksand Bold"/>
              </a:rPr>
              <a:t> Thuật</a:t>
            </a:r>
            <a:r>
              <a:rPr lang="en-US" sz="3000" b="true">
                <a:solidFill>
                  <a:srgbClr val="FFFFFF"/>
                </a:solidFill>
                <a:latin typeface="Quicksand Bold"/>
                <a:ea typeface="Quicksand Bold"/>
                <a:cs typeface="Quicksand Bold"/>
                <a:sym typeface="Quicksand Bold"/>
              </a:rPr>
              <a:t> toán A*</a:t>
            </a:r>
          </a:p>
          <a:p>
            <a:pPr algn="l" marL="647700" indent="-323850" lvl="1">
              <a:lnSpc>
                <a:spcPts val="5100"/>
              </a:lnSpc>
              <a:buFont typeface="Arial"/>
              <a:buChar char="•"/>
            </a:pPr>
            <a:r>
              <a:rPr lang="en-US" sz="3000">
                <a:solidFill>
                  <a:srgbClr val="FFFFFF"/>
                </a:solidFill>
                <a:latin typeface="Quicksand"/>
                <a:ea typeface="Quicksand"/>
                <a:cs typeface="Quicksand"/>
                <a:sym typeface="Quicksand"/>
              </a:rPr>
              <a:t>Thuật toán A* là sự kết hợp giữa hai yếu tố:</a:t>
            </a:r>
          </a:p>
          <a:p>
            <a:pPr algn="l" marL="1295400" indent="-431800" lvl="2">
              <a:lnSpc>
                <a:spcPts val="5100"/>
              </a:lnSpc>
              <a:buFont typeface="Arial"/>
              <a:buChar char="⚬"/>
            </a:pPr>
            <a:r>
              <a:rPr lang="en-US" sz="3000">
                <a:solidFill>
                  <a:srgbClr val="FFFFFF"/>
                </a:solidFill>
                <a:latin typeface="Quicksand"/>
                <a:ea typeface="Quicksand"/>
                <a:cs typeface="Quicksand"/>
                <a:sym typeface="Quicksand"/>
              </a:rPr>
              <a:t>C</a:t>
            </a:r>
            <a:r>
              <a:rPr lang="en-US" sz="3000">
                <a:solidFill>
                  <a:srgbClr val="FFFFFF"/>
                </a:solidFill>
                <a:latin typeface="Quicksand"/>
                <a:ea typeface="Quicksand"/>
                <a:cs typeface="Quicksand"/>
                <a:sym typeface="Quicksand"/>
              </a:rPr>
              <a:t>hi phí thực tế đã đi qua (g(n))</a:t>
            </a:r>
          </a:p>
          <a:p>
            <a:pPr algn="l" marL="1295400" indent="-431800" lvl="2">
              <a:lnSpc>
                <a:spcPts val="5100"/>
              </a:lnSpc>
              <a:buFont typeface="Arial"/>
              <a:buChar char="⚬"/>
            </a:pPr>
            <a:r>
              <a:rPr lang="en-US" sz="3000">
                <a:solidFill>
                  <a:srgbClr val="FFFFFF"/>
                </a:solidFill>
                <a:latin typeface="Quicksand"/>
                <a:ea typeface="Quicksand"/>
                <a:cs typeface="Quicksand"/>
                <a:sym typeface="Quicksand"/>
              </a:rPr>
              <a:t>Chi phí ước lượng còn lại (h(n))</a:t>
            </a:r>
          </a:p>
          <a:p>
            <a:pPr algn="l" marL="647700" indent="-323850" lvl="1">
              <a:lnSpc>
                <a:spcPts val="5100"/>
              </a:lnSpc>
              <a:buFont typeface="Arial"/>
              <a:buChar char="•"/>
            </a:pPr>
            <a:r>
              <a:rPr lang="en-US" sz="3000">
                <a:solidFill>
                  <a:srgbClr val="FFFFFF"/>
                </a:solidFill>
                <a:latin typeface="Quicksand"/>
                <a:ea typeface="Quicksand"/>
                <a:cs typeface="Quicksand"/>
                <a:sym typeface="Quicksand"/>
              </a:rPr>
              <a:t>Công thức tổng hợp: </a:t>
            </a:r>
            <a:r>
              <a:rPr lang="en-US" sz="3000">
                <a:solidFill>
                  <a:srgbClr val="FFFFFF"/>
                </a:solidFill>
                <a:latin typeface="Quicksand"/>
                <a:ea typeface="Quicksand"/>
                <a:cs typeface="Quicksand"/>
                <a:sym typeface="Quicksand"/>
              </a:rPr>
              <a:t>f(n)=g(n)+h(n)</a:t>
            </a:r>
          </a:p>
          <a:p>
            <a:pPr algn="l" marL="647700" indent="-323850" lvl="1">
              <a:lnSpc>
                <a:spcPts val="5100"/>
              </a:lnSpc>
              <a:buFont typeface="Arial"/>
              <a:buChar char="•"/>
            </a:pPr>
            <a:r>
              <a:rPr lang="en-US" sz="3000">
                <a:solidFill>
                  <a:srgbClr val="FFFFFF"/>
                </a:solidFill>
                <a:latin typeface="Quicksand"/>
                <a:ea typeface="Quicksand"/>
                <a:cs typeface="Quicksand"/>
                <a:sym typeface="Quicksand"/>
              </a:rPr>
              <a:t> Thuật toán A* chọn mở rộng nút có f(n) nhỏ nhất.</a:t>
            </a:r>
          </a:p>
          <a:p>
            <a:pPr algn="l" marL="647700" indent="-323850" lvl="1">
              <a:lnSpc>
                <a:spcPts val="5100"/>
              </a:lnSpc>
              <a:buFont typeface="Arial"/>
              <a:buChar char="•"/>
            </a:pPr>
            <a:r>
              <a:rPr lang="en-US" sz="3000">
                <a:solidFill>
                  <a:srgbClr val="FFFFFF"/>
                </a:solidFill>
                <a:latin typeface="Quicksand"/>
                <a:ea typeface="Quicksand"/>
                <a:cs typeface="Quicksand"/>
                <a:sym typeface="Quicksand"/>
              </a:rPr>
              <a:t> Nhờ đó, A* vừa đảm bảo tính tối ưu (nếu heuristic chấp nhận được — admissible), vừa có hiệu quả tìm kiếm cao hơn so với các thuật toán không sử dụng heuristic.</a:t>
            </a:r>
          </a:p>
          <a:p>
            <a:pPr algn="l" marL="647700" indent="-323850" lvl="1">
              <a:lnSpc>
                <a:spcPts val="5100"/>
              </a:lnSpc>
              <a:buFont typeface="Arial"/>
              <a:buChar char="•"/>
            </a:pPr>
            <a:r>
              <a:rPr lang="en-US" sz="3000">
                <a:solidFill>
                  <a:srgbClr val="FFFFFF"/>
                </a:solidFill>
                <a:latin typeface="Quicksand"/>
                <a:ea typeface="Quicksand"/>
                <a:cs typeface="Quicksand"/>
                <a:sym typeface="Quicksand"/>
              </a:rPr>
              <a:t>Trong</a:t>
            </a:r>
            <a:r>
              <a:rPr lang="en-US" sz="3000">
                <a:solidFill>
                  <a:srgbClr val="FFFFFF"/>
                </a:solidFill>
                <a:latin typeface="Quicksand"/>
                <a:ea typeface="Quicksand"/>
                <a:cs typeface="Quicksand"/>
                <a:sym typeface="Quicksand"/>
              </a:rPr>
              <a:t> trường hợp heuristic được chọn tốt (gần với chi phí thực tế), A* sẽ tìm đường nhanh hơn đáng kể.</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DBE5EA"/>
        </a:solidFill>
      </p:bgPr>
    </p:bg>
    <p:spTree>
      <p:nvGrpSpPr>
        <p:cNvPr id="1" name=""/>
        <p:cNvGrpSpPr/>
        <p:nvPr/>
      </p:nvGrpSpPr>
      <p:grpSpPr>
        <a:xfrm>
          <a:off x="0" y="0"/>
          <a:ext cx="0" cy="0"/>
          <a:chOff x="0" y="0"/>
          <a:chExt cx="0" cy="0"/>
        </a:xfrm>
      </p:grpSpPr>
      <p:grpSp>
        <p:nvGrpSpPr>
          <p:cNvPr name="Group 2" id="2"/>
          <p:cNvGrpSpPr/>
          <p:nvPr/>
        </p:nvGrpSpPr>
        <p:grpSpPr>
          <a:xfrm rot="0">
            <a:off x="1678632" y="2053826"/>
            <a:ext cx="11973343" cy="7610617"/>
            <a:chOff x="0" y="0"/>
            <a:chExt cx="3153473" cy="2004442"/>
          </a:xfrm>
        </p:grpSpPr>
        <p:sp>
          <p:nvSpPr>
            <p:cNvPr name="Freeform 3" id="3"/>
            <p:cNvSpPr/>
            <p:nvPr/>
          </p:nvSpPr>
          <p:spPr>
            <a:xfrm flipH="false" flipV="false" rot="0">
              <a:off x="0" y="0"/>
              <a:ext cx="3153473" cy="2004442"/>
            </a:xfrm>
            <a:custGeom>
              <a:avLst/>
              <a:gdLst/>
              <a:ahLst/>
              <a:cxnLst/>
              <a:rect r="r" b="b" t="t" l="l"/>
              <a:pathLst>
                <a:path h="2004442" w="3153473">
                  <a:moveTo>
                    <a:pt x="32976" y="0"/>
                  </a:moveTo>
                  <a:lnTo>
                    <a:pt x="3120497" y="0"/>
                  </a:lnTo>
                  <a:cubicBezTo>
                    <a:pt x="3129243" y="0"/>
                    <a:pt x="3137630" y="3474"/>
                    <a:pt x="3143815" y="9659"/>
                  </a:cubicBezTo>
                  <a:cubicBezTo>
                    <a:pt x="3149999" y="15843"/>
                    <a:pt x="3153473" y="24231"/>
                    <a:pt x="3153473" y="32976"/>
                  </a:cubicBezTo>
                  <a:lnTo>
                    <a:pt x="3153473" y="1971466"/>
                  </a:lnTo>
                  <a:cubicBezTo>
                    <a:pt x="3153473" y="1989678"/>
                    <a:pt x="3138709" y="2004442"/>
                    <a:pt x="3120497" y="2004442"/>
                  </a:cubicBezTo>
                  <a:lnTo>
                    <a:pt x="32976" y="2004442"/>
                  </a:lnTo>
                  <a:cubicBezTo>
                    <a:pt x="24231" y="2004442"/>
                    <a:pt x="15843" y="2000968"/>
                    <a:pt x="9659" y="1994784"/>
                  </a:cubicBezTo>
                  <a:cubicBezTo>
                    <a:pt x="3474" y="1988600"/>
                    <a:pt x="0" y="1980212"/>
                    <a:pt x="0" y="1971466"/>
                  </a:cubicBezTo>
                  <a:lnTo>
                    <a:pt x="0" y="32976"/>
                  </a:lnTo>
                  <a:cubicBezTo>
                    <a:pt x="0" y="14764"/>
                    <a:pt x="14764" y="0"/>
                    <a:pt x="32976" y="0"/>
                  </a:cubicBezTo>
                  <a:close/>
                </a:path>
              </a:pathLst>
            </a:custGeom>
            <a:solidFill>
              <a:srgbClr val="FFFFFF"/>
            </a:solidFill>
          </p:spPr>
        </p:sp>
        <p:sp>
          <p:nvSpPr>
            <p:cNvPr name="TextBox 4" id="4"/>
            <p:cNvSpPr txBox="true"/>
            <p:nvPr/>
          </p:nvSpPr>
          <p:spPr>
            <a:xfrm>
              <a:off x="0" y="-123825"/>
              <a:ext cx="3153473" cy="2128267"/>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2716171" y="2255411"/>
            <a:ext cx="9893517" cy="7002889"/>
          </a:xfrm>
          <a:custGeom>
            <a:avLst/>
            <a:gdLst/>
            <a:ahLst/>
            <a:cxnLst/>
            <a:rect r="r" b="b" t="t" l="l"/>
            <a:pathLst>
              <a:path h="7002889" w="9893517">
                <a:moveTo>
                  <a:pt x="0" y="0"/>
                </a:moveTo>
                <a:lnTo>
                  <a:pt x="9893517" y="0"/>
                </a:lnTo>
                <a:lnTo>
                  <a:pt x="9893517" y="7002889"/>
                </a:lnTo>
                <a:lnTo>
                  <a:pt x="0" y="7002889"/>
                </a:lnTo>
                <a:lnTo>
                  <a:pt x="0" y="0"/>
                </a:lnTo>
                <a:close/>
              </a:path>
            </a:pathLst>
          </a:custGeom>
          <a:blipFill>
            <a:blip r:embed="rId2"/>
            <a:stretch>
              <a:fillRect l="0" t="0" r="0" b="0"/>
            </a:stretch>
          </a:blipFill>
        </p:spPr>
      </p:sp>
      <p:sp>
        <p:nvSpPr>
          <p:cNvPr name="TextBox 6" id="6"/>
          <p:cNvSpPr txBox="true"/>
          <p:nvPr/>
        </p:nvSpPr>
        <p:spPr>
          <a:xfrm rot="0">
            <a:off x="1028700" y="599709"/>
            <a:ext cx="1032659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So sánh A* và GBFS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7994A0"/>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grpSp>
        <p:nvGrpSpPr>
          <p:cNvPr name="Group 5" id="5"/>
          <p:cNvGrpSpPr/>
          <p:nvPr/>
        </p:nvGrpSpPr>
        <p:grpSpPr>
          <a:xfrm rot="0">
            <a:off x="11915073" y="1684924"/>
            <a:ext cx="5344227" cy="7573376"/>
            <a:chOff x="0" y="0"/>
            <a:chExt cx="827961" cy="1173314"/>
          </a:xfrm>
        </p:grpSpPr>
        <p:sp>
          <p:nvSpPr>
            <p:cNvPr name="Freeform 6" id="6"/>
            <p:cNvSpPr/>
            <p:nvPr/>
          </p:nvSpPr>
          <p:spPr>
            <a:xfrm flipH="false" flipV="false" rot="0">
              <a:off x="0" y="0"/>
              <a:ext cx="827961" cy="1173314"/>
            </a:xfrm>
            <a:custGeom>
              <a:avLst/>
              <a:gdLst/>
              <a:ahLst/>
              <a:cxnLst/>
              <a:rect r="r" b="b" t="t" l="l"/>
              <a:pathLst>
                <a:path h="1173314" w="827961">
                  <a:moveTo>
                    <a:pt x="33319" y="0"/>
                  </a:moveTo>
                  <a:lnTo>
                    <a:pt x="794642" y="0"/>
                  </a:lnTo>
                  <a:cubicBezTo>
                    <a:pt x="813043" y="0"/>
                    <a:pt x="827961" y="14917"/>
                    <a:pt x="827961" y="33319"/>
                  </a:cubicBezTo>
                  <a:lnTo>
                    <a:pt x="827961" y="1139995"/>
                  </a:lnTo>
                  <a:cubicBezTo>
                    <a:pt x="827961" y="1158397"/>
                    <a:pt x="813043" y="1173314"/>
                    <a:pt x="794642" y="1173314"/>
                  </a:cubicBezTo>
                  <a:lnTo>
                    <a:pt x="33319" y="1173314"/>
                  </a:lnTo>
                  <a:cubicBezTo>
                    <a:pt x="14917" y="1173314"/>
                    <a:pt x="0" y="1158397"/>
                    <a:pt x="0" y="1139995"/>
                  </a:cubicBezTo>
                  <a:lnTo>
                    <a:pt x="0" y="33319"/>
                  </a:lnTo>
                  <a:cubicBezTo>
                    <a:pt x="0" y="14917"/>
                    <a:pt x="14917" y="0"/>
                    <a:pt x="33319" y="0"/>
                  </a:cubicBezTo>
                  <a:close/>
                </a:path>
              </a:pathLst>
            </a:custGeom>
            <a:blipFill>
              <a:blip r:embed="rId2"/>
              <a:stretch>
                <a:fillRect l="-56349" t="0" r="-56349" b="0"/>
              </a:stretch>
            </a:blipFill>
          </p:spPr>
        </p:sp>
      </p:grpSp>
      <p:sp>
        <p:nvSpPr>
          <p:cNvPr name="Freeform 7" id="7"/>
          <p:cNvSpPr/>
          <p:nvPr/>
        </p:nvSpPr>
        <p:spPr>
          <a:xfrm flipH="false" flipV="false" rot="0">
            <a:off x="1602658" y="2482661"/>
            <a:ext cx="6735381" cy="783534"/>
          </a:xfrm>
          <a:custGeom>
            <a:avLst/>
            <a:gdLst/>
            <a:ahLst/>
            <a:cxnLst/>
            <a:rect r="r" b="b" t="t" l="l"/>
            <a:pathLst>
              <a:path h="783534" w="6735381">
                <a:moveTo>
                  <a:pt x="0" y="0"/>
                </a:moveTo>
                <a:lnTo>
                  <a:pt x="6735380" y="0"/>
                </a:lnTo>
                <a:lnTo>
                  <a:pt x="6735380" y="783534"/>
                </a:lnTo>
                <a:lnTo>
                  <a:pt x="0" y="783534"/>
                </a:lnTo>
                <a:lnTo>
                  <a:pt x="0" y="0"/>
                </a:lnTo>
                <a:close/>
              </a:path>
            </a:pathLst>
          </a:custGeom>
          <a:blipFill>
            <a:blip r:embed="rId3"/>
            <a:stretch>
              <a:fillRect l="0" t="0" r="0" b="0"/>
            </a:stretch>
          </a:blipFill>
        </p:spPr>
      </p:sp>
      <p:sp>
        <p:nvSpPr>
          <p:cNvPr name="Freeform 8" id="8"/>
          <p:cNvSpPr/>
          <p:nvPr/>
        </p:nvSpPr>
        <p:spPr>
          <a:xfrm flipH="false" flipV="false" rot="0">
            <a:off x="1748307" y="4693368"/>
            <a:ext cx="6444082" cy="689070"/>
          </a:xfrm>
          <a:custGeom>
            <a:avLst/>
            <a:gdLst/>
            <a:ahLst/>
            <a:cxnLst/>
            <a:rect r="r" b="b" t="t" l="l"/>
            <a:pathLst>
              <a:path h="689070" w="6444082">
                <a:moveTo>
                  <a:pt x="0" y="0"/>
                </a:moveTo>
                <a:lnTo>
                  <a:pt x="6444082" y="0"/>
                </a:lnTo>
                <a:lnTo>
                  <a:pt x="6444082" y="689071"/>
                </a:lnTo>
                <a:lnTo>
                  <a:pt x="0" y="689071"/>
                </a:lnTo>
                <a:lnTo>
                  <a:pt x="0" y="0"/>
                </a:lnTo>
                <a:close/>
              </a:path>
            </a:pathLst>
          </a:custGeom>
          <a:blipFill>
            <a:blip r:embed="rId4"/>
            <a:stretch>
              <a:fillRect l="0" t="0" r="0" b="0"/>
            </a:stretch>
          </a:blipFill>
        </p:spPr>
      </p:sp>
      <p:sp>
        <p:nvSpPr>
          <p:cNvPr name="Freeform 9" id="9"/>
          <p:cNvSpPr/>
          <p:nvPr/>
        </p:nvSpPr>
        <p:spPr>
          <a:xfrm flipH="false" flipV="false" rot="0">
            <a:off x="1748307" y="7036398"/>
            <a:ext cx="7185664" cy="559725"/>
          </a:xfrm>
          <a:custGeom>
            <a:avLst/>
            <a:gdLst/>
            <a:ahLst/>
            <a:cxnLst/>
            <a:rect r="r" b="b" t="t" l="l"/>
            <a:pathLst>
              <a:path h="559725" w="7185664">
                <a:moveTo>
                  <a:pt x="0" y="0"/>
                </a:moveTo>
                <a:lnTo>
                  <a:pt x="7185664" y="0"/>
                </a:lnTo>
                <a:lnTo>
                  <a:pt x="7185664" y="559725"/>
                </a:lnTo>
                <a:lnTo>
                  <a:pt x="0" y="559725"/>
                </a:lnTo>
                <a:lnTo>
                  <a:pt x="0" y="0"/>
                </a:lnTo>
                <a:close/>
              </a:path>
            </a:pathLst>
          </a:custGeom>
          <a:blipFill>
            <a:blip r:embed="rId5"/>
            <a:stretch>
              <a:fillRect l="0" t="0" r="0" b="0"/>
            </a:stretch>
          </a:blipFill>
        </p:spPr>
      </p:sp>
      <p:sp>
        <p:nvSpPr>
          <p:cNvPr name="TextBox 10" id="10"/>
          <p:cNvSpPr txBox="true"/>
          <p:nvPr/>
        </p:nvSpPr>
        <p:spPr>
          <a:xfrm rot="0">
            <a:off x="1028700" y="599709"/>
            <a:ext cx="890376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Các hàm Heuristic phổ biến</a:t>
            </a:r>
          </a:p>
        </p:txBody>
      </p:sp>
      <p:sp>
        <p:nvSpPr>
          <p:cNvPr name="TextBox 11" id="11"/>
          <p:cNvSpPr txBox="true"/>
          <p:nvPr/>
        </p:nvSpPr>
        <p:spPr>
          <a:xfrm rot="0">
            <a:off x="1028700" y="3219358"/>
            <a:ext cx="10527757" cy="485775"/>
          </a:xfrm>
          <a:prstGeom prst="rect">
            <a:avLst/>
          </a:prstGeom>
        </p:spPr>
        <p:txBody>
          <a:bodyPr anchor="t" rtlCol="false" tIns="0" lIns="0" bIns="0" rIns="0">
            <a:spAutoFit/>
          </a:bodyPr>
          <a:lstStyle/>
          <a:p>
            <a:pPr algn="l">
              <a:lnSpc>
                <a:spcPts val="4079"/>
              </a:lnSpc>
            </a:pPr>
            <a:r>
              <a:rPr lang="en-US" sz="2400">
                <a:solidFill>
                  <a:srgbClr val="0F4662"/>
                </a:solidFill>
                <a:latin typeface="Quicksand"/>
                <a:ea typeface="Quicksand"/>
                <a:cs typeface="Quicksand"/>
                <a:sym typeface="Quicksand"/>
              </a:rPr>
              <a:t>→ Dùng khi chỉ có thể di chuyển theo 4 hướng (trên, dưới, trái, phải).</a:t>
            </a:r>
          </a:p>
        </p:txBody>
      </p:sp>
      <p:sp>
        <p:nvSpPr>
          <p:cNvPr name="TextBox 12" id="12"/>
          <p:cNvSpPr txBox="true"/>
          <p:nvPr/>
        </p:nvSpPr>
        <p:spPr>
          <a:xfrm rot="0">
            <a:off x="1028700" y="5529299"/>
            <a:ext cx="10527757" cy="485775"/>
          </a:xfrm>
          <a:prstGeom prst="rect">
            <a:avLst/>
          </a:prstGeom>
        </p:spPr>
        <p:txBody>
          <a:bodyPr anchor="t" rtlCol="false" tIns="0" lIns="0" bIns="0" rIns="0">
            <a:spAutoFit/>
          </a:bodyPr>
          <a:lstStyle/>
          <a:p>
            <a:pPr algn="l">
              <a:lnSpc>
                <a:spcPts val="4079"/>
              </a:lnSpc>
            </a:pPr>
            <a:r>
              <a:rPr lang="en-US" sz="2400">
                <a:solidFill>
                  <a:srgbClr val="0F4662"/>
                </a:solidFill>
                <a:latin typeface="Quicksand"/>
                <a:ea typeface="Quicksand"/>
                <a:cs typeface="Quicksand"/>
                <a:sym typeface="Quicksand"/>
              </a:rPr>
              <a:t>→ Dùng khi di chuyển có thể th</a:t>
            </a:r>
            <a:r>
              <a:rPr lang="en-US" sz="2400">
                <a:solidFill>
                  <a:srgbClr val="0F4662"/>
                </a:solidFill>
                <a:latin typeface="Quicksand"/>
                <a:ea typeface="Quicksand"/>
                <a:cs typeface="Quicksand"/>
                <a:sym typeface="Quicksand"/>
              </a:rPr>
              <a:t>eo cả đường chéo (8 hướng).</a:t>
            </a:r>
          </a:p>
        </p:txBody>
      </p:sp>
      <p:sp>
        <p:nvSpPr>
          <p:cNvPr name="TextBox 13" id="13"/>
          <p:cNvSpPr txBox="true"/>
          <p:nvPr/>
        </p:nvSpPr>
        <p:spPr>
          <a:xfrm rot="0">
            <a:off x="1028700" y="7697261"/>
            <a:ext cx="10527757" cy="1000125"/>
          </a:xfrm>
          <a:prstGeom prst="rect">
            <a:avLst/>
          </a:prstGeom>
        </p:spPr>
        <p:txBody>
          <a:bodyPr anchor="t" rtlCol="false" tIns="0" lIns="0" bIns="0" rIns="0">
            <a:spAutoFit/>
          </a:bodyPr>
          <a:lstStyle/>
          <a:p>
            <a:pPr algn="l">
              <a:lnSpc>
                <a:spcPts val="4079"/>
              </a:lnSpc>
            </a:pPr>
            <a:r>
              <a:rPr lang="en-US" sz="2400">
                <a:solidFill>
                  <a:srgbClr val="0F4662"/>
                </a:solidFill>
                <a:latin typeface="Quicksand"/>
                <a:ea typeface="Quicksand"/>
                <a:cs typeface="Quicksand"/>
                <a:sym typeface="Quicksand"/>
              </a:rPr>
              <a:t>→ Dùng cho môi trường di chuyển đa hướng, khi chi p</a:t>
            </a:r>
            <a:r>
              <a:rPr lang="en-US" sz="2400">
                <a:solidFill>
                  <a:srgbClr val="0F4662"/>
                </a:solidFill>
                <a:latin typeface="Quicksand"/>
                <a:ea typeface="Quicksand"/>
                <a:cs typeface="Quicksand"/>
                <a:sym typeface="Quicksand"/>
              </a:rPr>
              <a:t>hí ngang và chéo tương đương.</a:t>
            </a:r>
          </a:p>
        </p:txBody>
      </p:sp>
      <p:sp>
        <p:nvSpPr>
          <p:cNvPr name="TextBox 14" id="14"/>
          <p:cNvSpPr txBox="true"/>
          <p:nvPr/>
        </p:nvSpPr>
        <p:spPr>
          <a:xfrm rot="0">
            <a:off x="1028700" y="1914818"/>
            <a:ext cx="1052775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Manhattan</a:t>
            </a:r>
          </a:p>
        </p:txBody>
      </p:sp>
      <p:sp>
        <p:nvSpPr>
          <p:cNvPr name="TextBox 15" id="15"/>
          <p:cNvSpPr txBox="true"/>
          <p:nvPr/>
        </p:nvSpPr>
        <p:spPr>
          <a:xfrm rot="0">
            <a:off x="1028700" y="4105647"/>
            <a:ext cx="10527757" cy="565150"/>
          </a:xfrm>
          <a:prstGeom prst="rect">
            <a:avLst/>
          </a:prstGeom>
        </p:spPr>
        <p:txBody>
          <a:bodyPr anchor="t" rtlCol="false" tIns="0" lIns="0" bIns="0" rIns="0">
            <a:spAutoFit/>
          </a:bodyPr>
          <a:lstStyle/>
          <a:p>
            <a:pPr algn="l" marL="0" indent="0" lvl="0">
              <a:lnSpc>
                <a:spcPts val="4759"/>
              </a:lnSpc>
            </a:pPr>
            <a:r>
              <a:rPr lang="en-US" b="true" sz="2799">
                <a:solidFill>
                  <a:srgbClr val="0F4662"/>
                </a:solidFill>
                <a:latin typeface="Quicksand Bold"/>
                <a:ea typeface="Quicksand Bold"/>
                <a:cs typeface="Quicksand Bold"/>
                <a:sym typeface="Quicksand Bold"/>
              </a:rPr>
              <a:t>Euclidean</a:t>
            </a:r>
          </a:p>
        </p:txBody>
      </p:sp>
      <p:sp>
        <p:nvSpPr>
          <p:cNvPr name="TextBox 16" id="16"/>
          <p:cNvSpPr txBox="true"/>
          <p:nvPr/>
        </p:nvSpPr>
        <p:spPr>
          <a:xfrm rot="0">
            <a:off x="1028700" y="6246286"/>
            <a:ext cx="10527757" cy="565150"/>
          </a:xfrm>
          <a:prstGeom prst="rect">
            <a:avLst/>
          </a:prstGeom>
        </p:spPr>
        <p:txBody>
          <a:bodyPr anchor="t" rtlCol="false" tIns="0" lIns="0" bIns="0" rIns="0">
            <a:spAutoFit/>
          </a:bodyPr>
          <a:lstStyle/>
          <a:p>
            <a:pPr algn="l" marL="0" indent="0" lvl="0">
              <a:lnSpc>
                <a:spcPts val="4759"/>
              </a:lnSpc>
            </a:pPr>
            <a:r>
              <a:rPr lang="en-US" b="true" sz="2799">
                <a:solidFill>
                  <a:srgbClr val="0F4662"/>
                </a:solidFill>
                <a:latin typeface="Quicksand Bold"/>
                <a:ea typeface="Quicksand Bold"/>
                <a:cs typeface="Quicksand Bold"/>
                <a:sym typeface="Quicksand Bold"/>
              </a:rPr>
              <a:t>Chebyshev</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886761" y="2456695"/>
            <a:ext cx="4052435" cy="6426664"/>
            <a:chOff x="0" y="0"/>
            <a:chExt cx="1067308" cy="1692619"/>
          </a:xfrm>
        </p:grpSpPr>
        <p:sp>
          <p:nvSpPr>
            <p:cNvPr name="Freeform 3" id="3"/>
            <p:cNvSpPr/>
            <p:nvPr/>
          </p:nvSpPr>
          <p:spPr>
            <a:xfrm flipH="false" flipV="false" rot="0">
              <a:off x="0" y="0"/>
              <a:ext cx="1067308" cy="1692619"/>
            </a:xfrm>
            <a:custGeom>
              <a:avLst/>
              <a:gdLst/>
              <a:ahLst/>
              <a:cxnLst/>
              <a:rect r="r" b="b" t="t" l="l"/>
              <a:pathLst>
                <a:path h="1692619" w="1067308">
                  <a:moveTo>
                    <a:pt x="97432" y="0"/>
                  </a:moveTo>
                  <a:lnTo>
                    <a:pt x="969876" y="0"/>
                  </a:lnTo>
                  <a:cubicBezTo>
                    <a:pt x="1023686" y="0"/>
                    <a:pt x="1067308" y="43622"/>
                    <a:pt x="1067308" y="97432"/>
                  </a:cubicBezTo>
                  <a:lnTo>
                    <a:pt x="1067308" y="1595187"/>
                  </a:lnTo>
                  <a:cubicBezTo>
                    <a:pt x="1067308" y="1648997"/>
                    <a:pt x="1023686" y="1692619"/>
                    <a:pt x="969876" y="1692619"/>
                  </a:cubicBezTo>
                  <a:lnTo>
                    <a:pt x="97432" y="1692619"/>
                  </a:lnTo>
                  <a:cubicBezTo>
                    <a:pt x="43622" y="1692619"/>
                    <a:pt x="0" y="1648997"/>
                    <a:pt x="0" y="1595187"/>
                  </a:cubicBezTo>
                  <a:lnTo>
                    <a:pt x="0" y="97432"/>
                  </a:lnTo>
                  <a:cubicBezTo>
                    <a:pt x="0" y="43622"/>
                    <a:pt x="43622" y="0"/>
                    <a:pt x="97432" y="0"/>
                  </a:cubicBezTo>
                  <a:close/>
                </a:path>
              </a:pathLst>
            </a:custGeom>
            <a:solidFill>
              <a:srgbClr val="DBE5EA"/>
            </a:solidFill>
          </p:spPr>
        </p:sp>
        <p:sp>
          <p:nvSpPr>
            <p:cNvPr name="TextBox 4" id="4"/>
            <p:cNvSpPr txBox="true"/>
            <p:nvPr/>
          </p:nvSpPr>
          <p:spPr>
            <a:xfrm>
              <a:off x="0" y="-123825"/>
              <a:ext cx="1067308" cy="1816444"/>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1853317" y="2794611"/>
            <a:ext cx="2348889" cy="2348889"/>
          </a:xfrm>
          <a:custGeom>
            <a:avLst/>
            <a:gdLst/>
            <a:ahLst/>
            <a:cxnLst/>
            <a:rect r="r" b="b" t="t" l="l"/>
            <a:pathLst>
              <a:path h="2348889" w="2348889">
                <a:moveTo>
                  <a:pt x="0" y="0"/>
                </a:moveTo>
                <a:lnTo>
                  <a:pt x="2348888" y="0"/>
                </a:lnTo>
                <a:lnTo>
                  <a:pt x="2348888" y="2348889"/>
                </a:lnTo>
                <a:lnTo>
                  <a:pt x="0" y="234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5291621" y="2456695"/>
            <a:ext cx="3852379" cy="6426664"/>
            <a:chOff x="0" y="0"/>
            <a:chExt cx="1014618" cy="1692619"/>
          </a:xfrm>
        </p:grpSpPr>
        <p:sp>
          <p:nvSpPr>
            <p:cNvPr name="Freeform 7" id="7"/>
            <p:cNvSpPr/>
            <p:nvPr/>
          </p:nvSpPr>
          <p:spPr>
            <a:xfrm flipH="false" flipV="false" rot="0">
              <a:off x="0" y="0"/>
              <a:ext cx="1014618" cy="1692619"/>
            </a:xfrm>
            <a:custGeom>
              <a:avLst/>
              <a:gdLst/>
              <a:ahLst/>
              <a:cxnLst/>
              <a:rect r="r" b="b" t="t" l="l"/>
              <a:pathLst>
                <a:path h="1692619" w="1014618">
                  <a:moveTo>
                    <a:pt x="102492" y="0"/>
                  </a:moveTo>
                  <a:lnTo>
                    <a:pt x="912126" y="0"/>
                  </a:lnTo>
                  <a:cubicBezTo>
                    <a:pt x="968731" y="0"/>
                    <a:pt x="1014618" y="45887"/>
                    <a:pt x="1014618" y="102492"/>
                  </a:cubicBezTo>
                  <a:lnTo>
                    <a:pt x="1014618" y="1590127"/>
                  </a:lnTo>
                  <a:cubicBezTo>
                    <a:pt x="1014618" y="1646732"/>
                    <a:pt x="968731" y="1692619"/>
                    <a:pt x="912126" y="1692619"/>
                  </a:cubicBezTo>
                  <a:lnTo>
                    <a:pt x="102492" y="1692619"/>
                  </a:lnTo>
                  <a:cubicBezTo>
                    <a:pt x="45887" y="1692619"/>
                    <a:pt x="0" y="1646732"/>
                    <a:pt x="0" y="1590127"/>
                  </a:cubicBezTo>
                  <a:lnTo>
                    <a:pt x="0" y="102492"/>
                  </a:lnTo>
                  <a:cubicBezTo>
                    <a:pt x="0" y="45887"/>
                    <a:pt x="45887" y="0"/>
                    <a:pt x="102492" y="0"/>
                  </a:cubicBezTo>
                  <a:close/>
                </a:path>
              </a:pathLst>
            </a:custGeom>
            <a:solidFill>
              <a:srgbClr val="A9BECB"/>
            </a:solidFill>
          </p:spPr>
        </p:sp>
        <p:sp>
          <p:nvSpPr>
            <p:cNvPr name="TextBox 8" id="8"/>
            <p:cNvSpPr txBox="true"/>
            <p:nvPr/>
          </p:nvSpPr>
          <p:spPr>
            <a:xfrm>
              <a:off x="0" y="-123825"/>
              <a:ext cx="1014618" cy="1816444"/>
            </a:xfrm>
            <a:prstGeom prst="rect">
              <a:avLst/>
            </a:prstGeom>
          </p:spPr>
          <p:txBody>
            <a:bodyPr anchor="ctr" rtlCol="false" tIns="50800" lIns="50800" bIns="50800" rIns="50800"/>
            <a:lstStyle/>
            <a:p>
              <a:pPr algn="ctr">
                <a:lnSpc>
                  <a:spcPts val="4079"/>
                </a:lnSpc>
              </a:pPr>
            </a:p>
          </p:txBody>
        </p:sp>
      </p:grpSp>
      <p:sp>
        <p:nvSpPr>
          <p:cNvPr name="Freeform 9" id="9"/>
          <p:cNvSpPr/>
          <p:nvPr/>
        </p:nvSpPr>
        <p:spPr>
          <a:xfrm flipH="false" flipV="false" rot="0">
            <a:off x="5897880" y="2794611"/>
            <a:ext cx="2318994" cy="2348889"/>
          </a:xfrm>
          <a:custGeom>
            <a:avLst/>
            <a:gdLst/>
            <a:ahLst/>
            <a:cxnLst/>
            <a:rect r="r" b="b" t="t" l="l"/>
            <a:pathLst>
              <a:path h="2348889" w="2318994">
                <a:moveTo>
                  <a:pt x="0" y="0"/>
                </a:moveTo>
                <a:lnTo>
                  <a:pt x="2318994" y="0"/>
                </a:lnTo>
                <a:lnTo>
                  <a:pt x="2318994" y="2348889"/>
                </a:lnTo>
                <a:lnTo>
                  <a:pt x="0" y="23488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9496425" y="2456695"/>
            <a:ext cx="3619740" cy="6426664"/>
            <a:chOff x="0" y="0"/>
            <a:chExt cx="953347" cy="1692619"/>
          </a:xfrm>
        </p:grpSpPr>
        <p:sp>
          <p:nvSpPr>
            <p:cNvPr name="Freeform 11" id="11"/>
            <p:cNvSpPr/>
            <p:nvPr/>
          </p:nvSpPr>
          <p:spPr>
            <a:xfrm flipH="false" flipV="false" rot="0">
              <a:off x="0" y="0"/>
              <a:ext cx="953347" cy="1692619"/>
            </a:xfrm>
            <a:custGeom>
              <a:avLst/>
              <a:gdLst/>
              <a:ahLst/>
              <a:cxnLst/>
              <a:rect r="r" b="b" t="t" l="l"/>
              <a:pathLst>
                <a:path h="1692619" w="953347">
                  <a:moveTo>
                    <a:pt x="109079" y="0"/>
                  </a:moveTo>
                  <a:lnTo>
                    <a:pt x="844268" y="0"/>
                  </a:lnTo>
                  <a:cubicBezTo>
                    <a:pt x="873198" y="0"/>
                    <a:pt x="900942" y="11492"/>
                    <a:pt x="921399" y="31949"/>
                  </a:cubicBezTo>
                  <a:cubicBezTo>
                    <a:pt x="941855" y="52405"/>
                    <a:pt x="953347" y="80150"/>
                    <a:pt x="953347" y="109079"/>
                  </a:cubicBezTo>
                  <a:lnTo>
                    <a:pt x="953347" y="1583540"/>
                  </a:lnTo>
                  <a:cubicBezTo>
                    <a:pt x="953347" y="1612470"/>
                    <a:pt x="941855" y="1640215"/>
                    <a:pt x="921399" y="1660671"/>
                  </a:cubicBezTo>
                  <a:cubicBezTo>
                    <a:pt x="900942" y="1681127"/>
                    <a:pt x="873198" y="1692619"/>
                    <a:pt x="844268" y="1692619"/>
                  </a:cubicBezTo>
                  <a:lnTo>
                    <a:pt x="109079" y="1692619"/>
                  </a:lnTo>
                  <a:cubicBezTo>
                    <a:pt x="80150" y="1692619"/>
                    <a:pt x="52405" y="1681127"/>
                    <a:pt x="31949" y="1660671"/>
                  </a:cubicBezTo>
                  <a:cubicBezTo>
                    <a:pt x="11492" y="1640215"/>
                    <a:pt x="0" y="1612470"/>
                    <a:pt x="0" y="1583540"/>
                  </a:cubicBezTo>
                  <a:lnTo>
                    <a:pt x="0" y="109079"/>
                  </a:lnTo>
                  <a:cubicBezTo>
                    <a:pt x="0" y="80150"/>
                    <a:pt x="11492" y="52405"/>
                    <a:pt x="31949" y="31949"/>
                  </a:cubicBezTo>
                  <a:cubicBezTo>
                    <a:pt x="52405" y="11492"/>
                    <a:pt x="80150" y="0"/>
                    <a:pt x="109079" y="0"/>
                  </a:cubicBezTo>
                  <a:close/>
                </a:path>
              </a:pathLst>
            </a:custGeom>
            <a:solidFill>
              <a:srgbClr val="DBE5EA"/>
            </a:solidFill>
          </p:spPr>
        </p:sp>
        <p:sp>
          <p:nvSpPr>
            <p:cNvPr name="TextBox 12" id="12"/>
            <p:cNvSpPr txBox="true"/>
            <p:nvPr/>
          </p:nvSpPr>
          <p:spPr>
            <a:xfrm>
              <a:off x="0" y="-123825"/>
              <a:ext cx="953347" cy="1816444"/>
            </a:xfrm>
            <a:prstGeom prst="rect">
              <a:avLst/>
            </a:prstGeom>
          </p:spPr>
          <p:txBody>
            <a:bodyPr anchor="ctr" rtlCol="false" tIns="50800" lIns="50800" bIns="50800" rIns="50800"/>
            <a:lstStyle/>
            <a:p>
              <a:pPr algn="ctr">
                <a:lnSpc>
                  <a:spcPts val="4079"/>
                </a:lnSpc>
              </a:pPr>
            </a:p>
          </p:txBody>
        </p:sp>
      </p:grpSp>
      <p:sp>
        <p:nvSpPr>
          <p:cNvPr name="Freeform 13" id="13"/>
          <p:cNvSpPr/>
          <p:nvPr/>
        </p:nvSpPr>
        <p:spPr>
          <a:xfrm flipH="false" flipV="false" rot="0">
            <a:off x="10192968" y="2855728"/>
            <a:ext cx="2226655" cy="2226655"/>
          </a:xfrm>
          <a:custGeom>
            <a:avLst/>
            <a:gdLst/>
            <a:ahLst/>
            <a:cxnLst/>
            <a:rect r="r" b="b" t="t" l="l"/>
            <a:pathLst>
              <a:path h="2226655" w="2226655">
                <a:moveTo>
                  <a:pt x="0" y="0"/>
                </a:moveTo>
                <a:lnTo>
                  <a:pt x="2226655" y="0"/>
                </a:lnTo>
                <a:lnTo>
                  <a:pt x="2226655" y="2226655"/>
                </a:lnTo>
                <a:lnTo>
                  <a:pt x="0" y="22266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028700" y="609234"/>
            <a:ext cx="9738360" cy="920114"/>
          </a:xfrm>
          <a:prstGeom prst="rect">
            <a:avLst/>
          </a:prstGeom>
        </p:spPr>
        <p:txBody>
          <a:bodyPr anchor="t" rtlCol="false" tIns="0" lIns="0" bIns="0" rIns="0">
            <a:spAutoFit/>
          </a:bodyPr>
          <a:lstStyle/>
          <a:p>
            <a:pPr algn="l" marL="0" indent="0" lvl="0">
              <a:lnSpc>
                <a:spcPts val="7560"/>
              </a:lnSpc>
              <a:spcBef>
                <a:spcPct val="0"/>
              </a:spcBef>
            </a:pPr>
            <a:r>
              <a:rPr lang="en-US" b="true" sz="5400" i="true">
                <a:solidFill>
                  <a:srgbClr val="0F4662"/>
                </a:solidFill>
                <a:latin typeface="Cormorant Garamond Bold Italics"/>
                <a:ea typeface="Cormorant Garamond Bold Italics"/>
                <a:cs typeface="Cormorant Garamond Bold Italics"/>
                <a:sym typeface="Cormorant Garamond Bold Italics"/>
              </a:rPr>
              <a:t>Vai trò của Heuristic trong tìm kiếm</a:t>
            </a:r>
          </a:p>
        </p:txBody>
      </p:sp>
      <p:sp>
        <p:nvSpPr>
          <p:cNvPr name="TextBox 15" id="15"/>
          <p:cNvSpPr txBox="true"/>
          <p:nvPr/>
        </p:nvSpPr>
        <p:spPr>
          <a:xfrm rot="0">
            <a:off x="1028700" y="5339825"/>
            <a:ext cx="3725388" cy="20288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Định hướng tìm kiếm: heuristic giúp thuật toán chọn hướng đi “thông minh” hơn.</a:t>
            </a:r>
          </a:p>
        </p:txBody>
      </p:sp>
      <p:sp>
        <p:nvSpPr>
          <p:cNvPr name="TextBox 16" id="16"/>
          <p:cNvSpPr txBox="true"/>
          <p:nvPr/>
        </p:nvSpPr>
        <p:spPr>
          <a:xfrm rot="0">
            <a:off x="5517002" y="5191293"/>
            <a:ext cx="3080750" cy="25431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Tăng hiệu quả: giảm số lượng nút cần mở rộng → giảm thời gian tìm kiếm.</a:t>
            </a:r>
          </a:p>
        </p:txBody>
      </p:sp>
      <p:sp>
        <p:nvSpPr>
          <p:cNvPr name="TextBox 17" id="17"/>
          <p:cNvSpPr txBox="true"/>
          <p:nvPr/>
        </p:nvSpPr>
        <p:spPr>
          <a:xfrm rot="0">
            <a:off x="9640784" y="5339825"/>
            <a:ext cx="3127679" cy="25431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Ảnh hưởng đến kết quả: heuristic chính xác hơ</a:t>
            </a:r>
            <a:r>
              <a:rPr lang="en-US" sz="2400">
                <a:solidFill>
                  <a:srgbClr val="0F4662"/>
                </a:solidFill>
                <a:latin typeface="Quicksand"/>
                <a:ea typeface="Quicksand"/>
                <a:cs typeface="Quicksand"/>
                <a:sym typeface="Quicksand"/>
              </a:rPr>
              <a:t>n → đườ</a:t>
            </a:r>
            <a:r>
              <a:rPr lang="en-US" sz="2400">
                <a:solidFill>
                  <a:srgbClr val="0F4662"/>
                </a:solidFill>
                <a:latin typeface="Quicksand"/>
                <a:ea typeface="Quicksand"/>
                <a:cs typeface="Quicksand"/>
                <a:sym typeface="Quicksand"/>
              </a:rPr>
              <a:t>ng đi tìm được gần tối ưu hơn.</a:t>
            </a:r>
          </a:p>
        </p:txBody>
      </p:sp>
      <p:sp>
        <p:nvSpPr>
          <p:cNvPr name="AutoShape 18" id="18"/>
          <p:cNvSpPr/>
          <p:nvPr/>
        </p:nvSpPr>
        <p:spPr>
          <a:xfrm>
            <a:off x="10767060" y="990600"/>
            <a:ext cx="6492240" cy="0"/>
          </a:xfrm>
          <a:prstGeom prst="line">
            <a:avLst/>
          </a:prstGeom>
          <a:ln cap="flat" w="76200">
            <a:solidFill>
              <a:srgbClr val="0F4662"/>
            </a:solidFill>
            <a:prstDash val="solid"/>
            <a:headEnd type="none" len="sm" w="sm"/>
            <a:tailEnd type="none" len="sm" w="sm"/>
          </a:ln>
        </p:spPr>
      </p:sp>
      <p:grpSp>
        <p:nvGrpSpPr>
          <p:cNvPr name="Group 19" id="19"/>
          <p:cNvGrpSpPr/>
          <p:nvPr/>
        </p:nvGrpSpPr>
        <p:grpSpPr>
          <a:xfrm rot="0">
            <a:off x="13468590" y="2456695"/>
            <a:ext cx="4110549" cy="6426664"/>
            <a:chOff x="0" y="0"/>
            <a:chExt cx="1082614" cy="1692619"/>
          </a:xfrm>
        </p:grpSpPr>
        <p:sp>
          <p:nvSpPr>
            <p:cNvPr name="Freeform 20" id="20"/>
            <p:cNvSpPr/>
            <p:nvPr/>
          </p:nvSpPr>
          <p:spPr>
            <a:xfrm flipH="false" flipV="false" rot="0">
              <a:off x="0" y="0"/>
              <a:ext cx="1082614" cy="1692619"/>
            </a:xfrm>
            <a:custGeom>
              <a:avLst/>
              <a:gdLst/>
              <a:ahLst/>
              <a:cxnLst/>
              <a:rect r="r" b="b" t="t" l="l"/>
              <a:pathLst>
                <a:path h="1692619" w="1082614">
                  <a:moveTo>
                    <a:pt x="96055" y="0"/>
                  </a:moveTo>
                  <a:lnTo>
                    <a:pt x="986559" y="0"/>
                  </a:lnTo>
                  <a:cubicBezTo>
                    <a:pt x="1012034" y="0"/>
                    <a:pt x="1036466" y="10120"/>
                    <a:pt x="1054480" y="28134"/>
                  </a:cubicBezTo>
                  <a:cubicBezTo>
                    <a:pt x="1072494" y="46148"/>
                    <a:pt x="1082614" y="70579"/>
                    <a:pt x="1082614" y="96055"/>
                  </a:cubicBezTo>
                  <a:lnTo>
                    <a:pt x="1082614" y="1596565"/>
                  </a:lnTo>
                  <a:cubicBezTo>
                    <a:pt x="1082614" y="1622040"/>
                    <a:pt x="1072494" y="1646472"/>
                    <a:pt x="1054480" y="1664486"/>
                  </a:cubicBezTo>
                  <a:cubicBezTo>
                    <a:pt x="1036466" y="1682499"/>
                    <a:pt x="1012034" y="1692619"/>
                    <a:pt x="986559" y="1692619"/>
                  </a:cubicBezTo>
                  <a:lnTo>
                    <a:pt x="96055" y="1692619"/>
                  </a:lnTo>
                  <a:cubicBezTo>
                    <a:pt x="70579" y="1692619"/>
                    <a:pt x="46148" y="1682499"/>
                    <a:pt x="28134" y="1664486"/>
                  </a:cubicBezTo>
                  <a:cubicBezTo>
                    <a:pt x="10120" y="1646472"/>
                    <a:pt x="0" y="1622040"/>
                    <a:pt x="0" y="1596565"/>
                  </a:cubicBezTo>
                  <a:lnTo>
                    <a:pt x="0" y="96055"/>
                  </a:lnTo>
                  <a:cubicBezTo>
                    <a:pt x="0" y="70579"/>
                    <a:pt x="10120" y="46148"/>
                    <a:pt x="28134" y="28134"/>
                  </a:cubicBezTo>
                  <a:cubicBezTo>
                    <a:pt x="46148" y="10120"/>
                    <a:pt x="70579" y="0"/>
                    <a:pt x="96055" y="0"/>
                  </a:cubicBezTo>
                  <a:close/>
                </a:path>
              </a:pathLst>
            </a:custGeom>
            <a:solidFill>
              <a:srgbClr val="DBE5EA"/>
            </a:solidFill>
          </p:spPr>
        </p:sp>
        <p:sp>
          <p:nvSpPr>
            <p:cNvPr name="TextBox 21" id="21"/>
            <p:cNvSpPr txBox="true"/>
            <p:nvPr/>
          </p:nvSpPr>
          <p:spPr>
            <a:xfrm>
              <a:off x="0" y="-123825"/>
              <a:ext cx="1082614" cy="1816444"/>
            </a:xfrm>
            <a:prstGeom prst="rect">
              <a:avLst/>
            </a:prstGeom>
          </p:spPr>
          <p:txBody>
            <a:bodyPr anchor="ctr" rtlCol="false" tIns="50800" lIns="50800" bIns="50800" rIns="50800"/>
            <a:lstStyle/>
            <a:p>
              <a:pPr algn="ctr">
                <a:lnSpc>
                  <a:spcPts val="4079"/>
                </a:lnSpc>
              </a:pPr>
            </a:p>
          </p:txBody>
        </p:sp>
      </p:grpSp>
      <p:sp>
        <p:nvSpPr>
          <p:cNvPr name="Freeform 22" id="22"/>
          <p:cNvSpPr/>
          <p:nvPr/>
        </p:nvSpPr>
        <p:spPr>
          <a:xfrm flipH="false" flipV="false" rot="0">
            <a:off x="14392515" y="2794611"/>
            <a:ext cx="2348889" cy="2348889"/>
          </a:xfrm>
          <a:custGeom>
            <a:avLst/>
            <a:gdLst/>
            <a:ahLst/>
            <a:cxnLst/>
            <a:rect r="r" b="b" t="t" l="l"/>
            <a:pathLst>
              <a:path h="2348889" w="2348889">
                <a:moveTo>
                  <a:pt x="0" y="0"/>
                </a:moveTo>
                <a:lnTo>
                  <a:pt x="2348889" y="0"/>
                </a:lnTo>
                <a:lnTo>
                  <a:pt x="2348889" y="2348889"/>
                </a:lnTo>
                <a:lnTo>
                  <a:pt x="0" y="2348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3" id="23"/>
          <p:cNvSpPr txBox="true"/>
          <p:nvPr/>
        </p:nvSpPr>
        <p:spPr>
          <a:xfrm rot="0">
            <a:off x="13649565" y="5339825"/>
            <a:ext cx="3725388" cy="25431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Cân bằng giữa tốc độ và độ chính xác: Greedy ưu tiên tốc độ, A* cân bằng giữa chi phí và ước lượng.</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7994A0"/>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1028700" y="4012491"/>
            <a:ext cx="5936809" cy="5440860"/>
          </a:xfrm>
          <a:custGeom>
            <a:avLst/>
            <a:gdLst/>
            <a:ahLst/>
            <a:cxnLst/>
            <a:rect r="r" b="b" t="t" l="l"/>
            <a:pathLst>
              <a:path h="5440860" w="5936809">
                <a:moveTo>
                  <a:pt x="0" y="0"/>
                </a:moveTo>
                <a:lnTo>
                  <a:pt x="5936809" y="0"/>
                </a:lnTo>
                <a:lnTo>
                  <a:pt x="5936809" y="5440860"/>
                </a:lnTo>
                <a:lnTo>
                  <a:pt x="0" y="5440860"/>
                </a:lnTo>
                <a:lnTo>
                  <a:pt x="0" y="0"/>
                </a:lnTo>
                <a:close/>
              </a:path>
            </a:pathLst>
          </a:custGeom>
          <a:blipFill>
            <a:blip r:embed="rId2"/>
            <a:stretch>
              <a:fillRect l="0" t="0" r="0" b="0"/>
            </a:stretch>
          </a:blipFill>
        </p:spPr>
      </p:sp>
      <p:sp>
        <p:nvSpPr>
          <p:cNvPr name="Freeform 6" id="6"/>
          <p:cNvSpPr/>
          <p:nvPr/>
        </p:nvSpPr>
        <p:spPr>
          <a:xfrm flipH="false" flipV="false" rot="0">
            <a:off x="5415075" y="2209800"/>
            <a:ext cx="3728925" cy="452713"/>
          </a:xfrm>
          <a:custGeom>
            <a:avLst/>
            <a:gdLst/>
            <a:ahLst/>
            <a:cxnLst/>
            <a:rect r="r" b="b" t="t" l="l"/>
            <a:pathLst>
              <a:path h="452713" w="3728925">
                <a:moveTo>
                  <a:pt x="0" y="0"/>
                </a:moveTo>
                <a:lnTo>
                  <a:pt x="3728925" y="0"/>
                </a:lnTo>
                <a:lnTo>
                  <a:pt x="3728925" y="452713"/>
                </a:lnTo>
                <a:lnTo>
                  <a:pt x="0" y="452713"/>
                </a:lnTo>
                <a:lnTo>
                  <a:pt x="0" y="0"/>
                </a:lnTo>
                <a:close/>
              </a:path>
            </a:pathLst>
          </a:custGeom>
          <a:blipFill>
            <a:blip r:embed="rId3"/>
            <a:stretch>
              <a:fillRect l="0" t="0" r="0" b="0"/>
            </a:stretch>
          </a:blipFill>
        </p:spPr>
      </p:sp>
      <p:sp>
        <p:nvSpPr>
          <p:cNvPr name="TextBox 7" id="7"/>
          <p:cNvSpPr txBox="true"/>
          <p:nvPr/>
        </p:nvSpPr>
        <p:spPr>
          <a:xfrm rot="0">
            <a:off x="1028700" y="1381869"/>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Thực nghiệm 1: GBFS – Manhattan heuristic</a:t>
            </a:r>
          </a:p>
        </p:txBody>
      </p:sp>
      <p:sp>
        <p:nvSpPr>
          <p:cNvPr name="TextBox 8" id="8"/>
          <p:cNvSpPr txBox="true"/>
          <p:nvPr/>
        </p:nvSpPr>
        <p:spPr>
          <a:xfrm rot="0">
            <a:off x="6694721" y="5657240"/>
            <a:ext cx="6774957" cy="30575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GBFS chỉ dùng h(n) → tìm nhanh, không tối ưu.</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Khi gặp vật cản → phải lùi lại.</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“Hea</a:t>
            </a:r>
            <a:r>
              <a:rPr lang="en-US" sz="2400">
                <a:solidFill>
                  <a:srgbClr val="0F4662"/>
                </a:solidFill>
                <a:latin typeface="Quicksand"/>
                <a:ea typeface="Quicksand"/>
                <a:cs typeface="Quicksand"/>
                <a:sym typeface="Quicksand"/>
              </a:rPr>
              <a:t>tmap” thể hiện đường sáng hướng thẳng tới đích.</a:t>
            </a:r>
          </a:p>
          <a:p>
            <a:pPr algn="l">
              <a:lnSpc>
                <a:spcPts val="4079"/>
              </a:lnSpc>
            </a:pPr>
          </a:p>
        </p:txBody>
      </p:sp>
      <p:sp>
        <p:nvSpPr>
          <p:cNvPr name="TextBox 9" id="9"/>
          <p:cNvSpPr txBox="true"/>
          <p:nvPr/>
        </p:nvSpPr>
        <p:spPr>
          <a:xfrm rot="0">
            <a:off x="1028700" y="306815"/>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2. Thực Nghiệm và kết quả </a:t>
            </a:r>
          </a:p>
        </p:txBody>
      </p:sp>
      <p:sp>
        <p:nvSpPr>
          <p:cNvPr name="TextBox 10" id="10"/>
          <p:cNvSpPr txBox="true"/>
          <p:nvPr/>
        </p:nvSpPr>
        <p:spPr>
          <a:xfrm rot="0">
            <a:off x="1028700" y="2085975"/>
            <a:ext cx="11332043" cy="25431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 </a:t>
            </a:r>
            <a:r>
              <a:rPr lang="en-US" sz="2400">
                <a:solidFill>
                  <a:srgbClr val="0F4662"/>
                </a:solidFill>
                <a:latin typeface="Quicksand"/>
                <a:ea typeface="Quicksand"/>
                <a:cs typeface="Quicksand"/>
                <a:sym typeface="Quicksand"/>
              </a:rPr>
              <a:t>Heuristic được định nghĩa:</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GBFS chỉ dựa vào giá trị h(n) để chọn node mở rộng tiếp theo.</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 Điều này khiến thuật toán “tham la</a:t>
            </a:r>
            <a:r>
              <a:rPr lang="en-US" sz="2400">
                <a:solidFill>
                  <a:srgbClr val="0F4662"/>
                </a:solidFill>
                <a:latin typeface="Quicksand"/>
                <a:ea typeface="Quicksand"/>
                <a:cs typeface="Quicksand"/>
                <a:sym typeface="Quicksand"/>
              </a:rPr>
              <a:t>m”, ưu tiên hướng gần đích nhất, nhưng bỏ qua chi phí thực tế (g(n)).</a:t>
            </a:r>
          </a:p>
          <a:p>
            <a:pPr algn="l">
              <a:lnSpc>
                <a:spcPts val="4079"/>
              </a:lnSpc>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7994A0"/>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1028700" y="3796834"/>
            <a:ext cx="5905838" cy="5461466"/>
          </a:xfrm>
          <a:custGeom>
            <a:avLst/>
            <a:gdLst/>
            <a:ahLst/>
            <a:cxnLst/>
            <a:rect r="r" b="b" t="t" l="l"/>
            <a:pathLst>
              <a:path h="5461466" w="5905838">
                <a:moveTo>
                  <a:pt x="0" y="0"/>
                </a:moveTo>
                <a:lnTo>
                  <a:pt x="5905838" y="0"/>
                </a:lnTo>
                <a:lnTo>
                  <a:pt x="5905838" y="5461466"/>
                </a:lnTo>
                <a:lnTo>
                  <a:pt x="0" y="5461466"/>
                </a:lnTo>
                <a:lnTo>
                  <a:pt x="0" y="0"/>
                </a:lnTo>
                <a:close/>
              </a:path>
            </a:pathLst>
          </a:custGeom>
          <a:blipFill>
            <a:blip r:embed="rId2"/>
            <a:stretch>
              <a:fillRect l="0" t="0" r="0" b="0"/>
            </a:stretch>
          </a:blipFill>
        </p:spPr>
      </p:sp>
      <p:sp>
        <p:nvSpPr>
          <p:cNvPr name="TextBox 6" id="6"/>
          <p:cNvSpPr txBox="true"/>
          <p:nvPr/>
        </p:nvSpPr>
        <p:spPr>
          <a:xfrm rot="0">
            <a:off x="1028700" y="1381869"/>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Thực nghiệm 2: A* – Manhattan heuristic</a:t>
            </a:r>
          </a:p>
        </p:txBody>
      </p:sp>
      <p:sp>
        <p:nvSpPr>
          <p:cNvPr name="TextBox 7" id="7"/>
          <p:cNvSpPr txBox="true"/>
          <p:nvPr/>
        </p:nvSpPr>
        <p:spPr>
          <a:xfrm rot="0">
            <a:off x="6885694" y="5019675"/>
            <a:ext cx="6774957" cy="35718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Hình trên thể hiện bản đồ giá trị f(n) = g(n) + h(n) khi sử dụng Manhattan heuristic trong môi trường lưới 4 hướng.</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Các ô đồng mức tạo “vùng phẳng” giữa S–G.</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Cần quy tắc phá hòa (tie-breaking).</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Đảm bảo tối ưu khi heuristic đúng.</a:t>
            </a:r>
          </a:p>
          <a:p>
            <a:pPr algn="l">
              <a:lnSpc>
                <a:spcPts val="4079"/>
              </a:lnSpc>
            </a:pPr>
          </a:p>
        </p:txBody>
      </p:sp>
      <p:sp>
        <p:nvSpPr>
          <p:cNvPr name="TextBox 8" id="8"/>
          <p:cNvSpPr txBox="true"/>
          <p:nvPr/>
        </p:nvSpPr>
        <p:spPr>
          <a:xfrm rot="0">
            <a:off x="1028700" y="306815"/>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2. Thực Nghiệm và kết quả </a:t>
            </a:r>
          </a:p>
        </p:txBody>
      </p:sp>
      <p:sp>
        <p:nvSpPr>
          <p:cNvPr name="TextBox 9" id="9"/>
          <p:cNvSpPr txBox="true"/>
          <p:nvPr/>
        </p:nvSpPr>
        <p:spPr>
          <a:xfrm rot="0">
            <a:off x="1028700" y="2161649"/>
            <a:ext cx="11332043" cy="20288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 Công </a:t>
            </a:r>
            <a:r>
              <a:rPr lang="en-US" sz="2400">
                <a:solidFill>
                  <a:srgbClr val="0F4662"/>
                </a:solidFill>
                <a:latin typeface="Quicksand"/>
                <a:ea typeface="Quicksand"/>
                <a:cs typeface="Quicksand"/>
                <a:sym typeface="Quicksand"/>
              </a:rPr>
              <a:t>thức chi phí:</a:t>
            </a:r>
            <a:r>
              <a:rPr lang="en-US" sz="2400">
                <a:solidFill>
                  <a:srgbClr val="0F4662"/>
                </a:solidFill>
                <a:latin typeface="Quicksand"/>
                <a:ea typeface="Quicksand"/>
                <a:cs typeface="Quicksand"/>
                <a:sym typeface="Quicksand"/>
              </a:rPr>
              <a:t>  f(n)=g(n)+h(n)</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 A* sử dụng đồng thời khoảng cách đã</a:t>
            </a:r>
            <a:r>
              <a:rPr lang="en-US" sz="2400">
                <a:solidFill>
                  <a:srgbClr val="0F4662"/>
                </a:solidFill>
                <a:latin typeface="Quicksand"/>
                <a:ea typeface="Quicksand"/>
                <a:cs typeface="Quicksand"/>
                <a:sym typeface="Quicksand"/>
              </a:rPr>
              <a:t> đi (g(n)) và ước lượng còn lại (h(n)), đảm bảo đường đi tối ưu nếu heuristic là admissible.</a:t>
            </a:r>
          </a:p>
          <a:p>
            <a:pPr algn="l">
              <a:lnSpc>
                <a:spcPts val="4079"/>
              </a:lnSpc>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7994A0"/>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462328" y="3676124"/>
            <a:ext cx="5928342" cy="5451183"/>
          </a:xfrm>
          <a:custGeom>
            <a:avLst/>
            <a:gdLst/>
            <a:ahLst/>
            <a:cxnLst/>
            <a:rect r="r" b="b" t="t" l="l"/>
            <a:pathLst>
              <a:path h="5451183" w="5928342">
                <a:moveTo>
                  <a:pt x="0" y="0"/>
                </a:moveTo>
                <a:lnTo>
                  <a:pt x="5928342" y="0"/>
                </a:lnTo>
                <a:lnTo>
                  <a:pt x="5928342" y="5451182"/>
                </a:lnTo>
                <a:lnTo>
                  <a:pt x="0" y="5451182"/>
                </a:lnTo>
                <a:lnTo>
                  <a:pt x="0" y="0"/>
                </a:lnTo>
                <a:close/>
              </a:path>
            </a:pathLst>
          </a:custGeom>
          <a:blipFill>
            <a:blip r:embed="rId2"/>
            <a:stretch>
              <a:fillRect l="0" t="0" r="0" b="0"/>
            </a:stretch>
          </a:blipFill>
        </p:spPr>
      </p:sp>
      <p:sp>
        <p:nvSpPr>
          <p:cNvPr name="TextBox 6" id="6"/>
          <p:cNvSpPr txBox="true"/>
          <p:nvPr/>
        </p:nvSpPr>
        <p:spPr>
          <a:xfrm rot="0">
            <a:off x="1028700" y="1381869"/>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Thực nghiệm 3: Weighted A*</a:t>
            </a:r>
          </a:p>
        </p:txBody>
      </p:sp>
      <p:sp>
        <p:nvSpPr>
          <p:cNvPr name="TextBox 7" id="7"/>
          <p:cNvSpPr txBox="true"/>
          <p:nvPr/>
        </p:nvSpPr>
        <p:spPr>
          <a:xfrm rot="0">
            <a:off x="1028700" y="306815"/>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2. Thực Nghiệm và kết quả </a:t>
            </a:r>
          </a:p>
        </p:txBody>
      </p:sp>
      <p:sp>
        <p:nvSpPr>
          <p:cNvPr name="TextBox 8" id="8"/>
          <p:cNvSpPr txBox="true"/>
          <p:nvPr/>
        </p:nvSpPr>
        <p:spPr>
          <a:xfrm rot="0">
            <a:off x="1028700" y="2161649"/>
            <a:ext cx="11332043"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f(n) =</a:t>
            </a:r>
            <a:r>
              <a:rPr lang="en-US" sz="2400">
                <a:solidFill>
                  <a:srgbClr val="0F4662"/>
                </a:solidFill>
                <a:latin typeface="Quicksand"/>
                <a:ea typeface="Quicksand"/>
                <a:cs typeface="Quicksand"/>
                <a:sym typeface="Quicksand"/>
              </a:rPr>
              <a:t> g(n) +</a:t>
            </a:r>
            <a:r>
              <a:rPr lang="en-US" sz="2400">
                <a:solidFill>
                  <a:srgbClr val="0F4662"/>
                </a:solidFill>
                <a:latin typeface="Quicksand"/>
                <a:ea typeface="Quicksand"/>
                <a:cs typeface="Quicksand"/>
                <a:sym typeface="Quicksand"/>
              </a:rPr>
              <a:t> w × h(n)</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Khi w &gt; 1 → nhanh hơn</a:t>
            </a:r>
            <a:r>
              <a:rPr lang="en-US" sz="2400">
                <a:solidFill>
                  <a:srgbClr val="0F4662"/>
                </a:solidFill>
                <a:latin typeface="Quicksand"/>
                <a:ea typeface="Quicksand"/>
                <a:cs typeface="Quicksand"/>
                <a:sym typeface="Quicksand"/>
              </a:rPr>
              <a:t>, kém tối ưu.</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Khi w &lt; 1 → chậm hơn, tối ưu hơn.</a:t>
            </a:r>
          </a:p>
        </p:txBody>
      </p:sp>
      <p:sp>
        <p:nvSpPr>
          <p:cNvPr name="TextBox 9" id="9"/>
          <p:cNvSpPr txBox="true"/>
          <p:nvPr/>
        </p:nvSpPr>
        <p:spPr>
          <a:xfrm rot="0">
            <a:off x="6694721" y="6287415"/>
            <a:ext cx="6448344" cy="2040137"/>
          </a:xfrm>
          <a:prstGeom prst="rect">
            <a:avLst/>
          </a:prstGeom>
        </p:spPr>
        <p:txBody>
          <a:bodyPr anchor="t" rtlCol="false" tIns="0" lIns="0" bIns="0" rIns="0">
            <a:spAutoFit/>
          </a:bodyPr>
          <a:lstStyle/>
          <a:p>
            <a:pPr algn="l" marL="523828" indent="-261914" lvl="1">
              <a:lnSpc>
                <a:spcPts val="4124"/>
              </a:lnSpc>
              <a:buFont typeface="Arial"/>
              <a:buChar char="•"/>
            </a:pPr>
            <a:r>
              <a:rPr lang="en-US" sz="2426">
                <a:solidFill>
                  <a:srgbClr val="0F4662"/>
                </a:solidFill>
                <a:latin typeface="Quicksand"/>
                <a:ea typeface="Quicksand"/>
                <a:cs typeface="Quicksand"/>
                <a:sym typeface="Quicksand"/>
              </a:rPr>
              <a:t>W &gt; 1 ( </a:t>
            </a:r>
            <a:r>
              <a:rPr lang="en-US" sz="2426">
                <a:solidFill>
                  <a:srgbClr val="0F4662"/>
                </a:solidFill>
                <a:latin typeface="Quicksand"/>
                <a:ea typeface="Quicksand"/>
                <a:cs typeface="Quicksand"/>
                <a:sym typeface="Quicksand"/>
              </a:rPr>
              <a:t>W = 1.1)</a:t>
            </a:r>
          </a:p>
          <a:p>
            <a:pPr algn="l" marL="523828" indent="-261914" lvl="1">
              <a:lnSpc>
                <a:spcPts val="4124"/>
              </a:lnSpc>
              <a:buFont typeface="Arial"/>
              <a:buChar char="•"/>
            </a:pPr>
            <a:r>
              <a:rPr lang="en-US" sz="2426">
                <a:solidFill>
                  <a:srgbClr val="0F4662"/>
                </a:solidFill>
                <a:latin typeface="Quicksand"/>
                <a:ea typeface="Quicksand"/>
                <a:cs typeface="Quicksand"/>
                <a:sym typeface="Quicksand"/>
              </a:rPr>
              <a:t>Khi W tăng nhẹ, thuật toán mở rộng theo hướng gần G hơn, nhưng vẫn giữ được tính chặt chẽ của A*.</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4278759" y="0"/>
            <a:ext cx="4009241" cy="10287000"/>
            <a:chOff x="0" y="0"/>
            <a:chExt cx="1055932" cy="2709333"/>
          </a:xfrm>
        </p:grpSpPr>
        <p:sp>
          <p:nvSpPr>
            <p:cNvPr name="Freeform 3" id="3"/>
            <p:cNvSpPr/>
            <p:nvPr/>
          </p:nvSpPr>
          <p:spPr>
            <a:xfrm flipH="false" flipV="false" rot="0">
              <a:off x="0" y="0"/>
              <a:ext cx="1055932" cy="2709333"/>
            </a:xfrm>
            <a:custGeom>
              <a:avLst/>
              <a:gdLst/>
              <a:ahLst/>
              <a:cxnLst/>
              <a:rect r="r" b="b" t="t" l="l"/>
              <a:pathLst>
                <a:path h="2709333" w="1055932">
                  <a:moveTo>
                    <a:pt x="0" y="0"/>
                  </a:moveTo>
                  <a:lnTo>
                    <a:pt x="1055932" y="0"/>
                  </a:lnTo>
                  <a:lnTo>
                    <a:pt x="1055932" y="2709333"/>
                  </a:lnTo>
                  <a:lnTo>
                    <a:pt x="0" y="2709333"/>
                  </a:lnTo>
                  <a:close/>
                </a:path>
              </a:pathLst>
            </a:custGeom>
            <a:solidFill>
              <a:srgbClr val="7994A0"/>
            </a:solidFill>
          </p:spPr>
        </p:sp>
        <p:sp>
          <p:nvSpPr>
            <p:cNvPr name="TextBox 4" id="4"/>
            <p:cNvSpPr txBox="true"/>
            <p:nvPr/>
          </p:nvSpPr>
          <p:spPr>
            <a:xfrm>
              <a:off x="0" y="-123825"/>
              <a:ext cx="1055932"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303172" y="2429275"/>
            <a:ext cx="5941299" cy="5448605"/>
          </a:xfrm>
          <a:custGeom>
            <a:avLst/>
            <a:gdLst/>
            <a:ahLst/>
            <a:cxnLst/>
            <a:rect r="r" b="b" t="t" l="l"/>
            <a:pathLst>
              <a:path h="5448605" w="5941299">
                <a:moveTo>
                  <a:pt x="0" y="0"/>
                </a:moveTo>
                <a:lnTo>
                  <a:pt x="5941298" y="0"/>
                </a:lnTo>
                <a:lnTo>
                  <a:pt x="5941298" y="5448606"/>
                </a:lnTo>
                <a:lnTo>
                  <a:pt x="0" y="5448606"/>
                </a:lnTo>
                <a:lnTo>
                  <a:pt x="0" y="0"/>
                </a:lnTo>
                <a:close/>
              </a:path>
            </a:pathLst>
          </a:custGeom>
          <a:blipFill>
            <a:blip r:embed="rId2"/>
            <a:stretch>
              <a:fillRect l="0" t="0" r="0" b="0"/>
            </a:stretch>
          </a:blipFill>
        </p:spPr>
      </p:sp>
      <p:sp>
        <p:nvSpPr>
          <p:cNvPr name="Freeform 6" id="6"/>
          <p:cNvSpPr/>
          <p:nvPr/>
        </p:nvSpPr>
        <p:spPr>
          <a:xfrm flipH="false" flipV="false" rot="0">
            <a:off x="7913968" y="2285474"/>
            <a:ext cx="5980570" cy="5440860"/>
          </a:xfrm>
          <a:custGeom>
            <a:avLst/>
            <a:gdLst/>
            <a:ahLst/>
            <a:cxnLst/>
            <a:rect r="r" b="b" t="t" l="l"/>
            <a:pathLst>
              <a:path h="5440860" w="5980570">
                <a:moveTo>
                  <a:pt x="0" y="0"/>
                </a:moveTo>
                <a:lnTo>
                  <a:pt x="5980570" y="0"/>
                </a:lnTo>
                <a:lnTo>
                  <a:pt x="5980570" y="5440859"/>
                </a:lnTo>
                <a:lnTo>
                  <a:pt x="0" y="5440859"/>
                </a:lnTo>
                <a:lnTo>
                  <a:pt x="0" y="0"/>
                </a:lnTo>
                <a:close/>
              </a:path>
            </a:pathLst>
          </a:custGeom>
          <a:blipFill>
            <a:blip r:embed="rId3"/>
            <a:stretch>
              <a:fillRect l="0" t="0" r="0" b="0"/>
            </a:stretch>
          </a:blipFill>
        </p:spPr>
      </p:sp>
      <p:sp>
        <p:nvSpPr>
          <p:cNvPr name="TextBox 7" id="7"/>
          <p:cNvSpPr txBox="true"/>
          <p:nvPr/>
        </p:nvSpPr>
        <p:spPr>
          <a:xfrm rot="0">
            <a:off x="1028700" y="1381869"/>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Thực nghiệm 3: Weighted A*</a:t>
            </a:r>
          </a:p>
        </p:txBody>
      </p:sp>
      <p:sp>
        <p:nvSpPr>
          <p:cNvPr name="TextBox 8" id="8"/>
          <p:cNvSpPr txBox="true"/>
          <p:nvPr/>
        </p:nvSpPr>
        <p:spPr>
          <a:xfrm rot="0">
            <a:off x="1028700" y="306815"/>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2. Thực Nghiệm và kết quả </a:t>
            </a:r>
          </a:p>
        </p:txBody>
      </p:sp>
      <p:sp>
        <p:nvSpPr>
          <p:cNvPr name="TextBox 9" id="9"/>
          <p:cNvSpPr txBox="true"/>
          <p:nvPr/>
        </p:nvSpPr>
        <p:spPr>
          <a:xfrm rot="0">
            <a:off x="587194" y="7906456"/>
            <a:ext cx="6448344" cy="2040137"/>
          </a:xfrm>
          <a:prstGeom prst="rect">
            <a:avLst/>
          </a:prstGeom>
        </p:spPr>
        <p:txBody>
          <a:bodyPr anchor="t" rtlCol="false" tIns="0" lIns="0" bIns="0" rIns="0">
            <a:spAutoFit/>
          </a:bodyPr>
          <a:lstStyle/>
          <a:p>
            <a:pPr algn="l" marL="523828" indent="-261914" lvl="1">
              <a:lnSpc>
                <a:spcPts val="4124"/>
              </a:lnSpc>
              <a:buFont typeface="Arial"/>
              <a:buChar char="•"/>
            </a:pPr>
            <a:r>
              <a:rPr lang="en-US" sz="2426">
                <a:solidFill>
                  <a:srgbClr val="0F4662"/>
                </a:solidFill>
                <a:latin typeface="Quicksand"/>
                <a:ea typeface="Quicksand"/>
                <a:cs typeface="Quicksand"/>
                <a:sym typeface="Quicksand"/>
              </a:rPr>
              <a:t>Giá trị </a:t>
            </a:r>
            <a:r>
              <a:rPr lang="en-US" sz="2426">
                <a:solidFill>
                  <a:srgbClr val="0F4662"/>
                </a:solidFill>
                <a:latin typeface="Quicksand"/>
                <a:ea typeface="Quicksand"/>
                <a:cs typeface="Quicksand"/>
                <a:sym typeface="Quicksand"/>
              </a:rPr>
              <a:t>W = 5</a:t>
            </a:r>
          </a:p>
          <a:p>
            <a:pPr algn="l" marL="523828" indent="-261914" lvl="1">
              <a:lnSpc>
                <a:spcPts val="4124"/>
              </a:lnSpc>
              <a:buFont typeface="Arial"/>
              <a:buChar char="•"/>
            </a:pPr>
            <a:r>
              <a:rPr lang="en-US" sz="2426">
                <a:solidFill>
                  <a:srgbClr val="0F4662"/>
                </a:solidFill>
                <a:latin typeface="Quicksand"/>
                <a:ea typeface="Quicksand"/>
                <a:cs typeface="Quicksand"/>
                <a:sym typeface="Quicksand"/>
              </a:rPr>
              <a:t> Với W lớn, Weighted A* tiến gần GBFS — mở rộng mạnh về phía G, bỏ qua chi phí g(n). Tốc độ nhanh nhưng không tối ưu.</a:t>
            </a:r>
          </a:p>
        </p:txBody>
      </p:sp>
      <p:sp>
        <p:nvSpPr>
          <p:cNvPr name="TextBox 10" id="10"/>
          <p:cNvSpPr txBox="true"/>
          <p:nvPr/>
        </p:nvSpPr>
        <p:spPr>
          <a:xfrm rot="0">
            <a:off x="7680081" y="7983489"/>
            <a:ext cx="6448344" cy="2040137"/>
          </a:xfrm>
          <a:prstGeom prst="rect">
            <a:avLst/>
          </a:prstGeom>
        </p:spPr>
        <p:txBody>
          <a:bodyPr anchor="t" rtlCol="false" tIns="0" lIns="0" bIns="0" rIns="0">
            <a:spAutoFit/>
          </a:bodyPr>
          <a:lstStyle/>
          <a:p>
            <a:pPr algn="l" marL="523828" indent="-261914" lvl="1">
              <a:lnSpc>
                <a:spcPts val="4124"/>
              </a:lnSpc>
              <a:buFont typeface="Arial"/>
              <a:buChar char="•"/>
            </a:pPr>
            <a:r>
              <a:rPr lang="en-US" sz="2426">
                <a:solidFill>
                  <a:srgbClr val="0F4662"/>
                </a:solidFill>
                <a:latin typeface="Quicksand"/>
                <a:ea typeface="Quicksand"/>
                <a:cs typeface="Quicksand"/>
                <a:sym typeface="Quicksand"/>
              </a:rPr>
              <a:t>Giá trị </a:t>
            </a:r>
            <a:r>
              <a:rPr lang="en-US" sz="2426">
                <a:solidFill>
                  <a:srgbClr val="0F4662"/>
                </a:solidFill>
                <a:latin typeface="Quicksand"/>
                <a:ea typeface="Quicksand"/>
                <a:cs typeface="Quicksand"/>
                <a:sym typeface="Quicksand"/>
              </a:rPr>
              <a:t>W &lt; 1 (W = 0.5)</a:t>
            </a:r>
          </a:p>
          <a:p>
            <a:pPr algn="l" marL="523828" indent="-261914" lvl="1">
              <a:lnSpc>
                <a:spcPts val="4124"/>
              </a:lnSpc>
              <a:buFont typeface="Arial"/>
              <a:buChar char="•"/>
            </a:pPr>
            <a:r>
              <a:rPr lang="en-US" sz="2426">
                <a:solidFill>
                  <a:srgbClr val="0F4662"/>
                </a:solidFill>
                <a:latin typeface="Quicksand"/>
                <a:ea typeface="Quicksand"/>
                <a:cs typeface="Quicksand"/>
                <a:sym typeface="Quicksand"/>
              </a:rPr>
              <a:t>Khi W nhỏ hơn 1, tìm kiếm giống Uniform-cost search, mở rộng rộng hơn quanh S, đảm bảo tối ưu nhưng tốn thời gian hơn.</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7994A0"/>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3786090" y="2285474"/>
            <a:ext cx="3511350" cy="364566"/>
          </a:xfrm>
          <a:custGeom>
            <a:avLst/>
            <a:gdLst/>
            <a:ahLst/>
            <a:cxnLst/>
            <a:rect r="r" b="b" t="t" l="l"/>
            <a:pathLst>
              <a:path h="364566" w="3511350">
                <a:moveTo>
                  <a:pt x="0" y="0"/>
                </a:moveTo>
                <a:lnTo>
                  <a:pt x="3511350" y="0"/>
                </a:lnTo>
                <a:lnTo>
                  <a:pt x="3511350" y="364566"/>
                </a:lnTo>
                <a:lnTo>
                  <a:pt x="0" y="364566"/>
                </a:lnTo>
                <a:lnTo>
                  <a:pt x="0" y="0"/>
                </a:lnTo>
                <a:close/>
              </a:path>
            </a:pathLst>
          </a:custGeom>
          <a:blipFill>
            <a:blip r:embed="rId2"/>
            <a:stretch>
              <a:fillRect l="0" t="0" r="0" b="0"/>
            </a:stretch>
          </a:blipFill>
        </p:spPr>
      </p:sp>
      <p:sp>
        <p:nvSpPr>
          <p:cNvPr name="Freeform 6" id="6"/>
          <p:cNvSpPr/>
          <p:nvPr/>
        </p:nvSpPr>
        <p:spPr>
          <a:xfrm flipH="false" flipV="false" rot="0">
            <a:off x="1028700" y="3676717"/>
            <a:ext cx="5864536" cy="5464031"/>
          </a:xfrm>
          <a:custGeom>
            <a:avLst/>
            <a:gdLst/>
            <a:ahLst/>
            <a:cxnLst/>
            <a:rect r="r" b="b" t="t" l="l"/>
            <a:pathLst>
              <a:path h="5464031" w="5864536">
                <a:moveTo>
                  <a:pt x="0" y="0"/>
                </a:moveTo>
                <a:lnTo>
                  <a:pt x="5864536" y="0"/>
                </a:lnTo>
                <a:lnTo>
                  <a:pt x="5864536" y="5464032"/>
                </a:lnTo>
                <a:lnTo>
                  <a:pt x="0" y="5464032"/>
                </a:lnTo>
                <a:lnTo>
                  <a:pt x="0" y="0"/>
                </a:lnTo>
                <a:close/>
              </a:path>
            </a:pathLst>
          </a:custGeom>
          <a:blipFill>
            <a:blip r:embed="rId3"/>
            <a:stretch>
              <a:fillRect l="0" t="0" r="0" b="0"/>
            </a:stretch>
          </a:blipFill>
        </p:spPr>
      </p:sp>
      <p:sp>
        <p:nvSpPr>
          <p:cNvPr name="TextBox 7" id="7"/>
          <p:cNvSpPr txBox="true"/>
          <p:nvPr/>
        </p:nvSpPr>
        <p:spPr>
          <a:xfrm rot="0">
            <a:off x="1028700" y="1381869"/>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Thực nghiệm 4: GBFS với heuristic Euclidean</a:t>
            </a:r>
          </a:p>
        </p:txBody>
      </p:sp>
      <p:sp>
        <p:nvSpPr>
          <p:cNvPr name="TextBox 8" id="8"/>
          <p:cNvSpPr txBox="true"/>
          <p:nvPr/>
        </p:nvSpPr>
        <p:spPr>
          <a:xfrm rot="0">
            <a:off x="6694721" y="5657240"/>
            <a:ext cx="6774957" cy="25431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Các vùng màu sáng (ở giữa) biểu diễn các nút có giá trị f nhỏ nhất.</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GBFS </a:t>
            </a:r>
            <a:r>
              <a:rPr lang="en-US" sz="2400">
                <a:solidFill>
                  <a:srgbClr val="0F4662"/>
                </a:solidFill>
                <a:latin typeface="Quicksand"/>
                <a:ea typeface="Quicksand"/>
                <a:cs typeface="Quicksand"/>
                <a:sym typeface="Quicksand"/>
              </a:rPr>
              <a:t>mở rộng chủ yếu theo đường thẳng nối S–G.</a:t>
            </a:r>
          </a:p>
          <a:p>
            <a:pPr algn="l">
              <a:lnSpc>
                <a:spcPts val="4079"/>
              </a:lnSpc>
            </a:pPr>
          </a:p>
        </p:txBody>
      </p:sp>
      <p:sp>
        <p:nvSpPr>
          <p:cNvPr name="TextBox 9" id="9"/>
          <p:cNvSpPr txBox="true"/>
          <p:nvPr/>
        </p:nvSpPr>
        <p:spPr>
          <a:xfrm rot="0">
            <a:off x="1028700" y="306815"/>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2. Thực Nghiệm và kết quả </a:t>
            </a:r>
          </a:p>
        </p:txBody>
      </p:sp>
      <p:sp>
        <p:nvSpPr>
          <p:cNvPr name="TextBox 10" id="10"/>
          <p:cNvSpPr txBox="true"/>
          <p:nvPr/>
        </p:nvSpPr>
        <p:spPr>
          <a:xfrm rot="0">
            <a:off x="1028700" y="2162242"/>
            <a:ext cx="11332043"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H</a:t>
            </a:r>
            <a:r>
              <a:rPr lang="en-US" sz="2400">
                <a:solidFill>
                  <a:srgbClr val="0F4662"/>
                </a:solidFill>
                <a:latin typeface="Quicksand"/>
                <a:ea typeface="Quicksand"/>
                <a:cs typeface="Quicksand"/>
                <a:sym typeface="Quicksand"/>
              </a:rPr>
              <a:t>àm heuris</a:t>
            </a:r>
            <a:r>
              <a:rPr lang="en-US" sz="2400">
                <a:solidFill>
                  <a:srgbClr val="0F4662"/>
                </a:solidFill>
                <a:latin typeface="Quicksand"/>
                <a:ea typeface="Quicksand"/>
                <a:cs typeface="Quicksand"/>
                <a:sym typeface="Quicksand"/>
              </a:rPr>
              <a:t>tic: </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 Kết quả hiển thị lưới f(n) cho thấy các giá trị tăng dần từ </a:t>
            </a:r>
            <a:r>
              <a:rPr lang="en-US" b="true" sz="2400">
                <a:solidFill>
                  <a:srgbClr val="0F4662"/>
                </a:solidFill>
                <a:latin typeface="Quicksand Bold"/>
                <a:ea typeface="Quicksand Bold"/>
                <a:cs typeface="Quicksand Bold"/>
                <a:sym typeface="Quicksand Bold"/>
              </a:rPr>
              <a:t>S</a:t>
            </a:r>
            <a:r>
              <a:rPr lang="en-US" sz="2400">
                <a:solidFill>
                  <a:srgbClr val="0F4662"/>
                </a:solidFill>
                <a:latin typeface="Quicksand"/>
                <a:ea typeface="Quicksand"/>
                <a:cs typeface="Quicksand"/>
                <a:sym typeface="Quicksand"/>
              </a:rPr>
              <a:t> đến </a:t>
            </a:r>
            <a:r>
              <a:rPr lang="en-US" b="true" sz="2400">
                <a:solidFill>
                  <a:srgbClr val="0F4662"/>
                </a:solidFill>
                <a:latin typeface="Quicksand Bold"/>
                <a:ea typeface="Quicksand Bold"/>
                <a:cs typeface="Quicksand Bold"/>
                <a:sym typeface="Quicksand Bold"/>
              </a:rPr>
              <a:t>G</a:t>
            </a:r>
            <a:r>
              <a:rPr lang="en-US" sz="2400">
                <a:solidFill>
                  <a:srgbClr val="0F4662"/>
                </a:solidFill>
                <a:latin typeface="Quicksand"/>
                <a:ea typeface="Quicksand"/>
                <a:cs typeface="Quicksand"/>
                <a:sym typeface="Quicksand"/>
              </a:rPr>
              <a:t>, và đường gradient mô tả hướng tìm kiếm ngắn nhất trong không gian Euclidean.</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7994A0"/>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680800" y="3438592"/>
            <a:ext cx="5823421" cy="5466594"/>
          </a:xfrm>
          <a:custGeom>
            <a:avLst/>
            <a:gdLst/>
            <a:ahLst/>
            <a:cxnLst/>
            <a:rect r="r" b="b" t="t" l="l"/>
            <a:pathLst>
              <a:path h="5466594" w="5823421">
                <a:moveTo>
                  <a:pt x="0" y="0"/>
                </a:moveTo>
                <a:lnTo>
                  <a:pt x="5823421" y="0"/>
                </a:lnTo>
                <a:lnTo>
                  <a:pt x="5823421" y="5466594"/>
                </a:lnTo>
                <a:lnTo>
                  <a:pt x="0" y="5466594"/>
                </a:lnTo>
                <a:lnTo>
                  <a:pt x="0" y="0"/>
                </a:lnTo>
                <a:close/>
              </a:path>
            </a:pathLst>
          </a:custGeom>
          <a:blipFill>
            <a:blip r:embed="rId2"/>
            <a:stretch>
              <a:fillRect l="0" t="0" r="0" b="0"/>
            </a:stretch>
          </a:blipFill>
        </p:spPr>
      </p:sp>
      <p:sp>
        <p:nvSpPr>
          <p:cNvPr name="TextBox 6" id="6"/>
          <p:cNvSpPr txBox="true"/>
          <p:nvPr/>
        </p:nvSpPr>
        <p:spPr>
          <a:xfrm rot="0">
            <a:off x="1028700" y="1381869"/>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Thực nghiệm 5: A* với heuristic Euclidean</a:t>
            </a:r>
          </a:p>
        </p:txBody>
      </p:sp>
      <p:sp>
        <p:nvSpPr>
          <p:cNvPr name="TextBox 7" id="7"/>
          <p:cNvSpPr txBox="true"/>
          <p:nvPr/>
        </p:nvSpPr>
        <p:spPr>
          <a:xfrm rot="0">
            <a:off x="6694957" y="4796304"/>
            <a:ext cx="6774957" cy="35718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 </a:t>
            </a:r>
            <a:r>
              <a:rPr lang="en-US" sz="2400">
                <a:solidFill>
                  <a:srgbClr val="0F4662"/>
                </a:solidFill>
                <a:latin typeface="Quicksand"/>
                <a:ea typeface="Quicksand"/>
                <a:cs typeface="Quicksand"/>
                <a:sym typeface="Quicksand"/>
              </a:rPr>
              <a:t>Kết quả </a:t>
            </a:r>
            <a:r>
              <a:rPr lang="en-US" sz="2400">
                <a:solidFill>
                  <a:srgbClr val="0F4662"/>
                </a:solidFill>
                <a:latin typeface="Quicksand"/>
                <a:ea typeface="Quicksand"/>
                <a:cs typeface="Quicksand"/>
                <a:sym typeface="Quicksand"/>
              </a:rPr>
              <a:t>cho thấy thuật toán tìm được đường đi tối ưu nhất, mở rộng số lượng nút ít hơn đáng kể so với tìm kiếm theo BFS.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 Các ô trung gian thể hiện rõ “vệt sáng” từ S đến G, biểu thị quá trình </a:t>
            </a:r>
            <a:r>
              <a:rPr lang="en-US" sz="2400">
                <a:solidFill>
                  <a:srgbClr val="0F4662"/>
                </a:solidFill>
                <a:latin typeface="Quicksand"/>
                <a:ea typeface="Quicksand"/>
                <a:cs typeface="Quicksand"/>
                <a:sym typeface="Quicksand"/>
              </a:rPr>
              <a:t>mở rộng dọc theo hướng có chi phí thấp nhất.</a:t>
            </a:r>
          </a:p>
          <a:p>
            <a:pPr algn="l">
              <a:lnSpc>
                <a:spcPts val="4079"/>
              </a:lnSpc>
            </a:pPr>
          </a:p>
        </p:txBody>
      </p:sp>
      <p:sp>
        <p:nvSpPr>
          <p:cNvPr name="TextBox 8" id="8"/>
          <p:cNvSpPr txBox="true"/>
          <p:nvPr/>
        </p:nvSpPr>
        <p:spPr>
          <a:xfrm rot="0">
            <a:off x="1028700" y="306815"/>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2. Thực Nghiệm và kết quả </a:t>
            </a:r>
          </a:p>
        </p:txBody>
      </p:sp>
      <p:sp>
        <p:nvSpPr>
          <p:cNvPr name="TextBox 9" id="9"/>
          <p:cNvSpPr txBox="true"/>
          <p:nvPr/>
        </p:nvSpPr>
        <p:spPr>
          <a:xfrm rot="0">
            <a:off x="1028700" y="2162242"/>
            <a:ext cx="11332043" cy="10001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 Khi áp dụng A*, hàm chi phí:</a:t>
            </a:r>
          </a:p>
          <a:p>
            <a:pPr algn="l">
              <a:lnSpc>
                <a:spcPts val="4079"/>
              </a:lnSpc>
            </a:pPr>
            <a:r>
              <a:rPr lang="en-US" sz="2400">
                <a:solidFill>
                  <a:srgbClr val="0F4662"/>
                </a:solidFill>
                <a:latin typeface="Quicksand"/>
                <a:ea typeface="Quicksand"/>
                <a:cs typeface="Quicksand"/>
                <a:sym typeface="Quicksand"/>
              </a:rPr>
              <a:t>                  f(n)=g(n)+h(n)</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7994A0"/>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3592511" y="2981392"/>
            <a:ext cx="3762070" cy="498838"/>
          </a:xfrm>
          <a:custGeom>
            <a:avLst/>
            <a:gdLst/>
            <a:ahLst/>
            <a:cxnLst/>
            <a:rect r="r" b="b" t="t" l="l"/>
            <a:pathLst>
              <a:path h="498838" w="3762070">
                <a:moveTo>
                  <a:pt x="0" y="0"/>
                </a:moveTo>
                <a:lnTo>
                  <a:pt x="3762070" y="0"/>
                </a:lnTo>
                <a:lnTo>
                  <a:pt x="3762070" y="498838"/>
                </a:lnTo>
                <a:lnTo>
                  <a:pt x="0" y="498838"/>
                </a:lnTo>
                <a:lnTo>
                  <a:pt x="0" y="0"/>
                </a:lnTo>
                <a:close/>
              </a:path>
            </a:pathLst>
          </a:custGeom>
          <a:blipFill>
            <a:blip r:embed="rId2"/>
            <a:stretch>
              <a:fillRect l="0" t="0" r="0" b="0"/>
            </a:stretch>
          </a:blipFill>
        </p:spPr>
      </p:sp>
      <p:sp>
        <p:nvSpPr>
          <p:cNvPr name="Freeform 6" id="6"/>
          <p:cNvSpPr/>
          <p:nvPr/>
        </p:nvSpPr>
        <p:spPr>
          <a:xfrm flipH="false" flipV="false" rot="0">
            <a:off x="780839" y="3807117"/>
            <a:ext cx="5913882" cy="5451183"/>
          </a:xfrm>
          <a:custGeom>
            <a:avLst/>
            <a:gdLst/>
            <a:ahLst/>
            <a:cxnLst/>
            <a:rect r="r" b="b" t="t" l="l"/>
            <a:pathLst>
              <a:path h="5451183" w="5913882">
                <a:moveTo>
                  <a:pt x="0" y="0"/>
                </a:moveTo>
                <a:lnTo>
                  <a:pt x="5913882" y="0"/>
                </a:lnTo>
                <a:lnTo>
                  <a:pt x="5913882" y="5451183"/>
                </a:lnTo>
                <a:lnTo>
                  <a:pt x="0" y="5451183"/>
                </a:lnTo>
                <a:lnTo>
                  <a:pt x="0" y="0"/>
                </a:lnTo>
                <a:close/>
              </a:path>
            </a:pathLst>
          </a:custGeom>
          <a:blipFill>
            <a:blip r:embed="rId3"/>
            <a:stretch>
              <a:fillRect l="0" t="0" r="0" b="0"/>
            </a:stretch>
          </a:blipFill>
        </p:spPr>
      </p:sp>
      <p:sp>
        <p:nvSpPr>
          <p:cNvPr name="TextBox 7" id="7"/>
          <p:cNvSpPr txBox="true"/>
          <p:nvPr/>
        </p:nvSpPr>
        <p:spPr>
          <a:xfrm rot="0">
            <a:off x="1028700" y="1381869"/>
            <a:ext cx="12441215"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Thực nghiệm 6: A* với Chebyshev heuristic (L∞)</a:t>
            </a:r>
          </a:p>
        </p:txBody>
      </p:sp>
      <p:sp>
        <p:nvSpPr>
          <p:cNvPr name="TextBox 8" id="8"/>
          <p:cNvSpPr txBox="true"/>
          <p:nvPr/>
        </p:nvSpPr>
        <p:spPr>
          <a:xfrm rot="0">
            <a:off x="6694721" y="4248217"/>
            <a:ext cx="6774957" cy="46005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Đường đi</a:t>
            </a:r>
            <a:r>
              <a:rPr lang="en-US" sz="2400">
                <a:solidFill>
                  <a:srgbClr val="0F4662"/>
                </a:solidFill>
                <a:latin typeface="Quicksand"/>
                <a:ea typeface="Quicksand"/>
                <a:cs typeface="Quicksand"/>
                <a:sym typeface="Quicksand"/>
              </a:rPr>
              <a:t> ngắn n</a:t>
            </a:r>
            <a:r>
              <a:rPr lang="en-US" sz="2400">
                <a:solidFill>
                  <a:srgbClr val="0F4662"/>
                </a:solidFill>
                <a:latin typeface="Quicksand"/>
                <a:ea typeface="Quicksand"/>
                <a:cs typeface="Quicksand"/>
                <a:sym typeface="Quicksand"/>
              </a:rPr>
              <a:t>hất này có thể là đường chéo.</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Hình minh họa cho thấy gradient “vuông tròn” – các vòng đồng mức bao quanh điểm S và G có dạng hình vuông, thay vì đường tròn như Euclidean.</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Heuristic này vẫn admissible, đả</a:t>
            </a:r>
            <a:r>
              <a:rPr lang="en-US" sz="2400">
                <a:solidFill>
                  <a:srgbClr val="0F4662"/>
                </a:solidFill>
                <a:latin typeface="Quicksand"/>
                <a:ea typeface="Quicksand"/>
                <a:cs typeface="Quicksand"/>
                <a:sym typeface="Quicksand"/>
              </a:rPr>
              <a:t>m bảo A* tìm được đường đi tối ưu.</a:t>
            </a:r>
          </a:p>
          <a:p>
            <a:pPr algn="l">
              <a:lnSpc>
                <a:spcPts val="4079"/>
              </a:lnSpc>
            </a:pPr>
          </a:p>
        </p:txBody>
      </p:sp>
      <p:sp>
        <p:nvSpPr>
          <p:cNvPr name="TextBox 9" id="9"/>
          <p:cNvSpPr txBox="true"/>
          <p:nvPr/>
        </p:nvSpPr>
        <p:spPr>
          <a:xfrm rot="0">
            <a:off x="1028700" y="306815"/>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2. Thực Nghiệm và kết quả </a:t>
            </a:r>
          </a:p>
        </p:txBody>
      </p:sp>
      <p:sp>
        <p:nvSpPr>
          <p:cNvPr name="TextBox 10" id="10"/>
          <p:cNvSpPr txBox="true"/>
          <p:nvPr/>
        </p:nvSpPr>
        <p:spPr>
          <a:xfrm rot="0">
            <a:off x="1028700" y="2162242"/>
            <a:ext cx="11332043"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 Khi cho phép di chuyển chéo (diagonally) với chi phí 1, ta dùng khoảng cách Chebyshev:</a:t>
            </a:r>
          </a:p>
          <a:p>
            <a:pPr algn="l">
              <a:lnSpc>
                <a:spcPts val="4079"/>
              </a:lnSpc>
            </a:pP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7994A0"/>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928393" y="4505821"/>
            <a:ext cx="5766329" cy="5466594"/>
          </a:xfrm>
          <a:custGeom>
            <a:avLst/>
            <a:gdLst/>
            <a:ahLst/>
            <a:cxnLst/>
            <a:rect r="r" b="b" t="t" l="l"/>
            <a:pathLst>
              <a:path h="5466594" w="5766329">
                <a:moveTo>
                  <a:pt x="0" y="0"/>
                </a:moveTo>
                <a:lnTo>
                  <a:pt x="5766328" y="0"/>
                </a:lnTo>
                <a:lnTo>
                  <a:pt x="5766328" y="5466594"/>
                </a:lnTo>
                <a:lnTo>
                  <a:pt x="0" y="5466594"/>
                </a:lnTo>
                <a:lnTo>
                  <a:pt x="0" y="0"/>
                </a:lnTo>
                <a:close/>
              </a:path>
            </a:pathLst>
          </a:custGeom>
          <a:blipFill>
            <a:blip r:embed="rId2"/>
            <a:stretch>
              <a:fillRect l="0" t="0" r="0" b="0"/>
            </a:stretch>
          </a:blipFill>
        </p:spPr>
      </p:sp>
      <p:sp>
        <p:nvSpPr>
          <p:cNvPr name="TextBox 6" id="6"/>
          <p:cNvSpPr txBox="true"/>
          <p:nvPr/>
        </p:nvSpPr>
        <p:spPr>
          <a:xfrm rot="0">
            <a:off x="1028700" y="1419969"/>
            <a:ext cx="12441215" cy="653413"/>
          </a:xfrm>
          <a:prstGeom prst="rect">
            <a:avLst/>
          </a:prstGeom>
        </p:spPr>
        <p:txBody>
          <a:bodyPr anchor="t" rtlCol="false" tIns="0" lIns="0" bIns="0" rIns="0">
            <a:spAutoFit/>
          </a:bodyPr>
          <a:lstStyle/>
          <a:p>
            <a:pPr algn="l" marL="0" indent="0" lvl="0">
              <a:lnSpc>
                <a:spcPts val="5460"/>
              </a:lnSpc>
              <a:spcBef>
                <a:spcPct val="0"/>
              </a:spcBef>
            </a:pPr>
            <a:r>
              <a:rPr lang="en-US" b="true" sz="3900" i="true">
                <a:solidFill>
                  <a:srgbClr val="0F4662"/>
                </a:solidFill>
                <a:latin typeface="Cormorant Garamond Bold Italics"/>
                <a:ea typeface="Cormorant Garamond Bold Italics"/>
                <a:cs typeface="Cormorant Garamond Bold Italics"/>
                <a:sym typeface="Cormorant Garamond Bold Italics"/>
              </a:rPr>
              <a:t>Thực nghiệm 7: A* với Euclidean heuristic trong không gian liên tục</a:t>
            </a:r>
          </a:p>
        </p:txBody>
      </p:sp>
      <p:sp>
        <p:nvSpPr>
          <p:cNvPr name="TextBox 7" id="7"/>
          <p:cNvSpPr txBox="true"/>
          <p:nvPr/>
        </p:nvSpPr>
        <p:spPr>
          <a:xfrm rot="0">
            <a:off x="6694957" y="5495026"/>
            <a:ext cx="6774957" cy="20288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Gradie</a:t>
            </a:r>
            <a:r>
              <a:rPr lang="en-US" sz="2400">
                <a:solidFill>
                  <a:srgbClr val="0F4662"/>
                </a:solidFill>
                <a:latin typeface="Quicksand"/>
                <a:ea typeface="Quicksand"/>
                <a:cs typeface="Quicksand"/>
                <a:sym typeface="Quicksand"/>
              </a:rPr>
              <a:t>n</a:t>
            </a:r>
            <a:r>
              <a:rPr lang="en-US" sz="2400">
                <a:solidFill>
                  <a:srgbClr val="0F4662"/>
                </a:solidFill>
                <a:latin typeface="Quicksand"/>
                <a:ea typeface="Quicksand"/>
                <a:cs typeface="Quicksand"/>
                <a:sym typeface="Quicksand"/>
              </a:rPr>
              <a:t>t mượt, đối xứng tròn quanh S và G.</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Màu sắc chuyển dần đều từ nhạt đến đậ</a:t>
            </a:r>
            <a:r>
              <a:rPr lang="en-US" sz="2400">
                <a:solidFill>
                  <a:srgbClr val="0F4662"/>
                </a:solidFill>
                <a:latin typeface="Quicksand"/>
                <a:ea typeface="Quicksand"/>
                <a:cs typeface="Quicksand"/>
                <a:sym typeface="Quicksand"/>
              </a:rPr>
              <a:t>m theo hướng xa dần S–G.</a:t>
            </a:r>
          </a:p>
          <a:p>
            <a:pPr algn="l">
              <a:lnSpc>
                <a:spcPts val="4079"/>
              </a:lnSpc>
            </a:pPr>
          </a:p>
        </p:txBody>
      </p:sp>
      <p:sp>
        <p:nvSpPr>
          <p:cNvPr name="TextBox 8" id="8"/>
          <p:cNvSpPr txBox="true"/>
          <p:nvPr/>
        </p:nvSpPr>
        <p:spPr>
          <a:xfrm rot="0">
            <a:off x="1028700" y="306815"/>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2. Thực Nghiệm và kết quả </a:t>
            </a:r>
          </a:p>
        </p:txBody>
      </p:sp>
      <p:sp>
        <p:nvSpPr>
          <p:cNvPr name="TextBox 9" id="9"/>
          <p:cNvSpPr txBox="true"/>
          <p:nvPr/>
        </p:nvSpPr>
        <p:spPr>
          <a:xfrm rot="0">
            <a:off x="780839" y="2085975"/>
            <a:ext cx="12879812" cy="30575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 Trường hợp này cho phép di chuyển theo mọi hướng và mọi khoảng cách, không chỉ 8 hướng cố định.</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 Hàm heuristic Euclidean hoạt động hoàn hảo trong môi trường này.</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  Bản đồ f(n) thể hiện các giá trị chi phí tăng mượt mà theo khoảng cách thực tế giữa S và G.</a:t>
            </a:r>
          </a:p>
          <a:p>
            <a:pPr algn="l">
              <a:lnSpc>
                <a:spcPts val="4079"/>
              </a:lnSpc>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991780" y="0"/>
            <a:ext cx="4296220" cy="10287000"/>
            <a:chOff x="0" y="0"/>
            <a:chExt cx="1131515" cy="2709333"/>
          </a:xfrm>
        </p:grpSpPr>
        <p:sp>
          <p:nvSpPr>
            <p:cNvPr name="Freeform 3" id="3"/>
            <p:cNvSpPr/>
            <p:nvPr/>
          </p:nvSpPr>
          <p:spPr>
            <a:xfrm flipH="false" flipV="false" rot="0">
              <a:off x="0" y="0"/>
              <a:ext cx="1131515" cy="2709333"/>
            </a:xfrm>
            <a:custGeom>
              <a:avLst/>
              <a:gdLst/>
              <a:ahLst/>
              <a:cxnLst/>
              <a:rect r="r" b="b" t="t" l="l"/>
              <a:pathLst>
                <a:path h="2709333" w="1131515">
                  <a:moveTo>
                    <a:pt x="0" y="0"/>
                  </a:moveTo>
                  <a:lnTo>
                    <a:pt x="1131515" y="0"/>
                  </a:lnTo>
                  <a:lnTo>
                    <a:pt x="1131515" y="2709333"/>
                  </a:lnTo>
                  <a:lnTo>
                    <a:pt x="0" y="2709333"/>
                  </a:lnTo>
                  <a:close/>
                </a:path>
              </a:pathLst>
            </a:custGeom>
            <a:solidFill>
              <a:srgbClr val="7994A0"/>
            </a:solidFill>
          </p:spPr>
        </p:sp>
        <p:sp>
          <p:nvSpPr>
            <p:cNvPr name="TextBox 4" id="4"/>
            <p:cNvSpPr txBox="true"/>
            <p:nvPr/>
          </p:nvSpPr>
          <p:spPr>
            <a:xfrm>
              <a:off x="0" y="-123825"/>
              <a:ext cx="1131515"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3361588" y="2873643"/>
            <a:ext cx="4699259" cy="566895"/>
          </a:xfrm>
          <a:custGeom>
            <a:avLst/>
            <a:gdLst/>
            <a:ahLst/>
            <a:cxnLst/>
            <a:rect r="r" b="b" t="t" l="l"/>
            <a:pathLst>
              <a:path h="566895" w="4699259">
                <a:moveTo>
                  <a:pt x="0" y="0"/>
                </a:moveTo>
                <a:lnTo>
                  <a:pt x="4699260" y="0"/>
                </a:lnTo>
                <a:lnTo>
                  <a:pt x="4699260" y="566895"/>
                </a:lnTo>
                <a:lnTo>
                  <a:pt x="0" y="566895"/>
                </a:lnTo>
                <a:lnTo>
                  <a:pt x="0" y="0"/>
                </a:lnTo>
                <a:close/>
              </a:path>
            </a:pathLst>
          </a:custGeom>
          <a:blipFill>
            <a:blip r:embed="rId2"/>
            <a:stretch>
              <a:fillRect l="0" t="0" r="0" b="0"/>
            </a:stretch>
          </a:blipFill>
        </p:spPr>
      </p:sp>
      <p:sp>
        <p:nvSpPr>
          <p:cNvPr name="Freeform 6" id="6"/>
          <p:cNvSpPr/>
          <p:nvPr/>
        </p:nvSpPr>
        <p:spPr>
          <a:xfrm flipH="false" flipV="false" rot="0">
            <a:off x="1302941" y="3845760"/>
            <a:ext cx="5913882" cy="5451183"/>
          </a:xfrm>
          <a:custGeom>
            <a:avLst/>
            <a:gdLst/>
            <a:ahLst/>
            <a:cxnLst/>
            <a:rect r="r" b="b" t="t" l="l"/>
            <a:pathLst>
              <a:path h="5451183" w="5913882">
                <a:moveTo>
                  <a:pt x="0" y="0"/>
                </a:moveTo>
                <a:lnTo>
                  <a:pt x="5913882" y="0"/>
                </a:lnTo>
                <a:lnTo>
                  <a:pt x="5913882" y="5451183"/>
                </a:lnTo>
                <a:lnTo>
                  <a:pt x="0" y="5451183"/>
                </a:lnTo>
                <a:lnTo>
                  <a:pt x="0" y="0"/>
                </a:lnTo>
                <a:close/>
              </a:path>
            </a:pathLst>
          </a:custGeom>
          <a:blipFill>
            <a:blip r:embed="rId3"/>
            <a:stretch>
              <a:fillRect l="0" t="0" r="0" b="0"/>
            </a:stretch>
          </a:blipFill>
        </p:spPr>
      </p:sp>
      <p:sp>
        <p:nvSpPr>
          <p:cNvPr name="TextBox 7" id="7"/>
          <p:cNvSpPr txBox="true"/>
          <p:nvPr/>
        </p:nvSpPr>
        <p:spPr>
          <a:xfrm rot="0">
            <a:off x="1028700" y="1419969"/>
            <a:ext cx="13368377" cy="629918"/>
          </a:xfrm>
          <a:prstGeom prst="rect">
            <a:avLst/>
          </a:prstGeom>
        </p:spPr>
        <p:txBody>
          <a:bodyPr anchor="t" rtlCol="false" tIns="0" lIns="0" bIns="0" rIns="0">
            <a:spAutoFit/>
          </a:bodyPr>
          <a:lstStyle/>
          <a:p>
            <a:pPr algn="l" marL="0" indent="0" lvl="0">
              <a:lnSpc>
                <a:spcPts val="5180"/>
              </a:lnSpc>
              <a:spcBef>
                <a:spcPct val="0"/>
              </a:spcBef>
            </a:pPr>
            <a:r>
              <a:rPr lang="en-US" b="true" sz="3700" i="true">
                <a:solidFill>
                  <a:srgbClr val="0F4662"/>
                </a:solidFill>
                <a:latin typeface="Cormorant Garamond Bold Italics"/>
                <a:ea typeface="Cormorant Garamond Bold Italics"/>
                <a:cs typeface="Cormorant Garamond Bold Italics"/>
                <a:sym typeface="Cormorant Garamond Bold Italics"/>
              </a:rPr>
              <a:t>Thực nghiệm 8: Dùng sai heuristic (Manhattan) trong không gian Euclidean</a:t>
            </a:r>
          </a:p>
        </p:txBody>
      </p:sp>
      <p:sp>
        <p:nvSpPr>
          <p:cNvPr name="TextBox 8" id="8"/>
          <p:cNvSpPr txBox="true"/>
          <p:nvPr/>
        </p:nvSpPr>
        <p:spPr>
          <a:xfrm rot="0">
            <a:off x="7216823" y="4983588"/>
            <a:ext cx="6774957" cy="40862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A* vẫ</a:t>
            </a:r>
            <a:r>
              <a:rPr lang="en-US" sz="2400">
                <a:solidFill>
                  <a:srgbClr val="0F4662"/>
                </a:solidFill>
                <a:latin typeface="Quicksand"/>
                <a:ea typeface="Quicksand"/>
                <a:cs typeface="Quicksand"/>
                <a:sym typeface="Quicksand"/>
              </a:rPr>
              <a:t>n chạy</a:t>
            </a:r>
            <a:r>
              <a:rPr lang="en-US" sz="2400">
                <a:solidFill>
                  <a:srgbClr val="0F4662"/>
                </a:solidFill>
                <a:latin typeface="Quicksand"/>
                <a:ea typeface="Quicksand"/>
                <a:cs typeface="Quicksand"/>
                <a:sym typeface="Quicksand"/>
              </a:rPr>
              <a:t> được, nhưng không còn đảm bảo tối ưu. </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Một số đường đi không còn ngắn nhất, vì heuristic Manhattan thường đánh giá cao hơn thực tế trong </a:t>
            </a:r>
            <a:r>
              <a:rPr lang="en-US" sz="2400">
                <a:solidFill>
                  <a:srgbClr val="0F4662"/>
                </a:solidFill>
                <a:latin typeface="Quicksand"/>
                <a:ea typeface="Quicksand"/>
                <a:cs typeface="Quicksand"/>
                <a:sym typeface="Quicksand"/>
              </a:rPr>
              <a:t>môi trường Euclidean.</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Hình heatmap cho thấy các đường đồng mức biến dạng, không đối xứng.</a:t>
            </a:r>
          </a:p>
          <a:p>
            <a:pPr algn="l">
              <a:lnSpc>
                <a:spcPts val="4079"/>
              </a:lnSpc>
            </a:pPr>
          </a:p>
        </p:txBody>
      </p:sp>
      <p:sp>
        <p:nvSpPr>
          <p:cNvPr name="TextBox 9" id="9"/>
          <p:cNvSpPr txBox="true"/>
          <p:nvPr/>
        </p:nvSpPr>
        <p:spPr>
          <a:xfrm rot="0">
            <a:off x="1028700" y="306815"/>
            <a:ext cx="11332043" cy="903604"/>
          </a:xfrm>
          <a:prstGeom prst="rect">
            <a:avLst/>
          </a:prstGeom>
        </p:spPr>
        <p:txBody>
          <a:bodyPr anchor="t" rtlCol="false" tIns="0" lIns="0" bIns="0" rIns="0">
            <a:spAutoFit/>
          </a:bodyPr>
          <a:lstStyle/>
          <a:p>
            <a:pPr algn="l" marL="0" indent="0" lvl="0">
              <a:lnSpc>
                <a:spcPts val="7420"/>
              </a:lnSpc>
              <a:spcBef>
                <a:spcPct val="0"/>
              </a:spcBef>
            </a:pPr>
            <a:r>
              <a:rPr lang="en-US" b="true" sz="5300" i="true">
                <a:solidFill>
                  <a:srgbClr val="0F4662"/>
                </a:solidFill>
                <a:latin typeface="Cormorant Garamond Bold Italics"/>
                <a:ea typeface="Cormorant Garamond Bold Italics"/>
                <a:cs typeface="Cormorant Garamond Bold Italics"/>
                <a:sym typeface="Cormorant Garamond Bold Italics"/>
              </a:rPr>
              <a:t>2. Thực Nghiệm và kết quả </a:t>
            </a:r>
          </a:p>
        </p:txBody>
      </p:sp>
      <p:sp>
        <p:nvSpPr>
          <p:cNvPr name="TextBox 10" id="10"/>
          <p:cNvSpPr txBox="true"/>
          <p:nvPr/>
        </p:nvSpPr>
        <p:spPr>
          <a:xfrm rot="0">
            <a:off x="1028700" y="1926063"/>
            <a:ext cx="12879812"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 Trong thí nghiệm này, chi phí thật g(n) vẫn được tính theo khoảng cách Euclidean, nhưng heuristic lại dùng công thức Manhattan:</a:t>
            </a:r>
          </a:p>
          <a:p>
            <a:pPr algn="l">
              <a:lnSpc>
                <a:spcPts val="4079"/>
              </a:lnSpc>
            </a:pP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DBE5EA"/>
        </a:solidFill>
      </p:bgPr>
    </p:bg>
    <p:spTree>
      <p:nvGrpSpPr>
        <p:cNvPr id="1" name=""/>
        <p:cNvGrpSpPr/>
        <p:nvPr/>
      </p:nvGrpSpPr>
      <p:grpSpPr>
        <a:xfrm>
          <a:off x="0" y="0"/>
          <a:ext cx="0" cy="0"/>
          <a:chOff x="0" y="0"/>
          <a:chExt cx="0" cy="0"/>
        </a:xfrm>
      </p:grpSpPr>
      <p:grpSp>
        <p:nvGrpSpPr>
          <p:cNvPr name="Group 2" id="2"/>
          <p:cNvGrpSpPr/>
          <p:nvPr/>
        </p:nvGrpSpPr>
        <p:grpSpPr>
          <a:xfrm rot="0">
            <a:off x="2164289" y="2053826"/>
            <a:ext cx="11973343" cy="7610617"/>
            <a:chOff x="0" y="0"/>
            <a:chExt cx="3153473" cy="2004442"/>
          </a:xfrm>
        </p:grpSpPr>
        <p:sp>
          <p:nvSpPr>
            <p:cNvPr name="Freeform 3" id="3"/>
            <p:cNvSpPr/>
            <p:nvPr/>
          </p:nvSpPr>
          <p:spPr>
            <a:xfrm flipH="false" flipV="false" rot="0">
              <a:off x="0" y="0"/>
              <a:ext cx="3153473" cy="2004442"/>
            </a:xfrm>
            <a:custGeom>
              <a:avLst/>
              <a:gdLst/>
              <a:ahLst/>
              <a:cxnLst/>
              <a:rect r="r" b="b" t="t" l="l"/>
              <a:pathLst>
                <a:path h="2004442" w="3153473">
                  <a:moveTo>
                    <a:pt x="32976" y="0"/>
                  </a:moveTo>
                  <a:lnTo>
                    <a:pt x="3120497" y="0"/>
                  </a:lnTo>
                  <a:cubicBezTo>
                    <a:pt x="3129243" y="0"/>
                    <a:pt x="3137630" y="3474"/>
                    <a:pt x="3143815" y="9659"/>
                  </a:cubicBezTo>
                  <a:cubicBezTo>
                    <a:pt x="3149999" y="15843"/>
                    <a:pt x="3153473" y="24231"/>
                    <a:pt x="3153473" y="32976"/>
                  </a:cubicBezTo>
                  <a:lnTo>
                    <a:pt x="3153473" y="1971466"/>
                  </a:lnTo>
                  <a:cubicBezTo>
                    <a:pt x="3153473" y="1989678"/>
                    <a:pt x="3138709" y="2004442"/>
                    <a:pt x="3120497" y="2004442"/>
                  </a:cubicBezTo>
                  <a:lnTo>
                    <a:pt x="32976" y="2004442"/>
                  </a:lnTo>
                  <a:cubicBezTo>
                    <a:pt x="24231" y="2004442"/>
                    <a:pt x="15843" y="2000968"/>
                    <a:pt x="9659" y="1994784"/>
                  </a:cubicBezTo>
                  <a:cubicBezTo>
                    <a:pt x="3474" y="1988600"/>
                    <a:pt x="0" y="1980212"/>
                    <a:pt x="0" y="1971466"/>
                  </a:cubicBezTo>
                  <a:lnTo>
                    <a:pt x="0" y="32976"/>
                  </a:lnTo>
                  <a:cubicBezTo>
                    <a:pt x="0" y="14764"/>
                    <a:pt x="14764" y="0"/>
                    <a:pt x="32976" y="0"/>
                  </a:cubicBezTo>
                  <a:close/>
                </a:path>
              </a:pathLst>
            </a:custGeom>
            <a:solidFill>
              <a:srgbClr val="FFFFFF"/>
            </a:solidFill>
          </p:spPr>
        </p:sp>
        <p:sp>
          <p:nvSpPr>
            <p:cNvPr name="TextBox 4" id="4"/>
            <p:cNvSpPr txBox="true"/>
            <p:nvPr/>
          </p:nvSpPr>
          <p:spPr>
            <a:xfrm>
              <a:off x="0" y="-123825"/>
              <a:ext cx="3153473" cy="2128267"/>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3001512" y="2337576"/>
            <a:ext cx="10298895" cy="7043116"/>
          </a:xfrm>
          <a:custGeom>
            <a:avLst/>
            <a:gdLst/>
            <a:ahLst/>
            <a:cxnLst/>
            <a:rect r="r" b="b" t="t" l="l"/>
            <a:pathLst>
              <a:path h="7043116" w="10298895">
                <a:moveTo>
                  <a:pt x="0" y="0"/>
                </a:moveTo>
                <a:lnTo>
                  <a:pt x="10298896" y="0"/>
                </a:lnTo>
                <a:lnTo>
                  <a:pt x="10298896" y="7043116"/>
                </a:lnTo>
                <a:lnTo>
                  <a:pt x="0" y="7043116"/>
                </a:lnTo>
                <a:lnTo>
                  <a:pt x="0" y="0"/>
                </a:lnTo>
                <a:close/>
              </a:path>
            </a:pathLst>
          </a:custGeom>
          <a:blipFill>
            <a:blip r:embed="rId2"/>
            <a:stretch>
              <a:fillRect l="0" t="0" r="0" b="0"/>
            </a:stretch>
          </a:blipFill>
        </p:spPr>
      </p:sp>
      <p:sp>
        <p:nvSpPr>
          <p:cNvPr name="TextBox 6" id="6"/>
          <p:cNvSpPr txBox="true"/>
          <p:nvPr/>
        </p:nvSpPr>
        <p:spPr>
          <a:xfrm rot="0">
            <a:off x="1028700" y="599709"/>
            <a:ext cx="1032659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So sánh giữa các hàm heuristic</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28700" y="599709"/>
            <a:ext cx="1153482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3. Kết luận</a:t>
            </a:r>
          </a:p>
        </p:txBody>
      </p:sp>
      <p:sp>
        <p:nvSpPr>
          <p:cNvPr name="TextBox 3" id="3"/>
          <p:cNvSpPr txBox="true"/>
          <p:nvPr/>
        </p:nvSpPr>
        <p:spPr>
          <a:xfrm rot="0">
            <a:off x="2204760" y="3802179"/>
            <a:ext cx="11825478" cy="40862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Khi heuristic phù hợp với mô hình di chuyển, thuật toán A* tìm được đường đi tối ưu nhất.Euclidean heuristic cho kết quả tự nhiên nhất trong môi trường liên tục.</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Chebyshev heuristic thích hợp khi cho phép di chuyển chéo với chi phí 1.</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Manhattan heuristic chỉ nên dùng cho di chuyển 4 hướng; nếu dùng sai môi trường, A* mất tính tối ưu.</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Việc chọn heuristic phù hợp giúp giảm số nút mở rộng, tăng tốc độ tìm kiếm và duy trì tối ưu hóa chi phí đường đi.</a:t>
            </a:r>
          </a:p>
          <a:p>
            <a:pPr algn="l" marL="0" indent="0" lvl="0">
              <a:lnSpc>
                <a:spcPts val="4079"/>
              </a:lnSpc>
            </a:pPr>
          </a:p>
        </p:txBody>
      </p:sp>
      <p:sp>
        <p:nvSpPr>
          <p:cNvPr name="AutoShape 4" id="4"/>
          <p:cNvSpPr/>
          <p:nvPr/>
        </p:nvSpPr>
        <p:spPr>
          <a:xfrm>
            <a:off x="4871379" y="2943020"/>
            <a:ext cx="6492240" cy="0"/>
          </a:xfrm>
          <a:prstGeom prst="line">
            <a:avLst/>
          </a:prstGeom>
          <a:ln cap="flat" w="76200">
            <a:solidFill>
              <a:srgbClr val="0F4662"/>
            </a:solidFill>
            <a:prstDash val="solid"/>
            <a:headEnd type="none" len="sm" w="sm"/>
            <a:tailEnd type="none" len="sm" w="sm"/>
          </a:ln>
        </p:spPr>
      </p:sp>
      <p:sp>
        <p:nvSpPr>
          <p:cNvPr name="AutoShape 5" id="5"/>
          <p:cNvSpPr/>
          <p:nvPr/>
        </p:nvSpPr>
        <p:spPr>
          <a:xfrm>
            <a:off x="5057881" y="8871389"/>
            <a:ext cx="649224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7277500" y="2054945"/>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7277500" y="9133350"/>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28700" y="599709"/>
            <a:ext cx="1153482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Tổng kết toàn chương</a:t>
            </a:r>
          </a:p>
        </p:txBody>
      </p:sp>
      <p:sp>
        <p:nvSpPr>
          <p:cNvPr name="TextBox 3" id="3"/>
          <p:cNvSpPr txBox="true"/>
          <p:nvPr/>
        </p:nvSpPr>
        <p:spPr>
          <a:xfrm rot="0">
            <a:off x="1028700" y="2009775"/>
            <a:ext cx="16230600" cy="6143625"/>
          </a:xfrm>
          <a:prstGeom prst="rect">
            <a:avLst/>
          </a:prstGeom>
        </p:spPr>
        <p:txBody>
          <a:bodyPr anchor="t" rtlCol="false" tIns="0" lIns="0" bIns="0" rIns="0">
            <a:spAutoFit/>
          </a:bodyPr>
          <a:lstStyle/>
          <a:p>
            <a:pPr algn="l">
              <a:lnSpc>
                <a:spcPts val="4079"/>
              </a:lnSpc>
            </a:pPr>
            <a:r>
              <a:rPr lang="en-US" sz="2400">
                <a:solidFill>
                  <a:srgbClr val="0F4662"/>
                </a:solidFill>
                <a:latin typeface="Quicksand"/>
                <a:ea typeface="Quicksand"/>
                <a:cs typeface="Quicksand"/>
                <a:sym typeface="Quicksand"/>
              </a:rPr>
              <a:t>Các thuật toán tìm kiếm như BFS, DFS, GBFS và A* đều có ưu – nhược điểm riêng:</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BFS tìm đường tối ưu nhưng tốn bộ nhớ.</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DFS tiết kiệm bộ nhớ nhưng không đảm bảo tối ưu.</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GBFS nhanh nhưng dễ mắc sai hướng.</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A* cân bằng giữa tốc độ và độ chính xác, hiệu quả nhất khi dùng heuristic phù hợp.</a:t>
            </a:r>
          </a:p>
          <a:p>
            <a:pPr algn="l">
              <a:lnSpc>
                <a:spcPts val="4079"/>
              </a:lnSpc>
            </a:pPr>
            <a:r>
              <a:rPr lang="en-US" sz="2400">
                <a:solidFill>
                  <a:srgbClr val="0F4662"/>
                </a:solidFill>
                <a:latin typeface="Quicksand"/>
                <a:ea typeface="Quicksand"/>
                <a:cs typeface="Quicksand"/>
                <a:sym typeface="Quicksand"/>
              </a:rPr>
              <a:t>Heuristic là yếu tố quyết định hiệu quả tìm kiếm:</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Heuristic đúng (Manhattan, Euclidean, Chebyshev) → giảm số nút mở rộng, duy trì tối ưu.</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Heuristic sai → kết quả méo, kém hiệu quả.</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Biến thể Weighted A* giúp điều chỉnh giữa tốc độ và độ chính xác.</a:t>
            </a:r>
          </a:p>
          <a:p>
            <a:pPr algn="l" marL="0" indent="0" lvl="0">
              <a:lnSpc>
                <a:spcPts val="4079"/>
              </a:lnSpc>
            </a:pPr>
            <a:r>
              <a:rPr lang="en-US" sz="2400">
                <a:solidFill>
                  <a:srgbClr val="0F4662"/>
                </a:solidFill>
                <a:latin typeface="Quicksand"/>
                <a:ea typeface="Quicksand"/>
                <a:cs typeface="Quicksand"/>
                <a:sym typeface="Quicksand"/>
              </a:rPr>
              <a:t>Kết luận: Hiểu rõ cơ chế từng thuật toán và chọn heuristic phù hợp là chìa khóa để xây dựng các hệ thống tìm kiếm thông minh và hiệu quả trong trí tuệ nhân tạo.</a:t>
            </a:r>
          </a:p>
          <a:p>
            <a:pPr algn="l" marL="0" indent="0" lvl="0">
              <a:lnSpc>
                <a:spcPts val="4079"/>
              </a:lnSpc>
            </a:pP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3442710" y="3369664"/>
            <a:ext cx="11402580" cy="3185722"/>
          </a:xfrm>
          <a:prstGeom prst="rect">
            <a:avLst/>
          </a:prstGeom>
        </p:spPr>
        <p:txBody>
          <a:bodyPr anchor="t" rtlCol="false" tIns="0" lIns="0" bIns="0" rIns="0">
            <a:spAutoFit/>
          </a:bodyPr>
          <a:lstStyle/>
          <a:p>
            <a:pPr algn="ctr" marL="0" indent="0" lvl="0">
              <a:lnSpc>
                <a:spcPts val="26009"/>
              </a:lnSpc>
              <a:spcBef>
                <a:spcPct val="0"/>
              </a:spcBef>
            </a:pPr>
            <a:r>
              <a:rPr lang="en-US" b="true" sz="18577" i="true">
                <a:solidFill>
                  <a:srgbClr val="0F4662"/>
                </a:solidFill>
                <a:latin typeface="Cormorant Garamond Bold Italics"/>
                <a:ea typeface="Cormorant Garamond Bold Italics"/>
                <a:cs typeface="Cormorant Garamond Bold Italics"/>
                <a:sym typeface="Cormorant Garamond Bold Italics"/>
              </a:rPr>
              <a:t>Thank you</a:t>
            </a:r>
          </a:p>
        </p:txBody>
      </p:sp>
      <p:sp>
        <p:nvSpPr>
          <p:cNvPr name="AutoShape 3" id="3"/>
          <p:cNvSpPr/>
          <p:nvPr/>
        </p:nvSpPr>
        <p:spPr>
          <a:xfrm>
            <a:off x="5897880" y="2215083"/>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8304001" y="1116666"/>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5897880" y="8159883"/>
            <a:ext cx="649224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8304001" y="9008400"/>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7038622" y="4099272"/>
            <a:ext cx="4210757" cy="3273864"/>
          </a:xfrm>
          <a:custGeom>
            <a:avLst/>
            <a:gdLst/>
            <a:ahLst/>
            <a:cxnLst/>
            <a:rect r="r" b="b" t="t" l="l"/>
            <a:pathLst>
              <a:path h="3273864" w="4210757">
                <a:moveTo>
                  <a:pt x="0" y="0"/>
                </a:moveTo>
                <a:lnTo>
                  <a:pt x="4210756" y="0"/>
                </a:lnTo>
                <a:lnTo>
                  <a:pt x="4210756" y="3273864"/>
                </a:lnTo>
                <a:lnTo>
                  <a:pt x="0" y="3273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2032015" y="4070697"/>
            <a:ext cx="4344915" cy="0"/>
          </a:xfrm>
          <a:prstGeom prst="line">
            <a:avLst/>
          </a:prstGeom>
          <a:ln cap="flat" w="57150">
            <a:solidFill>
              <a:srgbClr val="7994A0"/>
            </a:solidFill>
            <a:prstDash val="solid"/>
            <a:headEnd type="none" len="sm" w="sm"/>
            <a:tailEnd type="none" len="sm" w="sm"/>
          </a:ln>
        </p:spPr>
      </p:sp>
      <p:sp>
        <p:nvSpPr>
          <p:cNvPr name="AutoShape 4" id="4"/>
          <p:cNvSpPr/>
          <p:nvPr/>
        </p:nvSpPr>
        <p:spPr>
          <a:xfrm>
            <a:off x="11251537" y="5114925"/>
            <a:ext cx="4346753" cy="0"/>
          </a:xfrm>
          <a:prstGeom prst="line">
            <a:avLst/>
          </a:prstGeom>
          <a:ln cap="flat" w="57150">
            <a:solidFill>
              <a:srgbClr val="7994A0"/>
            </a:solidFill>
            <a:prstDash val="solid"/>
            <a:headEnd type="none" len="sm" w="sm"/>
            <a:tailEnd type="none" len="sm" w="sm"/>
          </a:ln>
        </p:spPr>
      </p:sp>
      <p:sp>
        <p:nvSpPr>
          <p:cNvPr name="AutoShape 5" id="5"/>
          <p:cNvSpPr/>
          <p:nvPr/>
        </p:nvSpPr>
        <p:spPr>
          <a:xfrm flipV="true">
            <a:off x="2032015" y="6557357"/>
            <a:ext cx="4716390" cy="0"/>
          </a:xfrm>
          <a:prstGeom prst="line">
            <a:avLst/>
          </a:prstGeom>
          <a:ln cap="flat" w="57150">
            <a:solidFill>
              <a:srgbClr val="7994A0"/>
            </a:solidFill>
            <a:prstDash val="solid"/>
            <a:headEnd type="none" len="sm" w="sm"/>
            <a:tailEnd type="none" len="sm" w="sm"/>
          </a:ln>
        </p:spPr>
      </p:sp>
      <p:sp>
        <p:nvSpPr>
          <p:cNvPr name="TextBox 6" id="6"/>
          <p:cNvSpPr txBox="true"/>
          <p:nvPr/>
        </p:nvSpPr>
        <p:spPr>
          <a:xfrm rot="0">
            <a:off x="1024384" y="733579"/>
            <a:ext cx="14072064"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Phần : Lunar Lander Reflex-based Agent</a:t>
            </a:r>
          </a:p>
        </p:txBody>
      </p:sp>
      <p:sp>
        <p:nvSpPr>
          <p:cNvPr name="TextBox 7" id="7"/>
          <p:cNvSpPr txBox="true"/>
          <p:nvPr/>
        </p:nvSpPr>
        <p:spPr>
          <a:xfrm rot="0">
            <a:off x="1024384" y="3161819"/>
            <a:ext cx="5348229" cy="490855"/>
          </a:xfrm>
          <a:prstGeom prst="rect">
            <a:avLst/>
          </a:prstGeom>
        </p:spPr>
        <p:txBody>
          <a:bodyPr anchor="t" rtlCol="false" tIns="0" lIns="0" bIns="0" rIns="0">
            <a:spAutoFit/>
          </a:bodyPr>
          <a:lstStyle/>
          <a:p>
            <a:pPr algn="r" marL="0" indent="0" lvl="0">
              <a:lnSpc>
                <a:spcPts val="3919"/>
              </a:lnSpc>
              <a:spcBef>
                <a:spcPct val="0"/>
              </a:spcBef>
            </a:pPr>
            <a:r>
              <a:rPr lang="en-US" b="true" sz="2799">
                <a:solidFill>
                  <a:srgbClr val="0F4662"/>
                </a:solidFill>
                <a:latin typeface="Quicksand Bold"/>
                <a:ea typeface="Quicksand Bold"/>
                <a:cs typeface="Quicksand Bold"/>
                <a:sym typeface="Quicksand Bold"/>
              </a:rPr>
              <a:t>Giới thiệu</a:t>
            </a:r>
          </a:p>
        </p:txBody>
      </p:sp>
      <p:sp>
        <p:nvSpPr>
          <p:cNvPr name="TextBox 8" id="8"/>
          <p:cNvSpPr txBox="true"/>
          <p:nvPr/>
        </p:nvSpPr>
        <p:spPr>
          <a:xfrm rot="0">
            <a:off x="11251537" y="3613532"/>
            <a:ext cx="5348229"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Simple Reflex Agent</a:t>
            </a:r>
          </a:p>
        </p:txBody>
      </p:sp>
      <p:sp>
        <p:nvSpPr>
          <p:cNvPr name="TextBox 9" id="9"/>
          <p:cNvSpPr txBox="true"/>
          <p:nvPr/>
        </p:nvSpPr>
        <p:spPr>
          <a:xfrm rot="0">
            <a:off x="1028700" y="5669529"/>
            <a:ext cx="5352545" cy="490855"/>
          </a:xfrm>
          <a:prstGeom prst="rect">
            <a:avLst/>
          </a:prstGeom>
        </p:spPr>
        <p:txBody>
          <a:bodyPr anchor="t" rtlCol="false" tIns="0" lIns="0" bIns="0" rIns="0">
            <a:spAutoFit/>
          </a:bodyPr>
          <a:lstStyle/>
          <a:p>
            <a:pPr algn="r" marL="0" indent="0" lvl="0">
              <a:lnSpc>
                <a:spcPts val="3919"/>
              </a:lnSpc>
              <a:spcBef>
                <a:spcPct val="0"/>
              </a:spcBef>
            </a:pPr>
            <a:r>
              <a:rPr lang="en-US" b="true" sz="2799">
                <a:solidFill>
                  <a:srgbClr val="0F4662"/>
                </a:solidFill>
                <a:latin typeface="Quicksand Bold"/>
                <a:ea typeface="Quicksand Bold"/>
                <a:cs typeface="Quicksand Bold"/>
                <a:sym typeface="Quicksand Bold"/>
              </a:rPr>
              <a:t>Mô tả môi trường </a:t>
            </a:r>
          </a:p>
        </p:txBody>
      </p:sp>
      <p:sp>
        <p:nvSpPr>
          <p:cNvPr name="Freeform 10" id="10"/>
          <p:cNvSpPr/>
          <p:nvPr/>
        </p:nvSpPr>
        <p:spPr>
          <a:xfrm flipH="false" flipV="false" rot="0">
            <a:off x="15579303" y="714009"/>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24384" y="9529723"/>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0685592" y="5542627"/>
            <a:ext cx="5352545" cy="986155"/>
          </a:xfrm>
          <a:prstGeom prst="rect">
            <a:avLst/>
          </a:prstGeom>
        </p:spPr>
        <p:txBody>
          <a:bodyPr anchor="t" rtlCol="false" tIns="0" lIns="0" bIns="0" rIns="0">
            <a:spAutoFit/>
          </a:bodyPr>
          <a:lstStyle/>
          <a:p>
            <a:pPr algn="r" marL="0" indent="0" lvl="0">
              <a:lnSpc>
                <a:spcPts val="3919"/>
              </a:lnSpc>
              <a:spcBef>
                <a:spcPct val="0"/>
              </a:spcBef>
            </a:pPr>
            <a:r>
              <a:rPr lang="en-US" b="true" sz="2799">
                <a:solidFill>
                  <a:srgbClr val="0F4662"/>
                </a:solidFill>
                <a:latin typeface="Quicksand Bold"/>
                <a:ea typeface="Quicksand Bold"/>
                <a:cs typeface="Quicksand Bold"/>
                <a:sym typeface="Quicksand Bold"/>
              </a:rPr>
              <a:t>Implement A Better Reflex-Based Agent</a:t>
            </a:r>
          </a:p>
        </p:txBody>
      </p:sp>
      <p:sp>
        <p:nvSpPr>
          <p:cNvPr name="AutoShape 13" id="13"/>
          <p:cNvSpPr/>
          <p:nvPr/>
        </p:nvSpPr>
        <p:spPr>
          <a:xfrm>
            <a:off x="11251537" y="6805930"/>
            <a:ext cx="4346753" cy="0"/>
          </a:xfrm>
          <a:prstGeom prst="line">
            <a:avLst/>
          </a:prstGeom>
          <a:ln cap="flat" w="57150">
            <a:solidFill>
              <a:srgbClr val="7994A0"/>
            </a:solidFill>
            <a:prstDash val="solid"/>
            <a:headEnd type="none" len="sm" w="sm"/>
            <a:tailEnd type="none" len="sm" w="sm"/>
          </a:ln>
        </p:spPr>
      </p:sp>
    </p:spTree>
  </p:cSld>
  <p:clrMapOvr>
    <a:masterClrMapping/>
  </p:clrMapOvr>
</p:sld>
</file>

<file path=ppt/slides/slide46.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6" id="6"/>
          <p:cNvSpPr txBox="true"/>
          <p:nvPr/>
        </p:nvSpPr>
        <p:spPr>
          <a:xfrm rot="0">
            <a:off x="862177" y="933450"/>
            <a:ext cx="5739192" cy="800946"/>
          </a:xfrm>
          <a:prstGeom prst="rect">
            <a:avLst/>
          </a:prstGeom>
        </p:spPr>
        <p:txBody>
          <a:bodyPr anchor="t" rtlCol="false" tIns="0" lIns="0" bIns="0" rIns="0">
            <a:spAutoFit/>
          </a:bodyPr>
          <a:lstStyle/>
          <a:p>
            <a:pPr algn="ctr">
              <a:lnSpc>
                <a:spcPts val="6521"/>
              </a:lnSpc>
              <a:spcBef>
                <a:spcPct val="0"/>
              </a:spcBef>
            </a:pPr>
            <a:r>
              <a:rPr lang="en-US" b="true" sz="4658">
                <a:solidFill>
                  <a:srgbClr val="0F4662"/>
                </a:solidFill>
                <a:latin typeface="Quicksand Bold"/>
                <a:ea typeface="Quicksand Bold"/>
                <a:cs typeface="Quicksand Bold"/>
                <a:sym typeface="Quicksand Bold"/>
              </a:rPr>
              <a:t>1.Giới thiệu bài toán </a:t>
            </a:r>
          </a:p>
        </p:txBody>
      </p:sp>
      <p:sp>
        <p:nvSpPr>
          <p:cNvPr name="TextBox 7" id="7"/>
          <p:cNvSpPr txBox="true"/>
          <p:nvPr/>
        </p:nvSpPr>
        <p:spPr>
          <a:xfrm rot="0">
            <a:off x="672011" y="2876362"/>
            <a:ext cx="11449032" cy="2557212"/>
          </a:xfrm>
          <a:prstGeom prst="rect">
            <a:avLst/>
          </a:prstGeom>
        </p:spPr>
        <p:txBody>
          <a:bodyPr anchor="t" rtlCol="false" tIns="0" lIns="0" bIns="0" rIns="0">
            <a:spAutoFit/>
          </a:bodyPr>
          <a:lstStyle/>
          <a:p>
            <a:pPr algn="l">
              <a:lnSpc>
                <a:spcPts val="3426"/>
              </a:lnSpc>
              <a:spcBef>
                <a:spcPct val="0"/>
              </a:spcBef>
            </a:pPr>
            <a:r>
              <a:rPr lang="en-US" sz="2447">
                <a:solidFill>
                  <a:srgbClr val="0F4662"/>
                </a:solidFill>
                <a:latin typeface="Quicksand"/>
                <a:ea typeface="Quicksand"/>
                <a:cs typeface="Quicksand"/>
                <a:sym typeface="Quicksand"/>
              </a:rPr>
              <a:t>           </a:t>
            </a:r>
            <a:r>
              <a:rPr lang="en-US" sz="2447">
                <a:solidFill>
                  <a:srgbClr val="0F4662"/>
                </a:solidFill>
                <a:latin typeface="Quicksand"/>
                <a:ea typeface="Quicksand"/>
                <a:cs typeface="Quicksand"/>
                <a:sym typeface="Quicksand"/>
              </a:rPr>
              <a:t>Bài</a:t>
            </a:r>
            <a:r>
              <a:rPr lang="en-US" sz="2447">
                <a:solidFill>
                  <a:srgbClr val="0F4662"/>
                </a:solidFill>
                <a:latin typeface="Quicksand"/>
                <a:ea typeface="Quicksand"/>
                <a:cs typeface="Quicksand"/>
                <a:sym typeface="Quicksand"/>
              </a:rPr>
              <a:t> toán Lunar Lander (do OpenAI Gym cung cấp) mô phỏng việc điều khiển một tàu đổ bộ hạ cánh an toàn trên Mặt Trăng.</a:t>
            </a:r>
          </a:p>
          <a:p>
            <a:pPr algn="l">
              <a:lnSpc>
                <a:spcPts val="3426"/>
              </a:lnSpc>
              <a:spcBef>
                <a:spcPct val="0"/>
              </a:spcBef>
            </a:pPr>
            <a:r>
              <a:rPr lang="en-US" sz="2447">
                <a:solidFill>
                  <a:srgbClr val="0F4662"/>
                </a:solidFill>
                <a:latin typeface="Quicksand"/>
                <a:ea typeface="Quicksand"/>
                <a:cs typeface="Quicksand"/>
                <a:sym typeface="Quicksand"/>
              </a:rPr>
              <a:t>           Tàu có thể di chuyển bằng các động cơ phụ (trái, phải) và động cơ chính (giảm độ cao). Mục tiêu là đưa tàu hạ cánh xuống vùng an toàn giữa màn hình, với vận tốc nhỏ, tư thế thăng bằng, và tránh va chạm.</a:t>
            </a:r>
          </a:p>
          <a:p>
            <a:pPr algn="l">
              <a:lnSpc>
                <a:spcPts val="3426"/>
              </a:lnSpc>
              <a:spcBef>
                <a:spcPct val="0"/>
              </a:spcBef>
            </a:pPr>
          </a:p>
        </p:txBody>
      </p:sp>
      <p:sp>
        <p:nvSpPr>
          <p:cNvPr name="TextBox 8" id="8"/>
          <p:cNvSpPr txBox="true"/>
          <p:nvPr/>
        </p:nvSpPr>
        <p:spPr>
          <a:xfrm rot="0">
            <a:off x="1062199" y="5717210"/>
            <a:ext cx="10916576" cy="3414462"/>
          </a:xfrm>
          <a:prstGeom prst="rect">
            <a:avLst/>
          </a:prstGeom>
        </p:spPr>
        <p:txBody>
          <a:bodyPr anchor="t" rtlCol="false" tIns="0" lIns="0" bIns="0" rIns="0">
            <a:spAutoFit/>
          </a:bodyPr>
          <a:lstStyle/>
          <a:p>
            <a:pPr algn="l">
              <a:lnSpc>
                <a:spcPts val="3426"/>
              </a:lnSpc>
              <a:spcBef>
                <a:spcPct val="0"/>
              </a:spcBef>
            </a:pPr>
            <a:r>
              <a:rPr lang="en-US" sz="2447">
                <a:solidFill>
                  <a:srgbClr val="0F4662"/>
                </a:solidFill>
                <a:latin typeface="Quicksand"/>
                <a:ea typeface="Quicksand"/>
                <a:cs typeface="Quicksand"/>
                <a:sym typeface="Quicksand"/>
              </a:rPr>
              <a:t> Trong bài này, ta xây dựng v</a:t>
            </a:r>
            <a:r>
              <a:rPr lang="en-US" sz="2447">
                <a:solidFill>
                  <a:srgbClr val="0F4662"/>
                </a:solidFill>
                <a:latin typeface="Quicksand"/>
                <a:ea typeface="Quicksand"/>
                <a:cs typeface="Quicksand"/>
                <a:sym typeface="Quicksand"/>
              </a:rPr>
              <a:t>à</a:t>
            </a:r>
            <a:r>
              <a:rPr lang="en-US" sz="2447">
                <a:solidFill>
                  <a:srgbClr val="0F4662"/>
                </a:solidFill>
                <a:latin typeface="Quicksand"/>
                <a:ea typeface="Quicksand"/>
                <a:cs typeface="Quicksand"/>
                <a:sym typeface="Quicksand"/>
              </a:rPr>
              <a:t> so sánh hai agent:</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Simple Reflex Agent: dựa vào phản xạ đơn giản (dừng rơi quá nhanh, giữ cân bằng).</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Better Reflex Agent: sử dụng điều khiển định hướng để giảm lệch ngang và ổn định góc trước khi chạm đất.</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Tất cả đều thuộc loại Reflex-Based Agent, không có học tập hay mô hình nội tại môi trường.</a:t>
            </a:r>
          </a:p>
          <a:p>
            <a:pPr algn="l">
              <a:lnSpc>
                <a:spcPts val="3426"/>
              </a:lnSpc>
              <a:spcBef>
                <a:spcPct val="0"/>
              </a:spcBef>
            </a:pPr>
          </a:p>
        </p:txBody>
      </p:sp>
    </p:spTree>
  </p:cSld>
  <p:clrMapOvr>
    <a:masterClrMapping/>
  </p:clrMapOvr>
</p:sld>
</file>

<file path=ppt/slides/slide47.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6" id="6"/>
          <p:cNvSpPr txBox="true"/>
          <p:nvPr/>
        </p:nvSpPr>
        <p:spPr>
          <a:xfrm rot="0">
            <a:off x="925563" y="933450"/>
            <a:ext cx="5612420" cy="1624962"/>
          </a:xfrm>
          <a:prstGeom prst="rect">
            <a:avLst/>
          </a:prstGeom>
        </p:spPr>
        <p:txBody>
          <a:bodyPr anchor="t" rtlCol="false" tIns="0" lIns="0" bIns="0" rIns="0">
            <a:spAutoFit/>
          </a:bodyPr>
          <a:lstStyle/>
          <a:p>
            <a:pPr algn="ctr">
              <a:lnSpc>
                <a:spcPts val="6521"/>
              </a:lnSpc>
            </a:pPr>
            <a:r>
              <a:rPr lang="en-US" sz="4658" b="true">
                <a:solidFill>
                  <a:srgbClr val="0F4662"/>
                </a:solidFill>
                <a:latin typeface="Quicksand Bold"/>
                <a:ea typeface="Quicksand Bold"/>
                <a:cs typeface="Quicksand Bold"/>
                <a:sym typeface="Quicksand Bold"/>
              </a:rPr>
              <a:t>2. Mô tả môi trường</a:t>
            </a:r>
          </a:p>
          <a:p>
            <a:pPr algn="ctr">
              <a:lnSpc>
                <a:spcPts val="6521"/>
              </a:lnSpc>
              <a:spcBef>
                <a:spcPct val="0"/>
              </a:spcBef>
            </a:pPr>
          </a:p>
        </p:txBody>
      </p:sp>
      <p:sp>
        <p:nvSpPr>
          <p:cNvPr name="TextBox 7" id="7"/>
          <p:cNvSpPr txBox="true"/>
          <p:nvPr/>
        </p:nvSpPr>
        <p:spPr>
          <a:xfrm rot="0">
            <a:off x="672011" y="2510787"/>
            <a:ext cx="11688830" cy="4700337"/>
          </a:xfrm>
          <a:prstGeom prst="rect">
            <a:avLst/>
          </a:prstGeom>
        </p:spPr>
        <p:txBody>
          <a:bodyPr anchor="t" rtlCol="false" tIns="0" lIns="0" bIns="0" rIns="0">
            <a:spAutoFit/>
          </a:bodyPr>
          <a:lstStyle/>
          <a:p>
            <a:pPr algn="l">
              <a:lnSpc>
                <a:spcPts val="3426"/>
              </a:lnSpc>
            </a:pPr>
            <a:r>
              <a:rPr lang="en-US" sz="2447">
                <a:solidFill>
                  <a:srgbClr val="0F4662"/>
                </a:solidFill>
                <a:latin typeface="Quicksand"/>
                <a:ea typeface="Quicksand"/>
                <a:cs typeface="Quicksand"/>
                <a:sym typeface="Quicksand"/>
              </a:rPr>
              <a:t>State (quan sát) là vector 8 chiều, theo thứ tự:</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x : k</a:t>
            </a:r>
            <a:r>
              <a:rPr lang="en-US" sz="2447">
                <a:solidFill>
                  <a:srgbClr val="0F4662"/>
                </a:solidFill>
                <a:latin typeface="Quicksand"/>
                <a:ea typeface="Quicksand"/>
                <a:cs typeface="Quicksand"/>
                <a:sym typeface="Quicksand"/>
              </a:rPr>
              <a:t>inh độ vị</a:t>
            </a:r>
            <a:r>
              <a:rPr lang="en-US" sz="2447">
                <a:solidFill>
                  <a:srgbClr val="0F4662"/>
                </a:solidFill>
                <a:latin typeface="Quicksand"/>
                <a:ea typeface="Quicksand"/>
                <a:cs typeface="Quicksand"/>
                <a:sym typeface="Quicksand"/>
              </a:rPr>
              <a:t> trí (tọa độ ngang) so với tâm viewport (normalized trong code).</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y : tung độ vị trí (tọa độ dọc) so với helipad (normalized).</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vx : vận tốc ngang (linear velocity x), đã được scale/normalize.</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vy : vận tốc dọc (linear velocity y), đã được scale/normalize.</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angle : góc quay của lander (radians).</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angular_velocity : tốc độ góc (radians/second, trong mã có hệ số scale là 20.0/FPS).</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left_contact : boolean (0.0 hoặc 1.0) — chân trái có tiếp đất hay không.</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right_contact : boolean (0.0 hoặc 1.0) — chân phải có tiếp đất hay không.</a:t>
            </a:r>
          </a:p>
          <a:p>
            <a:pPr algn="l">
              <a:lnSpc>
                <a:spcPts val="3426"/>
              </a:lnSpc>
              <a:spcBef>
                <a:spcPct val="0"/>
              </a:spcBef>
            </a:pP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3511463" y="2339384"/>
            <a:ext cx="4488863" cy="1689357"/>
          </a:xfrm>
          <a:custGeom>
            <a:avLst/>
            <a:gdLst/>
            <a:ahLst/>
            <a:cxnLst/>
            <a:rect r="r" b="b" t="t" l="l"/>
            <a:pathLst>
              <a:path h="1689357" w="4488863">
                <a:moveTo>
                  <a:pt x="0" y="0"/>
                </a:moveTo>
                <a:lnTo>
                  <a:pt x="4488863" y="0"/>
                </a:lnTo>
                <a:lnTo>
                  <a:pt x="4488863" y="1689356"/>
                </a:lnTo>
                <a:lnTo>
                  <a:pt x="0" y="1689356"/>
                </a:lnTo>
                <a:lnTo>
                  <a:pt x="0" y="0"/>
                </a:lnTo>
                <a:close/>
              </a:path>
            </a:pathLst>
          </a:custGeom>
          <a:blipFill>
            <a:blip r:embed="rId2"/>
            <a:stretch>
              <a:fillRect l="0" t="0" r="0" b="0"/>
            </a:stretch>
          </a:blipFill>
        </p:spPr>
      </p:sp>
      <p:sp>
        <p:nvSpPr>
          <p:cNvPr name="TextBox 7" id="7"/>
          <p:cNvSpPr txBox="true"/>
          <p:nvPr/>
        </p:nvSpPr>
        <p:spPr>
          <a:xfrm rot="0">
            <a:off x="925563" y="933450"/>
            <a:ext cx="5612420" cy="1624962"/>
          </a:xfrm>
          <a:prstGeom prst="rect">
            <a:avLst/>
          </a:prstGeom>
        </p:spPr>
        <p:txBody>
          <a:bodyPr anchor="t" rtlCol="false" tIns="0" lIns="0" bIns="0" rIns="0">
            <a:spAutoFit/>
          </a:bodyPr>
          <a:lstStyle/>
          <a:p>
            <a:pPr algn="ctr">
              <a:lnSpc>
                <a:spcPts val="6521"/>
              </a:lnSpc>
            </a:pPr>
            <a:r>
              <a:rPr lang="en-US" sz="4658" b="true">
                <a:solidFill>
                  <a:srgbClr val="0F4662"/>
                </a:solidFill>
                <a:latin typeface="Quicksand Bold"/>
                <a:ea typeface="Quicksand Bold"/>
                <a:cs typeface="Quicksand Bold"/>
                <a:sym typeface="Quicksand Bold"/>
              </a:rPr>
              <a:t>2. Mô tả môi trường</a:t>
            </a:r>
          </a:p>
          <a:p>
            <a:pPr algn="ctr">
              <a:lnSpc>
                <a:spcPts val="6521"/>
              </a:lnSpc>
              <a:spcBef>
                <a:spcPct val="0"/>
              </a:spcBef>
            </a:pPr>
          </a:p>
        </p:txBody>
      </p:sp>
      <p:sp>
        <p:nvSpPr>
          <p:cNvPr name="TextBox 8" id="8"/>
          <p:cNvSpPr txBox="true"/>
          <p:nvPr/>
        </p:nvSpPr>
        <p:spPr>
          <a:xfrm rot="0">
            <a:off x="281476" y="2341350"/>
            <a:ext cx="11688830" cy="842712"/>
          </a:xfrm>
          <a:prstGeom prst="rect">
            <a:avLst/>
          </a:prstGeom>
        </p:spPr>
        <p:txBody>
          <a:bodyPr anchor="t" rtlCol="false" tIns="0" lIns="0" bIns="0" rIns="0">
            <a:spAutoFit/>
          </a:bodyPr>
          <a:lstStyle/>
          <a:p>
            <a:pPr algn="l">
              <a:lnSpc>
                <a:spcPts val="3426"/>
              </a:lnSpc>
              <a:spcBef>
                <a:spcPct val="0"/>
              </a:spcBef>
            </a:pPr>
            <a:r>
              <a:rPr lang="en-US" sz="2447">
                <a:solidFill>
                  <a:srgbClr val="0F4662"/>
                </a:solidFill>
                <a:latin typeface="Quicksand"/>
                <a:ea typeface="Quicksand"/>
                <a:cs typeface="Quicksand"/>
                <a:sym typeface="Quicksand"/>
              </a:rPr>
              <a:t>Actio</a:t>
            </a:r>
            <a:r>
              <a:rPr lang="en-US" sz="2447">
                <a:solidFill>
                  <a:srgbClr val="0F4662"/>
                </a:solidFill>
                <a:latin typeface="Quicksand"/>
                <a:ea typeface="Quicksand"/>
                <a:cs typeface="Quicksand"/>
                <a:sym typeface="Quicksand"/>
              </a:rPr>
              <a:t>n</a:t>
            </a:r>
            <a:r>
              <a:rPr lang="en-US" sz="2447">
                <a:solidFill>
                  <a:srgbClr val="0F4662"/>
                </a:solidFill>
                <a:latin typeface="Quicksand"/>
                <a:ea typeface="Quicksand"/>
                <a:cs typeface="Quicksand"/>
                <a:sym typeface="Quicksand"/>
              </a:rPr>
              <a:t> space gồm:</a:t>
            </a:r>
          </a:p>
          <a:p>
            <a:pPr algn="l">
              <a:lnSpc>
                <a:spcPts val="3426"/>
              </a:lnSpc>
              <a:spcBef>
                <a:spcPct val="0"/>
              </a:spcBef>
            </a:pPr>
          </a:p>
        </p:txBody>
      </p:sp>
      <p:sp>
        <p:nvSpPr>
          <p:cNvPr name="TextBox 9" id="9"/>
          <p:cNvSpPr txBox="true"/>
          <p:nvPr/>
        </p:nvSpPr>
        <p:spPr>
          <a:xfrm rot="0">
            <a:off x="281476" y="4698332"/>
            <a:ext cx="11688830" cy="2985837"/>
          </a:xfrm>
          <a:prstGeom prst="rect">
            <a:avLst/>
          </a:prstGeom>
        </p:spPr>
        <p:txBody>
          <a:bodyPr anchor="t" rtlCol="false" tIns="0" lIns="0" bIns="0" rIns="0">
            <a:spAutoFit/>
          </a:bodyPr>
          <a:lstStyle/>
          <a:p>
            <a:pPr algn="l">
              <a:lnSpc>
                <a:spcPts val="3426"/>
              </a:lnSpc>
            </a:pPr>
            <a:r>
              <a:rPr lang="en-US" sz="2447">
                <a:solidFill>
                  <a:srgbClr val="0F4662"/>
                </a:solidFill>
                <a:latin typeface="Quicksand"/>
                <a:ea typeface="Quicksand"/>
                <a:cs typeface="Quicksand"/>
                <a:sym typeface="Quicksand"/>
              </a:rPr>
              <a:t>Điều kiện kết thúc (terminatio</a:t>
            </a:r>
            <a:r>
              <a:rPr lang="en-US" sz="2447">
                <a:solidFill>
                  <a:srgbClr val="0F4662"/>
                </a:solidFill>
                <a:latin typeface="Quicksand"/>
                <a:ea typeface="Quicksand"/>
                <a:cs typeface="Quicksand"/>
                <a:sym typeface="Quicksand"/>
              </a:rPr>
              <a:t>n):</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Tàu</a:t>
            </a:r>
            <a:r>
              <a:rPr lang="en-US" sz="2447">
                <a:solidFill>
                  <a:srgbClr val="0F4662"/>
                </a:solidFill>
                <a:latin typeface="Quicksand"/>
                <a:ea typeface="Quicksand"/>
                <a:cs typeface="Quicksand"/>
                <a:sym typeface="Quicksand"/>
              </a:rPr>
              <a:t> nổ (va chạm mạnh, reward âm lớn)</a:t>
            </a:r>
          </a:p>
          <a:p>
            <a:pPr algn="l">
              <a:lnSpc>
                <a:spcPts val="3426"/>
              </a:lnSpc>
              <a:spcBef>
                <a:spcPct val="0"/>
              </a:spcBef>
            </a:pP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Hạ cánh an toàn (cả hai chân chạm đất)</a:t>
            </a:r>
          </a:p>
          <a:p>
            <a:pPr algn="l">
              <a:lnSpc>
                <a:spcPts val="3426"/>
              </a:lnSpc>
              <a:spcBef>
                <a:spcPct val="0"/>
              </a:spcBef>
            </a:pP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Hoặc hết thời gian mô phỏng (truncated).</a:t>
            </a:r>
          </a:p>
          <a:p>
            <a:pPr algn="l">
              <a:lnSpc>
                <a:spcPts val="3426"/>
              </a:lnSpc>
              <a:spcBef>
                <a:spcPct val="0"/>
              </a:spcBef>
            </a:pPr>
          </a:p>
        </p:txBody>
      </p:sp>
    </p:spTree>
  </p:cSld>
  <p:clrMapOvr>
    <a:masterClrMapping/>
  </p:clrMapOvr>
</p:sld>
</file>

<file path=ppt/slides/slide49.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360841"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TextBox 6" id="6"/>
          <p:cNvSpPr txBox="true"/>
          <p:nvPr/>
        </p:nvSpPr>
        <p:spPr>
          <a:xfrm rot="0">
            <a:off x="550299" y="933450"/>
            <a:ext cx="6362948" cy="1624962"/>
          </a:xfrm>
          <a:prstGeom prst="rect">
            <a:avLst/>
          </a:prstGeom>
        </p:spPr>
        <p:txBody>
          <a:bodyPr anchor="t" rtlCol="false" tIns="0" lIns="0" bIns="0" rIns="0">
            <a:spAutoFit/>
          </a:bodyPr>
          <a:lstStyle/>
          <a:p>
            <a:pPr algn="ctr">
              <a:lnSpc>
                <a:spcPts val="6521"/>
              </a:lnSpc>
            </a:pPr>
            <a:r>
              <a:rPr lang="en-US" sz="4658" b="true">
                <a:solidFill>
                  <a:srgbClr val="0F4662"/>
                </a:solidFill>
                <a:latin typeface="Quicksand Bold"/>
                <a:ea typeface="Quicksand Bold"/>
                <a:cs typeface="Quicksand Bold"/>
                <a:sym typeface="Quicksand Bold"/>
              </a:rPr>
              <a:t>3. Simple Reflex Agent</a:t>
            </a:r>
          </a:p>
          <a:p>
            <a:pPr algn="ctr">
              <a:lnSpc>
                <a:spcPts val="6521"/>
              </a:lnSpc>
              <a:spcBef>
                <a:spcPct val="0"/>
              </a:spcBef>
            </a:pPr>
          </a:p>
        </p:txBody>
      </p:sp>
      <p:sp>
        <p:nvSpPr>
          <p:cNvPr name="TextBox 7" id="7"/>
          <p:cNvSpPr txBox="true"/>
          <p:nvPr/>
        </p:nvSpPr>
        <p:spPr>
          <a:xfrm rot="0">
            <a:off x="672011" y="2510787"/>
            <a:ext cx="11688830" cy="4700337"/>
          </a:xfrm>
          <a:prstGeom prst="rect">
            <a:avLst/>
          </a:prstGeom>
        </p:spPr>
        <p:txBody>
          <a:bodyPr anchor="t" rtlCol="false" tIns="0" lIns="0" bIns="0" rIns="0">
            <a:spAutoFit/>
          </a:bodyPr>
          <a:lstStyle/>
          <a:p>
            <a:pPr algn="l">
              <a:lnSpc>
                <a:spcPts val="3426"/>
              </a:lnSpc>
            </a:pPr>
            <a:r>
              <a:rPr lang="en-US" sz="2447">
                <a:solidFill>
                  <a:srgbClr val="0F4662"/>
                </a:solidFill>
                <a:latin typeface="Quicksand"/>
                <a:ea typeface="Quicksand"/>
                <a:cs typeface="Quicksand"/>
                <a:sym typeface="Quicksand"/>
              </a:rPr>
              <a:t>State (quan sát) là vector 8 chiều, theo thứ tự:</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x : k</a:t>
            </a:r>
            <a:r>
              <a:rPr lang="en-US" sz="2447">
                <a:solidFill>
                  <a:srgbClr val="0F4662"/>
                </a:solidFill>
                <a:latin typeface="Quicksand"/>
                <a:ea typeface="Quicksand"/>
                <a:cs typeface="Quicksand"/>
                <a:sym typeface="Quicksand"/>
              </a:rPr>
              <a:t>inh độ vị</a:t>
            </a:r>
            <a:r>
              <a:rPr lang="en-US" sz="2447">
                <a:solidFill>
                  <a:srgbClr val="0F4662"/>
                </a:solidFill>
                <a:latin typeface="Quicksand"/>
                <a:ea typeface="Quicksand"/>
                <a:cs typeface="Quicksand"/>
                <a:sym typeface="Quicksand"/>
              </a:rPr>
              <a:t> trí (tọa độ ngang) so với tâm viewport (normalized trong code).</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y : tung độ vị trí (tọa độ dọc) so với helipad (normalized).</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vx : vận tốc ngang (linear velocity x), đã được scale/normalize.</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vy : vận tốc dọc (linear velocity y), đã được scale/normalize.</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angle : góc quay của lander (radians).</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angular_velocity : tốc độ góc (radians/second, trong mã có hệ số scale là 20.0/FPS).</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left_contact : boolean (0.0 hoặc 1.0) — chân trái có tiếp đất hay không.</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right_contact : boolean (0.0 hoặc 1.0) — chân phải có tiếp đất hay không.</a:t>
            </a:r>
          </a:p>
          <a:p>
            <a:pPr algn="l">
              <a:lnSpc>
                <a:spcPts val="3426"/>
              </a:lnSpc>
              <a:spcBef>
                <a:spcPct val="0"/>
              </a:spcBef>
            </a:pP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AutoShape 2" id="2"/>
          <p:cNvSpPr/>
          <p:nvPr/>
        </p:nvSpPr>
        <p:spPr>
          <a:xfrm flipV="true">
            <a:off x="281476" y="9958458"/>
            <a:ext cx="17724700" cy="0"/>
          </a:xfrm>
          <a:prstGeom prst="line">
            <a:avLst/>
          </a:prstGeom>
          <a:ln cap="flat" w="76200">
            <a:solidFill>
              <a:srgbClr val="0F4662"/>
            </a:solidFill>
            <a:prstDash val="solid"/>
            <a:headEnd type="none" len="sm" w="sm"/>
            <a:tailEnd type="none" len="sm" w="sm"/>
          </a:ln>
        </p:spPr>
      </p:sp>
      <p:sp>
        <p:nvSpPr>
          <p:cNvPr name="Freeform 3" id="3"/>
          <p:cNvSpPr/>
          <p:nvPr/>
        </p:nvSpPr>
        <p:spPr>
          <a:xfrm flipH="false" flipV="false" rot="0">
            <a:off x="2863621" y="3104499"/>
            <a:ext cx="9347908" cy="2806983"/>
          </a:xfrm>
          <a:custGeom>
            <a:avLst/>
            <a:gdLst/>
            <a:ahLst/>
            <a:cxnLst/>
            <a:rect r="r" b="b" t="t" l="l"/>
            <a:pathLst>
              <a:path h="2806983" w="9347908">
                <a:moveTo>
                  <a:pt x="0" y="0"/>
                </a:moveTo>
                <a:lnTo>
                  <a:pt x="9347908" y="0"/>
                </a:lnTo>
                <a:lnTo>
                  <a:pt x="9347908" y="2806983"/>
                </a:lnTo>
                <a:lnTo>
                  <a:pt x="0" y="2806983"/>
                </a:lnTo>
                <a:lnTo>
                  <a:pt x="0" y="0"/>
                </a:lnTo>
                <a:close/>
              </a:path>
            </a:pathLst>
          </a:custGeom>
          <a:blipFill>
            <a:blip r:embed="rId2"/>
            <a:stretch>
              <a:fillRect l="0" t="0" r="0" b="0"/>
            </a:stretch>
          </a:blipFill>
        </p:spPr>
      </p:sp>
      <p:sp>
        <p:nvSpPr>
          <p:cNvPr name="TextBox 4" id="4"/>
          <p:cNvSpPr txBox="true"/>
          <p:nvPr/>
        </p:nvSpPr>
        <p:spPr>
          <a:xfrm rot="0">
            <a:off x="550299" y="933450"/>
            <a:ext cx="6362948" cy="1624962"/>
          </a:xfrm>
          <a:prstGeom prst="rect">
            <a:avLst/>
          </a:prstGeom>
        </p:spPr>
        <p:txBody>
          <a:bodyPr anchor="t" rtlCol="false" tIns="0" lIns="0" bIns="0" rIns="0">
            <a:spAutoFit/>
          </a:bodyPr>
          <a:lstStyle/>
          <a:p>
            <a:pPr algn="ctr">
              <a:lnSpc>
                <a:spcPts val="6521"/>
              </a:lnSpc>
            </a:pPr>
            <a:r>
              <a:rPr lang="en-US" sz="4658" b="true">
                <a:solidFill>
                  <a:srgbClr val="0F4662"/>
                </a:solidFill>
                <a:latin typeface="Quicksand Bold"/>
                <a:ea typeface="Quicksand Bold"/>
                <a:cs typeface="Quicksand Bold"/>
                <a:sym typeface="Quicksand Bold"/>
              </a:rPr>
              <a:t>3. Simple Reflex Agent</a:t>
            </a:r>
          </a:p>
          <a:p>
            <a:pPr algn="ctr">
              <a:lnSpc>
                <a:spcPts val="6521"/>
              </a:lnSpc>
              <a:spcBef>
                <a:spcPct val="0"/>
              </a:spcBef>
            </a:pPr>
          </a:p>
        </p:txBody>
      </p:sp>
      <p:sp>
        <p:nvSpPr>
          <p:cNvPr name="TextBox 5" id="5"/>
          <p:cNvSpPr txBox="true"/>
          <p:nvPr/>
        </p:nvSpPr>
        <p:spPr>
          <a:xfrm rot="0">
            <a:off x="672011" y="2510787"/>
            <a:ext cx="11688830" cy="842712"/>
          </a:xfrm>
          <a:prstGeom prst="rect">
            <a:avLst/>
          </a:prstGeom>
        </p:spPr>
        <p:txBody>
          <a:bodyPr anchor="t" rtlCol="false" tIns="0" lIns="0" bIns="0" rIns="0">
            <a:spAutoFit/>
          </a:bodyPr>
          <a:lstStyle/>
          <a:p>
            <a:pPr algn="l">
              <a:lnSpc>
                <a:spcPts val="3426"/>
              </a:lnSpc>
              <a:spcBef>
                <a:spcPct val="0"/>
              </a:spcBef>
            </a:pPr>
            <a:r>
              <a:rPr lang="en-US" b="true" sz="2447">
                <a:solidFill>
                  <a:srgbClr val="0F4662"/>
                </a:solidFill>
                <a:latin typeface="Quicksand Bold"/>
                <a:ea typeface="Quicksand Bold"/>
                <a:cs typeface="Quicksand Bold"/>
                <a:sym typeface="Quicksand Bold"/>
              </a:rPr>
              <a:t>Agent cơ bản hoạ</a:t>
            </a:r>
            <a:r>
              <a:rPr lang="en-US" b="true" sz="2447">
                <a:solidFill>
                  <a:srgbClr val="0F4662"/>
                </a:solidFill>
                <a:latin typeface="Quicksand Bold"/>
                <a:ea typeface="Quicksand Bold"/>
                <a:cs typeface="Quicksand Bold"/>
                <a:sym typeface="Quicksand Bold"/>
              </a:rPr>
              <a:t>t động như sau:</a:t>
            </a:r>
          </a:p>
          <a:p>
            <a:pPr algn="l">
              <a:lnSpc>
                <a:spcPts val="3426"/>
              </a:lnSpc>
              <a:spcBef>
                <a:spcPct val="0"/>
              </a:spcBef>
            </a:pPr>
          </a:p>
        </p:txBody>
      </p:sp>
      <p:sp>
        <p:nvSpPr>
          <p:cNvPr name="TextBox 6" id="6"/>
          <p:cNvSpPr txBox="true"/>
          <p:nvPr/>
        </p:nvSpPr>
        <p:spPr>
          <a:xfrm rot="0">
            <a:off x="672011" y="6028308"/>
            <a:ext cx="7216200" cy="2985837"/>
          </a:xfrm>
          <a:prstGeom prst="rect">
            <a:avLst/>
          </a:prstGeom>
        </p:spPr>
        <p:txBody>
          <a:bodyPr anchor="t" rtlCol="false" tIns="0" lIns="0" bIns="0" rIns="0">
            <a:spAutoFit/>
          </a:bodyPr>
          <a:lstStyle/>
          <a:p>
            <a:pPr algn="l">
              <a:lnSpc>
                <a:spcPts val="3426"/>
              </a:lnSpc>
            </a:pPr>
            <a:r>
              <a:rPr lang="en-US" sz="2447">
                <a:solidFill>
                  <a:srgbClr val="0F4662"/>
                </a:solidFill>
                <a:latin typeface="Quicksand"/>
                <a:ea typeface="Quicksand"/>
                <a:cs typeface="Quicksand"/>
                <a:sym typeface="Quicksand"/>
              </a:rPr>
              <a:t>Ý tưởng:</a:t>
            </a:r>
          </a:p>
          <a:p>
            <a:pPr algn="l">
              <a:lnSpc>
                <a:spcPts val="3426"/>
              </a:lnSpc>
            </a:pPr>
            <a:r>
              <a:rPr lang="en-US" sz="2447">
                <a:solidFill>
                  <a:srgbClr val="0F4662"/>
                </a:solidFill>
                <a:latin typeface="Quicksand"/>
                <a:ea typeface="Quicksand"/>
                <a:cs typeface="Quicksand"/>
                <a:sym typeface="Quicksand"/>
              </a:rPr>
              <a:t> </a:t>
            </a:r>
            <a:r>
              <a:rPr lang="en-US" sz="2447">
                <a:solidFill>
                  <a:srgbClr val="0F4662"/>
                </a:solidFill>
                <a:latin typeface="Quicksand"/>
                <a:ea typeface="Quicksand"/>
                <a:cs typeface="Quicksand"/>
                <a:sym typeface="Quicksand"/>
              </a:rPr>
              <a:t>Agent này dựa vào logic “nếu–thì”:</a:t>
            </a:r>
          </a:p>
          <a:p>
            <a:pPr algn="l" marL="528387" indent="-264194" lvl="1">
              <a:lnSpc>
                <a:spcPts val="3426"/>
              </a:lnSpc>
              <a:buFont typeface="Arial"/>
              <a:buChar char="•"/>
            </a:pPr>
            <a:r>
              <a:rPr lang="en-US" sz="2447">
                <a:solidFill>
                  <a:srgbClr val="0F4662"/>
                </a:solidFill>
                <a:latin typeface="Quicksand"/>
                <a:ea typeface="Quicksand"/>
                <a:cs typeface="Quicksand"/>
                <a:sym typeface="Quicksand"/>
              </a:rPr>
              <a:t>Nếu tàu nghiêng quá → kích động cơ phụ để giữ thăng bằng.</a:t>
            </a:r>
          </a:p>
          <a:p>
            <a:pPr algn="l">
              <a:lnSpc>
                <a:spcPts val="3426"/>
              </a:lnSpc>
            </a:pP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Nếu rơi nhanh → bậ</a:t>
            </a:r>
            <a:r>
              <a:rPr lang="en-US" sz="2447">
                <a:solidFill>
                  <a:srgbClr val="0F4662"/>
                </a:solidFill>
                <a:latin typeface="Quicksand"/>
                <a:ea typeface="Quicksand"/>
                <a:cs typeface="Quicksand"/>
                <a:sym typeface="Quicksand"/>
              </a:rPr>
              <a:t>t động cơ chính.</a:t>
            </a:r>
          </a:p>
          <a:p>
            <a:pPr algn="l">
              <a:lnSpc>
                <a:spcPts val="3426"/>
              </a:lnSpc>
              <a:spcBef>
                <a:spcPct val="0"/>
              </a:spcBef>
            </a:pPr>
          </a:p>
        </p:txBody>
      </p:sp>
      <p:sp>
        <p:nvSpPr>
          <p:cNvPr name="TextBox 7" id="7"/>
          <p:cNvSpPr txBox="true"/>
          <p:nvPr/>
        </p:nvSpPr>
        <p:spPr>
          <a:xfrm rot="0">
            <a:off x="8640865" y="6028308"/>
            <a:ext cx="9090445" cy="2557212"/>
          </a:xfrm>
          <a:prstGeom prst="rect">
            <a:avLst/>
          </a:prstGeom>
        </p:spPr>
        <p:txBody>
          <a:bodyPr anchor="t" rtlCol="false" tIns="0" lIns="0" bIns="0" rIns="0">
            <a:spAutoFit/>
          </a:bodyPr>
          <a:lstStyle/>
          <a:p>
            <a:pPr algn="l">
              <a:lnSpc>
                <a:spcPts val="3426"/>
              </a:lnSpc>
            </a:pPr>
            <a:r>
              <a:rPr lang="en-US" sz="2447">
                <a:solidFill>
                  <a:srgbClr val="0F4662"/>
                </a:solidFill>
                <a:latin typeface="Quicksand"/>
                <a:ea typeface="Quicksand"/>
                <a:cs typeface="Quicksand"/>
                <a:sym typeface="Quicksand"/>
              </a:rPr>
              <a:t>Hạn chế:</a:t>
            </a:r>
          </a:p>
          <a:p>
            <a:pPr algn="l" marL="528387" indent="-264194" lvl="1">
              <a:lnSpc>
                <a:spcPts val="3426"/>
              </a:lnSpc>
              <a:buFont typeface="Arial"/>
              <a:buChar char="•"/>
            </a:pPr>
            <a:r>
              <a:rPr lang="en-US" sz="2447">
                <a:solidFill>
                  <a:srgbClr val="0F4662"/>
                </a:solidFill>
                <a:latin typeface="Quicksand"/>
                <a:ea typeface="Quicksand"/>
                <a:cs typeface="Quicksand"/>
                <a:sym typeface="Quicksand"/>
              </a:rPr>
              <a:t>Không</a:t>
            </a:r>
            <a:r>
              <a:rPr lang="en-US" sz="2447">
                <a:solidFill>
                  <a:srgbClr val="0F4662"/>
                </a:solidFill>
                <a:latin typeface="Quicksand"/>
                <a:ea typeface="Quicksand"/>
                <a:cs typeface="Quicksand"/>
                <a:sym typeface="Quicksand"/>
              </a:rPr>
              <a:t> điều khiể</a:t>
            </a:r>
            <a:r>
              <a:rPr lang="en-US" sz="2447">
                <a:solidFill>
                  <a:srgbClr val="0F4662"/>
                </a:solidFill>
                <a:latin typeface="Quicksand"/>
                <a:ea typeface="Quicksand"/>
                <a:cs typeface="Quicksand"/>
                <a:sym typeface="Quicksand"/>
              </a:rPr>
              <a:t>n vị trí ngang (tàu có thể lệch khỏi vùng hạ cánh).</a:t>
            </a:r>
          </a:p>
          <a:p>
            <a:pPr algn="l">
              <a:lnSpc>
                <a:spcPts val="3426"/>
              </a:lnSpc>
            </a:pP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Không giảm dao động khi gần đất → dễ</a:t>
            </a:r>
            <a:r>
              <a:rPr lang="en-US" sz="2447">
                <a:solidFill>
                  <a:srgbClr val="0F4662"/>
                </a:solidFill>
                <a:latin typeface="Quicksand"/>
                <a:ea typeface="Quicksand"/>
                <a:cs typeface="Quicksand"/>
                <a:sym typeface="Quicksand"/>
              </a:rPr>
              <a:t> đâm nổ.</a:t>
            </a:r>
          </a:p>
          <a:p>
            <a:pPr algn="l">
              <a:lnSpc>
                <a:spcPts val="3426"/>
              </a:lnSpc>
              <a:spcBef>
                <a:spcPct val="0"/>
              </a:spcBef>
            </a:pP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0" y="2643306"/>
            <a:ext cx="9957241" cy="5832415"/>
          </a:xfrm>
          <a:custGeom>
            <a:avLst/>
            <a:gdLst/>
            <a:ahLst/>
            <a:cxnLst/>
            <a:rect r="r" b="b" t="t" l="l"/>
            <a:pathLst>
              <a:path h="5832415" w="9957241">
                <a:moveTo>
                  <a:pt x="0" y="0"/>
                </a:moveTo>
                <a:lnTo>
                  <a:pt x="9957241" y="0"/>
                </a:lnTo>
                <a:lnTo>
                  <a:pt x="9957241" y="5832415"/>
                </a:lnTo>
                <a:lnTo>
                  <a:pt x="0" y="5832415"/>
                </a:lnTo>
                <a:lnTo>
                  <a:pt x="0" y="0"/>
                </a:lnTo>
                <a:close/>
              </a:path>
            </a:pathLst>
          </a:custGeom>
          <a:blipFill>
            <a:blip r:embed="rId2"/>
            <a:stretch>
              <a:fillRect l="0" t="0" r="0" b="0"/>
            </a:stretch>
          </a:blipFill>
        </p:spPr>
      </p:sp>
      <p:sp>
        <p:nvSpPr>
          <p:cNvPr name="TextBox 6" id="6"/>
          <p:cNvSpPr txBox="true"/>
          <p:nvPr/>
        </p:nvSpPr>
        <p:spPr>
          <a:xfrm rot="0">
            <a:off x="529001" y="699169"/>
            <a:ext cx="6362948" cy="1624962"/>
          </a:xfrm>
          <a:prstGeom prst="rect">
            <a:avLst/>
          </a:prstGeom>
        </p:spPr>
        <p:txBody>
          <a:bodyPr anchor="t" rtlCol="false" tIns="0" lIns="0" bIns="0" rIns="0">
            <a:spAutoFit/>
          </a:bodyPr>
          <a:lstStyle/>
          <a:p>
            <a:pPr algn="ctr">
              <a:lnSpc>
                <a:spcPts val="6521"/>
              </a:lnSpc>
            </a:pPr>
            <a:r>
              <a:rPr lang="en-US" sz="4658" b="true">
                <a:solidFill>
                  <a:srgbClr val="0F4662"/>
                </a:solidFill>
                <a:latin typeface="Quicksand Bold"/>
                <a:ea typeface="Quicksand Bold"/>
                <a:cs typeface="Quicksand Bold"/>
                <a:sym typeface="Quicksand Bold"/>
              </a:rPr>
              <a:t>3. Simple Reflex Agent</a:t>
            </a:r>
          </a:p>
          <a:p>
            <a:pPr algn="ctr">
              <a:lnSpc>
                <a:spcPts val="6521"/>
              </a:lnSpc>
              <a:spcBef>
                <a:spcPct val="0"/>
              </a:spcBef>
            </a:pPr>
          </a:p>
        </p:txBody>
      </p:sp>
      <p:sp>
        <p:nvSpPr>
          <p:cNvPr name="TextBox 7" id="7"/>
          <p:cNvSpPr txBox="true"/>
          <p:nvPr/>
        </p:nvSpPr>
        <p:spPr>
          <a:xfrm rot="0">
            <a:off x="9681166" y="1511650"/>
            <a:ext cx="7216200" cy="842712"/>
          </a:xfrm>
          <a:prstGeom prst="rect">
            <a:avLst/>
          </a:prstGeom>
        </p:spPr>
        <p:txBody>
          <a:bodyPr anchor="t" rtlCol="false" tIns="0" lIns="0" bIns="0" rIns="0">
            <a:spAutoFit/>
          </a:bodyPr>
          <a:lstStyle/>
          <a:p>
            <a:pPr algn="l">
              <a:lnSpc>
                <a:spcPts val="3426"/>
              </a:lnSpc>
              <a:spcBef>
                <a:spcPct val="0"/>
              </a:spcBef>
            </a:pPr>
            <a:r>
              <a:rPr lang="en-US" b="true" sz="2447">
                <a:solidFill>
                  <a:srgbClr val="0F4662"/>
                </a:solidFill>
                <a:latin typeface="Quicksand Bold"/>
                <a:ea typeface="Quicksand Bold"/>
                <a:cs typeface="Quicksand Bold"/>
                <a:sym typeface="Quicksand Bold"/>
              </a:rPr>
              <a:t>Cấu trúc chạy mô phỏ</a:t>
            </a:r>
            <a:r>
              <a:rPr lang="en-US" b="true" sz="2447">
                <a:solidFill>
                  <a:srgbClr val="0F4662"/>
                </a:solidFill>
                <a:latin typeface="Quicksand Bold"/>
                <a:ea typeface="Quicksand Bold"/>
                <a:cs typeface="Quicksand Bold"/>
                <a:sym typeface="Quicksand Bold"/>
              </a:rPr>
              <a:t>ng</a:t>
            </a:r>
          </a:p>
          <a:p>
            <a:pPr algn="l">
              <a:lnSpc>
                <a:spcPts val="3426"/>
              </a:lnSpc>
              <a:spcBef>
                <a:spcPct val="0"/>
              </a:spcBef>
            </a:pPr>
          </a:p>
        </p:txBody>
      </p:sp>
      <p:sp>
        <p:nvSpPr>
          <p:cNvPr name="TextBox 8" id="8"/>
          <p:cNvSpPr txBox="true"/>
          <p:nvPr/>
        </p:nvSpPr>
        <p:spPr>
          <a:xfrm rot="0">
            <a:off x="10554394" y="3841082"/>
            <a:ext cx="7216200" cy="2557212"/>
          </a:xfrm>
          <a:prstGeom prst="rect">
            <a:avLst/>
          </a:prstGeom>
        </p:spPr>
        <p:txBody>
          <a:bodyPr anchor="t" rtlCol="false" tIns="0" lIns="0" bIns="0" rIns="0">
            <a:spAutoFit/>
          </a:bodyPr>
          <a:lstStyle/>
          <a:p>
            <a:pPr algn="l" marL="528387" indent="-264194" lvl="1">
              <a:lnSpc>
                <a:spcPts val="3426"/>
              </a:lnSpc>
              <a:buFont typeface="Arial"/>
              <a:buChar char="•"/>
            </a:pPr>
            <a:r>
              <a:rPr lang="en-US" sz="2447">
                <a:solidFill>
                  <a:srgbClr val="0F4662"/>
                </a:solidFill>
                <a:latin typeface="Quicksand"/>
                <a:ea typeface="Quicksand"/>
                <a:cs typeface="Quicksand"/>
                <a:sym typeface="Quicksand"/>
              </a:rPr>
              <a:t>Nhiệm vụ : Kết nối môi trường</a:t>
            </a:r>
            <a:r>
              <a:rPr lang="en-US" sz="2447">
                <a:solidFill>
                  <a:srgbClr val="0F4662"/>
                </a:solidFill>
                <a:latin typeface="Quicksand"/>
                <a:ea typeface="Quicksand"/>
                <a:cs typeface="Quicksand"/>
                <a:sym typeface="Quicksand"/>
              </a:rPr>
              <a:t> Lu</a:t>
            </a:r>
            <a:r>
              <a:rPr lang="en-US" sz="2447">
                <a:solidFill>
                  <a:srgbClr val="0F4662"/>
                </a:solidFill>
                <a:latin typeface="Quicksand"/>
                <a:ea typeface="Quicksand"/>
                <a:cs typeface="Quicksand"/>
                <a:sym typeface="Quicksand"/>
              </a:rPr>
              <a:t>narLander với agent, cho phép agent chọn hành động dựa trên quan sát.</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terminated trò chơi kết thcu1 khi tàu rơi hoặc hạ</a:t>
            </a:r>
            <a:r>
              <a:rPr lang="en-US" sz="2447">
                <a:solidFill>
                  <a:srgbClr val="0F4662"/>
                </a:solidFill>
                <a:latin typeface="Quicksand"/>
                <a:ea typeface="Quicksand"/>
                <a:cs typeface="Quicksand"/>
                <a:sym typeface="Quicksand"/>
              </a:rPr>
              <a:t> cánh </a:t>
            </a:r>
          </a:p>
          <a:p>
            <a:pPr algn="l">
              <a:lnSpc>
                <a:spcPts val="3426"/>
              </a:lnSpc>
              <a:spcBef>
                <a:spcPct val="0"/>
              </a:spcBef>
            </a:pP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284983" y="2664903"/>
            <a:ext cx="9396184" cy="1684470"/>
          </a:xfrm>
          <a:custGeom>
            <a:avLst/>
            <a:gdLst/>
            <a:ahLst/>
            <a:cxnLst/>
            <a:rect r="r" b="b" t="t" l="l"/>
            <a:pathLst>
              <a:path h="1684470" w="9396184">
                <a:moveTo>
                  <a:pt x="0" y="0"/>
                </a:moveTo>
                <a:lnTo>
                  <a:pt x="9396183" y="0"/>
                </a:lnTo>
                <a:lnTo>
                  <a:pt x="9396183" y="1684470"/>
                </a:lnTo>
                <a:lnTo>
                  <a:pt x="0" y="1684470"/>
                </a:lnTo>
                <a:lnTo>
                  <a:pt x="0" y="0"/>
                </a:lnTo>
                <a:close/>
              </a:path>
            </a:pathLst>
          </a:custGeom>
          <a:blipFill>
            <a:blip r:embed="rId2"/>
            <a:stretch>
              <a:fillRect l="0" t="0" r="0" b="0"/>
            </a:stretch>
          </a:blipFill>
        </p:spPr>
      </p:sp>
      <p:sp>
        <p:nvSpPr>
          <p:cNvPr name="Freeform 6" id="6"/>
          <p:cNvSpPr/>
          <p:nvPr/>
        </p:nvSpPr>
        <p:spPr>
          <a:xfrm flipH="false" flipV="false" rot="0">
            <a:off x="8378192" y="5361588"/>
            <a:ext cx="10239631" cy="3738278"/>
          </a:xfrm>
          <a:custGeom>
            <a:avLst/>
            <a:gdLst/>
            <a:ahLst/>
            <a:cxnLst/>
            <a:rect r="r" b="b" t="t" l="l"/>
            <a:pathLst>
              <a:path h="3738278" w="10239631">
                <a:moveTo>
                  <a:pt x="0" y="0"/>
                </a:moveTo>
                <a:lnTo>
                  <a:pt x="10239631" y="0"/>
                </a:lnTo>
                <a:lnTo>
                  <a:pt x="10239631" y="3738278"/>
                </a:lnTo>
                <a:lnTo>
                  <a:pt x="0" y="3738278"/>
                </a:lnTo>
                <a:lnTo>
                  <a:pt x="0" y="0"/>
                </a:lnTo>
                <a:close/>
              </a:path>
            </a:pathLst>
          </a:custGeom>
          <a:blipFill>
            <a:blip r:embed="rId3"/>
            <a:stretch>
              <a:fillRect l="0" t="0" r="0" b="0"/>
            </a:stretch>
          </a:blipFill>
        </p:spPr>
      </p:sp>
      <p:sp>
        <p:nvSpPr>
          <p:cNvPr name="TextBox 7" id="7"/>
          <p:cNvSpPr txBox="true"/>
          <p:nvPr/>
        </p:nvSpPr>
        <p:spPr>
          <a:xfrm rot="0">
            <a:off x="529001" y="699169"/>
            <a:ext cx="6362948" cy="1624962"/>
          </a:xfrm>
          <a:prstGeom prst="rect">
            <a:avLst/>
          </a:prstGeom>
        </p:spPr>
        <p:txBody>
          <a:bodyPr anchor="t" rtlCol="false" tIns="0" lIns="0" bIns="0" rIns="0">
            <a:spAutoFit/>
          </a:bodyPr>
          <a:lstStyle/>
          <a:p>
            <a:pPr algn="ctr">
              <a:lnSpc>
                <a:spcPts val="6521"/>
              </a:lnSpc>
            </a:pPr>
            <a:r>
              <a:rPr lang="en-US" sz="4658" b="true">
                <a:solidFill>
                  <a:srgbClr val="0F4662"/>
                </a:solidFill>
                <a:latin typeface="Quicksand Bold"/>
                <a:ea typeface="Quicksand Bold"/>
                <a:cs typeface="Quicksand Bold"/>
                <a:sym typeface="Quicksand Bold"/>
              </a:rPr>
              <a:t>3. Simple Reflex Agent</a:t>
            </a:r>
          </a:p>
          <a:p>
            <a:pPr algn="ctr">
              <a:lnSpc>
                <a:spcPts val="6521"/>
              </a:lnSpc>
              <a:spcBef>
                <a:spcPct val="0"/>
              </a:spcBef>
            </a:pPr>
          </a:p>
        </p:txBody>
      </p:sp>
      <p:sp>
        <p:nvSpPr>
          <p:cNvPr name="TextBox 8" id="8"/>
          <p:cNvSpPr txBox="true"/>
          <p:nvPr/>
        </p:nvSpPr>
        <p:spPr>
          <a:xfrm rot="0">
            <a:off x="10886332" y="1481419"/>
            <a:ext cx="7216200" cy="842712"/>
          </a:xfrm>
          <a:prstGeom prst="rect">
            <a:avLst/>
          </a:prstGeom>
        </p:spPr>
        <p:txBody>
          <a:bodyPr anchor="t" rtlCol="false" tIns="0" lIns="0" bIns="0" rIns="0">
            <a:spAutoFit/>
          </a:bodyPr>
          <a:lstStyle/>
          <a:p>
            <a:pPr algn="l">
              <a:lnSpc>
                <a:spcPts val="3426"/>
              </a:lnSpc>
              <a:spcBef>
                <a:spcPct val="0"/>
              </a:spcBef>
            </a:pPr>
            <a:r>
              <a:rPr lang="en-US" b="true" sz="2447">
                <a:solidFill>
                  <a:srgbClr val="0F4662"/>
                </a:solidFill>
                <a:latin typeface="Quicksand Bold"/>
                <a:ea typeface="Quicksand Bold"/>
                <a:cs typeface="Quicksand Bold"/>
                <a:sym typeface="Quicksand Bold"/>
              </a:rPr>
              <a:t>Random Agent (ngẫu nhiê</a:t>
            </a:r>
            <a:r>
              <a:rPr lang="en-US" b="true" sz="2447">
                <a:solidFill>
                  <a:srgbClr val="0F4662"/>
                </a:solidFill>
                <a:latin typeface="Quicksand Bold"/>
                <a:ea typeface="Quicksand Bold"/>
                <a:cs typeface="Quicksand Bold"/>
                <a:sym typeface="Quicksand Bold"/>
              </a:rPr>
              <a:t>n)</a:t>
            </a:r>
          </a:p>
          <a:p>
            <a:pPr algn="l">
              <a:lnSpc>
                <a:spcPts val="3426"/>
              </a:lnSpc>
              <a:spcBef>
                <a:spcPct val="0"/>
              </a:spcBef>
            </a:pPr>
          </a:p>
        </p:txBody>
      </p:sp>
      <p:sp>
        <p:nvSpPr>
          <p:cNvPr name="TextBox 9" id="9"/>
          <p:cNvSpPr txBox="true"/>
          <p:nvPr/>
        </p:nvSpPr>
        <p:spPr>
          <a:xfrm rot="0">
            <a:off x="10319977" y="2617278"/>
            <a:ext cx="7216200" cy="2128587"/>
          </a:xfrm>
          <a:prstGeom prst="rect">
            <a:avLst/>
          </a:prstGeom>
        </p:spPr>
        <p:txBody>
          <a:bodyPr anchor="t" rtlCol="false" tIns="0" lIns="0" bIns="0" rIns="0">
            <a:spAutoFit/>
          </a:bodyPr>
          <a:lstStyle/>
          <a:p>
            <a:pPr algn="l" marL="528387" indent="-264194" lvl="1">
              <a:lnSpc>
                <a:spcPts val="3426"/>
              </a:lnSpc>
              <a:buFont typeface="Arial"/>
              <a:buChar char="•"/>
            </a:pPr>
            <a:r>
              <a:rPr lang="en-US" sz="2447">
                <a:solidFill>
                  <a:srgbClr val="0F4662"/>
                </a:solidFill>
                <a:latin typeface="Quicksand"/>
                <a:ea typeface="Quicksand"/>
                <a:cs typeface="Quicksand"/>
                <a:sym typeface="Quicksand"/>
              </a:rPr>
              <a:t>Không dùng thông</a:t>
            </a:r>
            <a:r>
              <a:rPr lang="en-US" sz="2447">
                <a:solidFill>
                  <a:srgbClr val="0F4662"/>
                </a:solidFill>
                <a:latin typeface="Quicksand"/>
                <a:ea typeface="Quicksand"/>
                <a:cs typeface="Quicksand"/>
                <a:sym typeface="Quicksand"/>
              </a:rPr>
              <a:t> ti</a:t>
            </a:r>
            <a:r>
              <a:rPr lang="en-US" sz="2447">
                <a:solidFill>
                  <a:srgbClr val="0F4662"/>
                </a:solidFill>
                <a:latin typeface="Quicksand"/>
                <a:ea typeface="Quicksand"/>
                <a:cs typeface="Quicksand"/>
                <a:sym typeface="Quicksand"/>
              </a:rPr>
              <a:t>n cảm biến, chỉ chọn hành động ngẫu nhiên.</a:t>
            </a:r>
          </a:p>
          <a:p>
            <a:pPr algn="l">
              <a:lnSpc>
                <a:spcPts val="3426"/>
              </a:lnSpc>
              <a:spcBef>
                <a:spcPct val="0"/>
              </a:spcBef>
            </a:pPr>
            <a:r>
              <a:rPr lang="en-US" sz="2447">
                <a:solidFill>
                  <a:srgbClr val="0F4662"/>
                </a:solidFill>
                <a:latin typeface="Quicksand"/>
                <a:ea typeface="Quicksand"/>
                <a:cs typeface="Quicksand"/>
                <a:sym typeface="Quicksand"/>
              </a:rPr>
              <a:t>→ Kết quả gần như toàn thất bại</a:t>
            </a:r>
            <a:r>
              <a:rPr lang="en-US" sz="2447">
                <a:solidFill>
                  <a:srgbClr val="0F4662"/>
                </a:solidFill>
                <a:latin typeface="Quicksand"/>
                <a:ea typeface="Quicksand"/>
                <a:cs typeface="Quicksand"/>
                <a:sym typeface="Quicksand"/>
              </a:rPr>
              <a:t> (reward = -100)</a:t>
            </a:r>
          </a:p>
          <a:p>
            <a:pPr algn="l">
              <a:lnSpc>
                <a:spcPts val="3426"/>
              </a:lnSpc>
              <a:spcBef>
                <a:spcPct val="0"/>
              </a:spcBef>
            </a:pPr>
          </a:p>
          <a:p>
            <a:pPr algn="l">
              <a:lnSpc>
                <a:spcPts val="3426"/>
              </a:lnSpc>
              <a:spcBef>
                <a:spcPct val="0"/>
              </a:spcBef>
            </a:pPr>
          </a:p>
        </p:txBody>
      </p:sp>
      <p:sp>
        <p:nvSpPr>
          <p:cNvPr name="TextBox 10" id="10"/>
          <p:cNvSpPr txBox="true"/>
          <p:nvPr/>
        </p:nvSpPr>
        <p:spPr>
          <a:xfrm rot="0">
            <a:off x="1161992" y="4870261"/>
            <a:ext cx="7216200" cy="842712"/>
          </a:xfrm>
          <a:prstGeom prst="rect">
            <a:avLst/>
          </a:prstGeom>
        </p:spPr>
        <p:txBody>
          <a:bodyPr anchor="t" rtlCol="false" tIns="0" lIns="0" bIns="0" rIns="0">
            <a:spAutoFit/>
          </a:bodyPr>
          <a:lstStyle/>
          <a:p>
            <a:pPr algn="l">
              <a:lnSpc>
                <a:spcPts val="3426"/>
              </a:lnSpc>
              <a:spcBef>
                <a:spcPct val="0"/>
              </a:spcBef>
            </a:pPr>
            <a:r>
              <a:rPr lang="en-US" b="true" sz="2447">
                <a:solidFill>
                  <a:srgbClr val="0F4662"/>
                </a:solidFill>
                <a:latin typeface="Quicksand Bold"/>
                <a:ea typeface="Quicksand Bold"/>
                <a:cs typeface="Quicksand Bold"/>
                <a:sym typeface="Quicksand Bold"/>
              </a:rPr>
              <a:t>Simple Reflex Agent</a:t>
            </a:r>
          </a:p>
          <a:p>
            <a:pPr algn="l">
              <a:lnSpc>
                <a:spcPts val="3426"/>
              </a:lnSpc>
              <a:spcBef>
                <a:spcPct val="0"/>
              </a:spcBef>
            </a:pPr>
          </a:p>
        </p:txBody>
      </p:sp>
      <p:sp>
        <p:nvSpPr>
          <p:cNvPr name="TextBox 11" id="11"/>
          <p:cNvSpPr txBox="true"/>
          <p:nvPr/>
        </p:nvSpPr>
        <p:spPr>
          <a:xfrm rot="0">
            <a:off x="529001" y="5807897"/>
            <a:ext cx="7216200" cy="8557962"/>
          </a:xfrm>
          <a:prstGeom prst="rect">
            <a:avLst/>
          </a:prstGeom>
        </p:spPr>
        <p:txBody>
          <a:bodyPr anchor="t" rtlCol="false" tIns="0" lIns="0" bIns="0" rIns="0">
            <a:spAutoFit/>
          </a:bodyPr>
          <a:lstStyle/>
          <a:p>
            <a:pPr algn="l">
              <a:lnSpc>
                <a:spcPts val="3426"/>
              </a:lnSpc>
            </a:pPr>
            <a:r>
              <a:rPr lang="en-US" sz="2447" b="true">
                <a:solidFill>
                  <a:srgbClr val="0F4662"/>
                </a:solidFill>
                <a:latin typeface="Quicksand Bold"/>
                <a:ea typeface="Quicksand Bold"/>
                <a:cs typeface="Quicksand Bold"/>
                <a:sym typeface="Quicksand Bold"/>
              </a:rPr>
              <a:t>Ý tưởng:</a:t>
            </a:r>
          </a:p>
          <a:p>
            <a:pPr algn="l">
              <a:lnSpc>
                <a:spcPts val="3426"/>
              </a:lnSpc>
            </a:pPr>
            <a:r>
              <a:rPr lang="en-US" sz="2447">
                <a:solidFill>
                  <a:srgbClr val="0F4662"/>
                </a:solidFill>
                <a:latin typeface="Quicksand"/>
                <a:ea typeface="Quicksand"/>
                <a:cs typeface="Quicksand"/>
                <a:sym typeface="Quicksand"/>
              </a:rPr>
              <a:t>  Khi tốc độ rơi theo trục Y (VY) thấp hơn -0.3 → bật động cơ chính để hãm rơi.</a:t>
            </a:r>
          </a:p>
          <a:p>
            <a:pPr algn="l">
              <a:lnSpc>
                <a:spcPts val="3426"/>
              </a:lnSpc>
            </a:pPr>
            <a:r>
              <a:rPr lang="en-US" sz="2447">
                <a:solidFill>
                  <a:srgbClr val="0F4662"/>
                </a:solidFill>
                <a:latin typeface="Quicksand"/>
                <a:ea typeface="Quicksand"/>
                <a:cs typeface="Quicksand"/>
                <a:sym typeface="Quicksand"/>
              </a:rPr>
              <a:t>  Nếu không → không làm gì.</a:t>
            </a:r>
          </a:p>
          <a:p>
            <a:pPr algn="l">
              <a:lnSpc>
                <a:spcPts val="3426"/>
              </a:lnSpc>
            </a:pPr>
            <a:r>
              <a:rPr lang="en-US" sz="2447" b="true">
                <a:solidFill>
                  <a:srgbClr val="0F4662"/>
                </a:solidFill>
                <a:latin typeface="Quicksand Bold"/>
                <a:ea typeface="Quicksand Bold"/>
                <a:cs typeface="Quicksand Bold"/>
                <a:sym typeface="Quicksand Bold"/>
              </a:rPr>
              <a:t>Vấn đề:</a:t>
            </a:r>
          </a:p>
          <a:p>
            <a:pPr algn="l">
              <a:lnSpc>
                <a:spcPts val="3426"/>
              </a:lnSpc>
            </a:pPr>
            <a:r>
              <a:rPr lang="en-US" sz="2447" b="true">
                <a:solidFill>
                  <a:srgbClr val="0F4662"/>
                </a:solidFill>
                <a:latin typeface="Quicksand Bold"/>
                <a:ea typeface="Quicksand Bold"/>
                <a:cs typeface="Quicksand Bold"/>
                <a:sym typeface="Quicksand Bold"/>
              </a:rPr>
              <a:t> </a:t>
            </a:r>
            <a:r>
              <a:rPr lang="en-US" sz="2447">
                <a:solidFill>
                  <a:srgbClr val="0F4662"/>
                </a:solidFill>
                <a:latin typeface="Quicksand"/>
                <a:ea typeface="Quicksand"/>
                <a:cs typeface="Quicksand"/>
                <a:sym typeface="Quicksand"/>
              </a:rPr>
              <a:t> Đây là </a:t>
            </a:r>
            <a:r>
              <a:rPr lang="en-US" sz="2447" b="true">
                <a:solidFill>
                  <a:srgbClr val="0F4662"/>
                </a:solidFill>
                <a:latin typeface="Quicksand Bold"/>
                <a:ea typeface="Quicksand Bold"/>
                <a:cs typeface="Quicksand Bold"/>
                <a:sym typeface="Quicksand Bold"/>
              </a:rPr>
              <a:t>chính sách phản xạ cực kỳ đơn giản</a:t>
            </a:r>
            <a:r>
              <a:rPr lang="en-US" sz="2447">
                <a:solidFill>
                  <a:srgbClr val="0F4662"/>
                </a:solidFill>
                <a:latin typeface="Quicksand"/>
                <a:ea typeface="Quicksand"/>
                <a:cs typeface="Quicksand"/>
                <a:sym typeface="Quicksand"/>
              </a:rPr>
              <a:t>, không xử lý các yếu tố quan trọng khác như:</a:t>
            </a:r>
          </a:p>
          <a:p>
            <a:pPr algn="l" marL="528387" indent="-264194" lvl="1">
              <a:lnSpc>
                <a:spcPts val="3426"/>
              </a:lnSpc>
              <a:buFont typeface="Arial"/>
              <a:buChar char="•"/>
            </a:pPr>
            <a:r>
              <a:rPr lang="en-US" sz="2447">
                <a:solidFill>
                  <a:srgbClr val="0F4662"/>
                </a:solidFill>
                <a:latin typeface="Quicksand"/>
                <a:ea typeface="Quicksand"/>
                <a:cs typeface="Quicksand"/>
                <a:sym typeface="Quicksand"/>
              </a:rPr>
              <a:t>Độ nghiêng (angle),</a:t>
            </a:r>
          </a:p>
          <a:p>
            <a:pPr algn="l" marL="528387" indent="-264194" lvl="1">
              <a:lnSpc>
                <a:spcPts val="3426"/>
              </a:lnSpc>
              <a:buFont typeface="Arial"/>
              <a:buChar char="•"/>
            </a:pPr>
          </a:p>
          <a:p>
            <a:pPr algn="l" marL="528387" indent="-264194" lvl="1">
              <a:lnSpc>
                <a:spcPts val="3426"/>
              </a:lnSpc>
              <a:buFont typeface="Arial"/>
              <a:buChar char="•"/>
            </a:pPr>
            <a:r>
              <a:rPr lang="en-US" sz="2447">
                <a:solidFill>
                  <a:srgbClr val="0F4662"/>
                </a:solidFill>
                <a:latin typeface="Quicksand"/>
                <a:ea typeface="Quicksand"/>
                <a:cs typeface="Quicksand"/>
                <a:sym typeface="Quicksand"/>
              </a:rPr>
              <a:t>Vận tốc ngang (VX),</a:t>
            </a:r>
          </a:p>
          <a:p>
            <a:pPr algn="l" marL="528387" indent="-264194" lvl="1">
              <a:lnSpc>
                <a:spcPts val="3426"/>
              </a:lnSpc>
              <a:buFont typeface="Arial"/>
              <a:buChar char="•"/>
            </a:pPr>
          </a:p>
          <a:p>
            <a:pPr algn="l" marL="528387" indent="-264194" lvl="1">
              <a:lnSpc>
                <a:spcPts val="3426"/>
              </a:lnSpc>
              <a:buFont typeface="Arial"/>
              <a:buChar char="•"/>
            </a:pPr>
            <a:r>
              <a:rPr lang="en-US" sz="2447">
                <a:solidFill>
                  <a:srgbClr val="0F4662"/>
                </a:solidFill>
                <a:latin typeface="Quicksand"/>
                <a:ea typeface="Quicksand"/>
                <a:cs typeface="Quicksand"/>
                <a:sym typeface="Quicksand"/>
              </a:rPr>
              <a:t>Vị trí lệch so với bệ (X),</a:t>
            </a:r>
          </a:p>
          <a:p>
            <a:pPr algn="l" marL="528387" indent="-264194" lvl="1">
              <a:lnSpc>
                <a:spcPts val="3426"/>
              </a:lnSpc>
              <a:buFont typeface="Arial"/>
              <a:buChar char="•"/>
            </a:pPr>
          </a:p>
          <a:p>
            <a:pPr algn="l">
              <a:lnSpc>
                <a:spcPts val="3426"/>
              </a:lnSpc>
            </a:pPr>
            <a:r>
              <a:rPr lang="en-US" sz="2447">
                <a:solidFill>
                  <a:srgbClr val="0F4662"/>
                </a:solidFill>
                <a:latin typeface="Quicksand"/>
                <a:ea typeface="Quicksand"/>
                <a:cs typeface="Quicksand"/>
                <a:sym typeface="Quicksand"/>
              </a:rPr>
              <a:t>kiểm soát hai động cơ bên (LEFT, RIGHT).</a:t>
            </a:r>
          </a:p>
          <a:p>
            <a:pPr algn="l">
              <a:lnSpc>
                <a:spcPts val="3426"/>
              </a:lnSpc>
            </a:pPr>
          </a:p>
          <a:p>
            <a:pPr algn="l">
              <a:lnSpc>
                <a:spcPts val="3426"/>
              </a:lnSpc>
            </a:pPr>
            <a:r>
              <a:rPr lang="en-US" sz="2447">
                <a:solidFill>
                  <a:srgbClr val="0F4662"/>
                </a:solidFill>
                <a:latin typeface="Quicksand"/>
                <a:ea typeface="Quicksand"/>
                <a:cs typeface="Quicksand"/>
                <a:sym typeface="Quicksand"/>
              </a:rPr>
              <a:t>→ Kết quả: agent đôi khi hạ cánh được nhờ may mắn (chỉ 1.2% thành công = 12/1000).</a:t>
            </a:r>
          </a:p>
          <a:p>
            <a:pPr algn="l">
              <a:lnSpc>
                <a:spcPts val="3426"/>
              </a:lnSpc>
              <a:spcBef>
                <a:spcPct val="0"/>
              </a:spcBef>
            </a:pPr>
          </a:p>
          <a:p>
            <a:pPr algn="l">
              <a:lnSpc>
                <a:spcPts val="3426"/>
              </a:lnSpc>
              <a:spcBef>
                <a:spcPct val="0"/>
              </a:spcBef>
            </a:pPr>
          </a:p>
          <a:p>
            <a:pPr algn="l">
              <a:lnSpc>
                <a:spcPts val="3426"/>
              </a:lnSpc>
              <a:spcBef>
                <a:spcPct val="0"/>
              </a:spcBef>
            </a:pP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1993358" y="2189650"/>
            <a:ext cx="12394583" cy="1151310"/>
          </a:xfrm>
          <a:custGeom>
            <a:avLst/>
            <a:gdLst/>
            <a:ahLst/>
            <a:cxnLst/>
            <a:rect r="r" b="b" t="t" l="l"/>
            <a:pathLst>
              <a:path h="1151310" w="12394583">
                <a:moveTo>
                  <a:pt x="0" y="0"/>
                </a:moveTo>
                <a:lnTo>
                  <a:pt x="12394583" y="0"/>
                </a:lnTo>
                <a:lnTo>
                  <a:pt x="12394583" y="1151309"/>
                </a:lnTo>
                <a:lnTo>
                  <a:pt x="0" y="1151309"/>
                </a:lnTo>
                <a:lnTo>
                  <a:pt x="0" y="0"/>
                </a:lnTo>
                <a:close/>
              </a:path>
            </a:pathLst>
          </a:custGeom>
          <a:blipFill>
            <a:blip r:embed="rId2"/>
            <a:stretch>
              <a:fillRect l="0" t="-4551" r="0" b="-4551"/>
            </a:stretch>
          </a:blipFill>
        </p:spPr>
      </p:sp>
      <p:sp>
        <p:nvSpPr>
          <p:cNvPr name="TextBox 6" id="6"/>
          <p:cNvSpPr txBox="true"/>
          <p:nvPr/>
        </p:nvSpPr>
        <p:spPr>
          <a:xfrm rot="0">
            <a:off x="529001" y="699169"/>
            <a:ext cx="6362948" cy="1624962"/>
          </a:xfrm>
          <a:prstGeom prst="rect">
            <a:avLst/>
          </a:prstGeom>
        </p:spPr>
        <p:txBody>
          <a:bodyPr anchor="t" rtlCol="false" tIns="0" lIns="0" bIns="0" rIns="0">
            <a:spAutoFit/>
          </a:bodyPr>
          <a:lstStyle/>
          <a:p>
            <a:pPr algn="ctr">
              <a:lnSpc>
                <a:spcPts val="6521"/>
              </a:lnSpc>
            </a:pPr>
            <a:r>
              <a:rPr lang="en-US" sz="4658" b="true">
                <a:solidFill>
                  <a:srgbClr val="0F4662"/>
                </a:solidFill>
                <a:latin typeface="Quicksand Bold"/>
                <a:ea typeface="Quicksand Bold"/>
                <a:cs typeface="Quicksand Bold"/>
                <a:sym typeface="Quicksand Bold"/>
              </a:rPr>
              <a:t>3. Simple Reflex Agent</a:t>
            </a:r>
          </a:p>
          <a:p>
            <a:pPr algn="ctr">
              <a:lnSpc>
                <a:spcPts val="6521"/>
              </a:lnSpc>
              <a:spcBef>
                <a:spcPct val="0"/>
              </a:spcBef>
            </a:pPr>
          </a:p>
        </p:txBody>
      </p:sp>
      <p:sp>
        <p:nvSpPr>
          <p:cNvPr name="TextBox 7" id="7"/>
          <p:cNvSpPr txBox="true"/>
          <p:nvPr/>
        </p:nvSpPr>
        <p:spPr>
          <a:xfrm rot="0">
            <a:off x="11290999" y="1114107"/>
            <a:ext cx="7216200" cy="842712"/>
          </a:xfrm>
          <a:prstGeom prst="rect">
            <a:avLst/>
          </a:prstGeom>
        </p:spPr>
        <p:txBody>
          <a:bodyPr anchor="t" rtlCol="false" tIns="0" lIns="0" bIns="0" rIns="0">
            <a:spAutoFit/>
          </a:bodyPr>
          <a:lstStyle/>
          <a:p>
            <a:pPr algn="l">
              <a:lnSpc>
                <a:spcPts val="3426"/>
              </a:lnSpc>
              <a:spcBef>
                <a:spcPct val="0"/>
              </a:spcBef>
            </a:pPr>
            <a:r>
              <a:rPr lang="en-US" b="true" sz="2447">
                <a:solidFill>
                  <a:srgbClr val="0F4662"/>
                </a:solidFill>
                <a:latin typeface="Quicksand Bold"/>
                <a:ea typeface="Quicksand Bold"/>
                <a:cs typeface="Quicksand Bold"/>
                <a:sym typeface="Quicksand Bold"/>
              </a:rPr>
              <a:t>Kết quả chạy </a:t>
            </a:r>
          </a:p>
          <a:p>
            <a:pPr algn="l">
              <a:lnSpc>
                <a:spcPts val="3426"/>
              </a:lnSpc>
              <a:spcBef>
                <a:spcPct val="0"/>
              </a:spcBef>
            </a:pPr>
          </a:p>
        </p:txBody>
      </p:sp>
      <p:sp>
        <p:nvSpPr>
          <p:cNvPr name="TextBox 8" id="8"/>
          <p:cNvSpPr txBox="true"/>
          <p:nvPr/>
        </p:nvSpPr>
        <p:spPr>
          <a:xfrm rot="0">
            <a:off x="8807802" y="4466108"/>
            <a:ext cx="8983954" cy="2985837"/>
          </a:xfrm>
          <a:prstGeom prst="rect">
            <a:avLst/>
          </a:prstGeom>
        </p:spPr>
        <p:txBody>
          <a:bodyPr anchor="t" rtlCol="false" tIns="0" lIns="0" bIns="0" rIns="0">
            <a:spAutoFit/>
          </a:bodyPr>
          <a:lstStyle/>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Average reward = -97.6 </a:t>
            </a:r>
            <a:r>
              <a:rPr lang="en-US" sz="2447">
                <a:solidFill>
                  <a:srgbClr val="0F4662"/>
                </a:solidFill>
                <a:latin typeface="Quicksand"/>
                <a:ea typeface="Quicksand"/>
                <a:cs typeface="Quicksand"/>
                <a:sym typeface="Quicksand"/>
              </a:rPr>
              <a:t>: Trung bình hầu như toàn thua chỉ thắng</a:t>
            </a:r>
            <a:r>
              <a:rPr lang="en-US" sz="2447">
                <a:solidFill>
                  <a:srgbClr val="0F4662"/>
                </a:solidFill>
                <a:latin typeface="Quicksand"/>
                <a:ea typeface="Quicksand"/>
                <a:cs typeface="Quicksand"/>
                <a:sym typeface="Quicksand"/>
              </a:rPr>
              <a:t> tỉ</a:t>
            </a:r>
            <a:r>
              <a:rPr lang="en-US" sz="2447">
                <a:solidFill>
                  <a:srgbClr val="0F4662"/>
                </a:solidFill>
                <a:latin typeface="Quicksand"/>
                <a:ea typeface="Quicksand"/>
                <a:cs typeface="Quicksand"/>
                <a:sym typeface="Quicksand"/>
              </a:rPr>
              <a:t>nh thoảng +100</a:t>
            </a:r>
          </a:p>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Success rate = 12 / 1000 ≈ 1.2% :</a:t>
            </a:r>
            <a:r>
              <a:rPr lang="en-US" sz="2447">
                <a:solidFill>
                  <a:srgbClr val="0F4662"/>
                </a:solidFill>
                <a:latin typeface="Quicksand"/>
                <a:ea typeface="Quicksand"/>
                <a:cs typeface="Quicksand"/>
                <a:sym typeface="Quicksand"/>
              </a:rPr>
              <a:t> Rất thấp do Agent chỉ dựa vào một biến duy nhất (vận tốc rơi )</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Khi bật động cơ chính quá sớm hoặc quá muộn → rơi lệch / đổ. Không có cân bằng ngang hay kiểm</a:t>
            </a:r>
            <a:r>
              <a:rPr lang="en-US" sz="2447">
                <a:solidFill>
                  <a:srgbClr val="0F4662"/>
                </a:solidFill>
                <a:latin typeface="Quicksand"/>
                <a:ea typeface="Quicksand"/>
                <a:cs typeface="Quicksand"/>
                <a:sym typeface="Quicksand"/>
              </a:rPr>
              <a:t> soát góc.</a:t>
            </a:r>
          </a:p>
          <a:p>
            <a:pPr algn="l">
              <a:lnSpc>
                <a:spcPts val="3426"/>
              </a:lnSpc>
              <a:spcBef>
                <a:spcPct val="0"/>
              </a:spcBef>
            </a:pPr>
          </a:p>
        </p:txBody>
      </p:sp>
      <p:sp>
        <p:nvSpPr>
          <p:cNvPr name="TextBox 9" id="9"/>
          <p:cNvSpPr txBox="true"/>
          <p:nvPr/>
        </p:nvSpPr>
        <p:spPr>
          <a:xfrm rot="0">
            <a:off x="529001" y="4466108"/>
            <a:ext cx="7216200" cy="5557587"/>
          </a:xfrm>
          <a:prstGeom prst="rect">
            <a:avLst/>
          </a:prstGeom>
        </p:spPr>
        <p:txBody>
          <a:bodyPr anchor="t" rtlCol="false" tIns="0" lIns="0" bIns="0" rIns="0">
            <a:spAutoFit/>
          </a:bodyPr>
          <a:lstStyle/>
          <a:p>
            <a:pPr algn="l">
              <a:lnSpc>
                <a:spcPts val="3426"/>
              </a:lnSpc>
            </a:pPr>
            <a:r>
              <a:rPr lang="en-US" sz="2447" b="true">
                <a:solidFill>
                  <a:srgbClr val="0F4662"/>
                </a:solidFill>
                <a:latin typeface="Quicksand Bold"/>
                <a:ea typeface="Quicksand Bold"/>
                <a:cs typeface="Quicksand Bold"/>
                <a:sym typeface="Quicksand Bold"/>
              </a:rPr>
              <a:t>Nguyên nhân</a:t>
            </a:r>
            <a:r>
              <a:rPr lang="en-US" sz="2447" b="true">
                <a:solidFill>
                  <a:srgbClr val="0F4662"/>
                </a:solidFill>
                <a:latin typeface="Quicksand Bold"/>
                <a:ea typeface="Quicksand Bold"/>
                <a:cs typeface="Quicksand Bold"/>
                <a:sym typeface="Quicksand Bold"/>
              </a:rPr>
              <a:t> thất bại </a:t>
            </a:r>
          </a:p>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Không kiểm soát góc nghiêng</a:t>
            </a:r>
            <a:r>
              <a:rPr lang="en-US" sz="2447">
                <a:solidFill>
                  <a:srgbClr val="0F4662"/>
                </a:solidFill>
                <a:latin typeface="Quicksand"/>
                <a:ea typeface="Quicksand"/>
                <a:cs typeface="Quicksand"/>
                <a:sym typeface="Quicksand"/>
              </a:rPr>
              <a:t> : nếu tàu lệch , không tự điều chỉnh nên dễ lật</a:t>
            </a:r>
          </a:p>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K</a:t>
            </a:r>
            <a:r>
              <a:rPr lang="en-US" b="true" sz="2447">
                <a:solidFill>
                  <a:srgbClr val="0F4662"/>
                </a:solidFill>
                <a:latin typeface="Quicksand Bold"/>
                <a:ea typeface="Quicksand Bold"/>
                <a:cs typeface="Quicksand Bold"/>
                <a:sym typeface="Quicksand Bold"/>
              </a:rPr>
              <a:t>hông cân bằng vận tốc ngang vx</a:t>
            </a:r>
            <a:r>
              <a:rPr lang="en-US" sz="2447">
                <a:solidFill>
                  <a:srgbClr val="0F4662"/>
                </a:solidFill>
                <a:latin typeface="Quicksand"/>
                <a:ea typeface="Quicksand"/>
                <a:cs typeface="Quicksand"/>
                <a:sym typeface="Quicksand"/>
              </a:rPr>
              <a:t> : dễ bay lệch khỏi vùng đích ( pad ở x=0)</a:t>
            </a:r>
          </a:p>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Không dùng thông tin chân chạm đất </a:t>
            </a:r>
            <a:r>
              <a:rPr lang="en-US" sz="2447">
                <a:solidFill>
                  <a:srgbClr val="0F4662"/>
                </a:solidFill>
                <a:latin typeface="Quicksand"/>
                <a:ea typeface="Quicksand"/>
                <a:cs typeface="Quicksand"/>
                <a:sym typeface="Quicksand"/>
              </a:rPr>
              <a:t>: không giảm lực khi sắp tiếp đất </a:t>
            </a:r>
          </a:p>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Ngưỡng VY (-0.3) cố định :</a:t>
            </a:r>
            <a:r>
              <a:rPr lang="en-US" sz="2447">
                <a:solidFill>
                  <a:srgbClr val="0F4662"/>
                </a:solidFill>
                <a:latin typeface="Quicksand"/>
                <a:ea typeface="Quicksand"/>
                <a:cs typeface="Quicksand"/>
                <a:sym typeface="Quicksand"/>
              </a:rPr>
              <a:t> không thích nghi với tình huống khác nhau </a:t>
            </a:r>
          </a:p>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Không có vòng lặp điều khiển :</a:t>
            </a:r>
            <a:r>
              <a:rPr lang="en-US" sz="2447">
                <a:solidFill>
                  <a:srgbClr val="0F4662"/>
                </a:solidFill>
                <a:latin typeface="Quicksand"/>
                <a:ea typeface="Quicksand"/>
                <a:cs typeface="Quicksand"/>
                <a:sym typeface="Quicksand"/>
              </a:rPr>
              <a:t> Agent không phản ứng linh hoạt, chỉ bật/tắt một động cơ theo điều kiện duy nhất.</a:t>
            </a:r>
          </a:p>
          <a:p>
            <a:pPr algn="l">
              <a:lnSpc>
                <a:spcPts val="3426"/>
              </a:lnSpc>
              <a:spcBef>
                <a:spcPct val="0"/>
              </a:spcBef>
            </a:pP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1993358" y="2189650"/>
            <a:ext cx="12394583" cy="1151310"/>
          </a:xfrm>
          <a:custGeom>
            <a:avLst/>
            <a:gdLst/>
            <a:ahLst/>
            <a:cxnLst/>
            <a:rect r="r" b="b" t="t" l="l"/>
            <a:pathLst>
              <a:path h="1151310" w="12394583">
                <a:moveTo>
                  <a:pt x="0" y="0"/>
                </a:moveTo>
                <a:lnTo>
                  <a:pt x="12394583" y="0"/>
                </a:lnTo>
                <a:lnTo>
                  <a:pt x="12394583" y="1151309"/>
                </a:lnTo>
                <a:lnTo>
                  <a:pt x="0" y="1151309"/>
                </a:lnTo>
                <a:lnTo>
                  <a:pt x="0" y="0"/>
                </a:lnTo>
                <a:close/>
              </a:path>
            </a:pathLst>
          </a:custGeom>
          <a:blipFill>
            <a:blip r:embed="rId2"/>
            <a:stretch>
              <a:fillRect l="0" t="-4551" r="0" b="-4551"/>
            </a:stretch>
          </a:blipFill>
        </p:spPr>
      </p:sp>
      <p:sp>
        <p:nvSpPr>
          <p:cNvPr name="TextBox 6" id="6"/>
          <p:cNvSpPr txBox="true"/>
          <p:nvPr/>
        </p:nvSpPr>
        <p:spPr>
          <a:xfrm rot="0">
            <a:off x="529001" y="699169"/>
            <a:ext cx="6362948" cy="1624962"/>
          </a:xfrm>
          <a:prstGeom prst="rect">
            <a:avLst/>
          </a:prstGeom>
        </p:spPr>
        <p:txBody>
          <a:bodyPr anchor="t" rtlCol="false" tIns="0" lIns="0" bIns="0" rIns="0">
            <a:spAutoFit/>
          </a:bodyPr>
          <a:lstStyle/>
          <a:p>
            <a:pPr algn="ctr">
              <a:lnSpc>
                <a:spcPts val="6521"/>
              </a:lnSpc>
            </a:pPr>
            <a:r>
              <a:rPr lang="en-US" sz="4658" b="true">
                <a:solidFill>
                  <a:srgbClr val="0F4662"/>
                </a:solidFill>
                <a:latin typeface="Quicksand Bold"/>
                <a:ea typeface="Quicksand Bold"/>
                <a:cs typeface="Quicksand Bold"/>
                <a:sym typeface="Quicksand Bold"/>
              </a:rPr>
              <a:t>3. Simple Reflex Agent</a:t>
            </a:r>
          </a:p>
          <a:p>
            <a:pPr algn="ctr">
              <a:lnSpc>
                <a:spcPts val="6521"/>
              </a:lnSpc>
              <a:spcBef>
                <a:spcPct val="0"/>
              </a:spcBef>
            </a:pPr>
          </a:p>
        </p:txBody>
      </p:sp>
      <p:sp>
        <p:nvSpPr>
          <p:cNvPr name="TextBox 7" id="7"/>
          <p:cNvSpPr txBox="true"/>
          <p:nvPr/>
        </p:nvSpPr>
        <p:spPr>
          <a:xfrm rot="0">
            <a:off x="11290999" y="1114107"/>
            <a:ext cx="7216200" cy="842712"/>
          </a:xfrm>
          <a:prstGeom prst="rect">
            <a:avLst/>
          </a:prstGeom>
        </p:spPr>
        <p:txBody>
          <a:bodyPr anchor="t" rtlCol="false" tIns="0" lIns="0" bIns="0" rIns="0">
            <a:spAutoFit/>
          </a:bodyPr>
          <a:lstStyle/>
          <a:p>
            <a:pPr algn="l">
              <a:lnSpc>
                <a:spcPts val="3426"/>
              </a:lnSpc>
              <a:spcBef>
                <a:spcPct val="0"/>
              </a:spcBef>
            </a:pPr>
            <a:r>
              <a:rPr lang="en-US" b="true" sz="2447">
                <a:solidFill>
                  <a:srgbClr val="0F4662"/>
                </a:solidFill>
                <a:latin typeface="Quicksand Bold"/>
                <a:ea typeface="Quicksand Bold"/>
                <a:cs typeface="Quicksand Bold"/>
                <a:sym typeface="Quicksand Bold"/>
              </a:rPr>
              <a:t>Kết quả chạy </a:t>
            </a:r>
          </a:p>
          <a:p>
            <a:pPr algn="l">
              <a:lnSpc>
                <a:spcPts val="3426"/>
              </a:lnSpc>
              <a:spcBef>
                <a:spcPct val="0"/>
              </a:spcBef>
            </a:pPr>
          </a:p>
        </p:txBody>
      </p:sp>
      <p:sp>
        <p:nvSpPr>
          <p:cNvPr name="TextBox 8" id="8"/>
          <p:cNvSpPr txBox="true"/>
          <p:nvPr/>
        </p:nvSpPr>
        <p:spPr>
          <a:xfrm rot="0">
            <a:off x="8807802" y="4466108"/>
            <a:ext cx="8983954" cy="2985837"/>
          </a:xfrm>
          <a:prstGeom prst="rect">
            <a:avLst/>
          </a:prstGeom>
        </p:spPr>
        <p:txBody>
          <a:bodyPr anchor="t" rtlCol="false" tIns="0" lIns="0" bIns="0" rIns="0">
            <a:spAutoFit/>
          </a:bodyPr>
          <a:lstStyle/>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Average reward = -97.6 </a:t>
            </a:r>
            <a:r>
              <a:rPr lang="en-US" sz="2447">
                <a:solidFill>
                  <a:srgbClr val="0F4662"/>
                </a:solidFill>
                <a:latin typeface="Quicksand"/>
                <a:ea typeface="Quicksand"/>
                <a:cs typeface="Quicksand"/>
                <a:sym typeface="Quicksand"/>
              </a:rPr>
              <a:t>: Trung bình hầu như toàn thua chỉ thắng</a:t>
            </a:r>
            <a:r>
              <a:rPr lang="en-US" sz="2447">
                <a:solidFill>
                  <a:srgbClr val="0F4662"/>
                </a:solidFill>
                <a:latin typeface="Quicksand"/>
                <a:ea typeface="Quicksand"/>
                <a:cs typeface="Quicksand"/>
                <a:sym typeface="Quicksand"/>
              </a:rPr>
              <a:t> tỉ</a:t>
            </a:r>
            <a:r>
              <a:rPr lang="en-US" sz="2447">
                <a:solidFill>
                  <a:srgbClr val="0F4662"/>
                </a:solidFill>
                <a:latin typeface="Quicksand"/>
                <a:ea typeface="Quicksand"/>
                <a:cs typeface="Quicksand"/>
                <a:sym typeface="Quicksand"/>
              </a:rPr>
              <a:t>nh thoảng +100</a:t>
            </a:r>
          </a:p>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Success rate = 12 / 1000 ≈ 1.2% :</a:t>
            </a:r>
            <a:r>
              <a:rPr lang="en-US" sz="2447">
                <a:solidFill>
                  <a:srgbClr val="0F4662"/>
                </a:solidFill>
                <a:latin typeface="Quicksand"/>
                <a:ea typeface="Quicksand"/>
                <a:cs typeface="Quicksand"/>
                <a:sym typeface="Quicksand"/>
              </a:rPr>
              <a:t> Rất thấp do Agent chỉ dựa vào một biến duy nhất (vận tốc rơi )</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Khi bật động cơ chính quá sớm hoặc quá muộn → rơi lệch / đổ. Không có cân bằng ngang hay kiểm</a:t>
            </a:r>
            <a:r>
              <a:rPr lang="en-US" sz="2447">
                <a:solidFill>
                  <a:srgbClr val="0F4662"/>
                </a:solidFill>
                <a:latin typeface="Quicksand"/>
                <a:ea typeface="Quicksand"/>
                <a:cs typeface="Quicksand"/>
                <a:sym typeface="Quicksand"/>
              </a:rPr>
              <a:t> soát góc.</a:t>
            </a:r>
          </a:p>
          <a:p>
            <a:pPr algn="l">
              <a:lnSpc>
                <a:spcPts val="3426"/>
              </a:lnSpc>
              <a:spcBef>
                <a:spcPct val="0"/>
              </a:spcBef>
            </a:pPr>
          </a:p>
        </p:txBody>
      </p:sp>
      <p:sp>
        <p:nvSpPr>
          <p:cNvPr name="TextBox 9" id="9"/>
          <p:cNvSpPr txBox="true"/>
          <p:nvPr/>
        </p:nvSpPr>
        <p:spPr>
          <a:xfrm rot="0">
            <a:off x="529001" y="4466108"/>
            <a:ext cx="7216200" cy="5557587"/>
          </a:xfrm>
          <a:prstGeom prst="rect">
            <a:avLst/>
          </a:prstGeom>
        </p:spPr>
        <p:txBody>
          <a:bodyPr anchor="t" rtlCol="false" tIns="0" lIns="0" bIns="0" rIns="0">
            <a:spAutoFit/>
          </a:bodyPr>
          <a:lstStyle/>
          <a:p>
            <a:pPr algn="l">
              <a:lnSpc>
                <a:spcPts val="3426"/>
              </a:lnSpc>
            </a:pPr>
            <a:r>
              <a:rPr lang="en-US" sz="2447" b="true">
                <a:solidFill>
                  <a:srgbClr val="0F4662"/>
                </a:solidFill>
                <a:latin typeface="Quicksand Bold"/>
                <a:ea typeface="Quicksand Bold"/>
                <a:cs typeface="Quicksand Bold"/>
                <a:sym typeface="Quicksand Bold"/>
              </a:rPr>
              <a:t>Nguyên nhân</a:t>
            </a:r>
            <a:r>
              <a:rPr lang="en-US" sz="2447" b="true">
                <a:solidFill>
                  <a:srgbClr val="0F4662"/>
                </a:solidFill>
                <a:latin typeface="Quicksand Bold"/>
                <a:ea typeface="Quicksand Bold"/>
                <a:cs typeface="Quicksand Bold"/>
                <a:sym typeface="Quicksand Bold"/>
              </a:rPr>
              <a:t> thất bại </a:t>
            </a:r>
          </a:p>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Không kiểm soát góc nghiêng</a:t>
            </a:r>
            <a:r>
              <a:rPr lang="en-US" sz="2447">
                <a:solidFill>
                  <a:srgbClr val="0F4662"/>
                </a:solidFill>
                <a:latin typeface="Quicksand"/>
                <a:ea typeface="Quicksand"/>
                <a:cs typeface="Quicksand"/>
                <a:sym typeface="Quicksand"/>
              </a:rPr>
              <a:t> : nếu tàu lệch , không tự điều chỉnh nên dễ lật</a:t>
            </a:r>
          </a:p>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K</a:t>
            </a:r>
            <a:r>
              <a:rPr lang="en-US" b="true" sz="2447">
                <a:solidFill>
                  <a:srgbClr val="0F4662"/>
                </a:solidFill>
                <a:latin typeface="Quicksand Bold"/>
                <a:ea typeface="Quicksand Bold"/>
                <a:cs typeface="Quicksand Bold"/>
                <a:sym typeface="Quicksand Bold"/>
              </a:rPr>
              <a:t>hông cân bằng vận tốc ngang vx</a:t>
            </a:r>
            <a:r>
              <a:rPr lang="en-US" sz="2447">
                <a:solidFill>
                  <a:srgbClr val="0F4662"/>
                </a:solidFill>
                <a:latin typeface="Quicksand"/>
                <a:ea typeface="Quicksand"/>
                <a:cs typeface="Quicksand"/>
                <a:sym typeface="Quicksand"/>
              </a:rPr>
              <a:t> : dễ bay lệch khỏi vùng đích ( pad ở x=0)</a:t>
            </a:r>
          </a:p>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Không dùng thông tin chân chạm đất </a:t>
            </a:r>
            <a:r>
              <a:rPr lang="en-US" sz="2447">
                <a:solidFill>
                  <a:srgbClr val="0F4662"/>
                </a:solidFill>
                <a:latin typeface="Quicksand"/>
                <a:ea typeface="Quicksand"/>
                <a:cs typeface="Quicksand"/>
                <a:sym typeface="Quicksand"/>
              </a:rPr>
              <a:t>: không giảm lực khi sắp tiếp đất </a:t>
            </a:r>
          </a:p>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Ngưỡng VY (-0.3) cố định :</a:t>
            </a:r>
            <a:r>
              <a:rPr lang="en-US" sz="2447">
                <a:solidFill>
                  <a:srgbClr val="0F4662"/>
                </a:solidFill>
                <a:latin typeface="Quicksand"/>
                <a:ea typeface="Quicksand"/>
                <a:cs typeface="Quicksand"/>
                <a:sym typeface="Quicksand"/>
              </a:rPr>
              <a:t> không thích nghi với tình huống khác nhau </a:t>
            </a:r>
          </a:p>
          <a:p>
            <a:pPr algn="l" marL="528387" indent="-264194" lvl="1">
              <a:lnSpc>
                <a:spcPts val="3426"/>
              </a:lnSpc>
              <a:buFont typeface="Arial"/>
              <a:buChar char="•"/>
            </a:pPr>
            <a:r>
              <a:rPr lang="en-US" b="true" sz="2447">
                <a:solidFill>
                  <a:srgbClr val="0F4662"/>
                </a:solidFill>
                <a:latin typeface="Quicksand Bold"/>
                <a:ea typeface="Quicksand Bold"/>
                <a:cs typeface="Quicksand Bold"/>
                <a:sym typeface="Quicksand Bold"/>
              </a:rPr>
              <a:t>Không có vòng lặp điều khiển :</a:t>
            </a:r>
            <a:r>
              <a:rPr lang="en-US" sz="2447">
                <a:solidFill>
                  <a:srgbClr val="0F4662"/>
                </a:solidFill>
                <a:latin typeface="Quicksand"/>
                <a:ea typeface="Quicksand"/>
                <a:cs typeface="Quicksand"/>
                <a:sym typeface="Quicksand"/>
              </a:rPr>
              <a:t> Agent không phản ứng linh hoạt, chỉ bật/tắt một động cơ theo điều kiện duy nhất.</a:t>
            </a:r>
          </a:p>
          <a:p>
            <a:pPr algn="l">
              <a:lnSpc>
                <a:spcPts val="3426"/>
              </a:lnSpc>
              <a:spcBef>
                <a:spcPct val="0"/>
              </a:spcBef>
            </a:pPr>
          </a:p>
        </p:txBody>
      </p:sp>
    </p:spTree>
  </p:cSld>
  <p:clrMapOvr>
    <a:masterClrMapping/>
  </p:clrMapOvr>
</p:sld>
</file>

<file path=ppt/slides/slide55.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192200" y="315801"/>
            <a:ext cx="13107579" cy="1624962"/>
          </a:xfrm>
          <a:prstGeom prst="rect">
            <a:avLst/>
          </a:prstGeom>
        </p:spPr>
        <p:txBody>
          <a:bodyPr anchor="t" rtlCol="false" tIns="0" lIns="0" bIns="0" rIns="0">
            <a:spAutoFit/>
          </a:bodyPr>
          <a:lstStyle/>
          <a:p>
            <a:pPr algn="ctr">
              <a:lnSpc>
                <a:spcPts val="6521"/>
              </a:lnSpc>
            </a:pPr>
            <a:r>
              <a:rPr lang="en-US" sz="4658" b="true">
                <a:solidFill>
                  <a:srgbClr val="0F4662"/>
                </a:solidFill>
                <a:latin typeface="Quicksand Bold"/>
                <a:ea typeface="Quicksand Bold"/>
                <a:cs typeface="Quicksand Bold"/>
                <a:sym typeface="Quicksand Bold"/>
              </a:rPr>
              <a:t>4. Implement A Better Reflex-Based Agent</a:t>
            </a:r>
          </a:p>
          <a:p>
            <a:pPr algn="ctr">
              <a:lnSpc>
                <a:spcPts val="6521"/>
              </a:lnSpc>
              <a:spcBef>
                <a:spcPct val="0"/>
              </a:spcBef>
            </a:pPr>
          </a:p>
        </p:txBody>
      </p:sp>
      <p:sp>
        <p:nvSpPr>
          <p:cNvPr name="TextBox 6" id="6"/>
          <p:cNvSpPr txBox="true"/>
          <p:nvPr/>
        </p:nvSpPr>
        <p:spPr>
          <a:xfrm rot="0">
            <a:off x="443808" y="6633208"/>
            <a:ext cx="14616529" cy="1271337"/>
          </a:xfrm>
          <a:prstGeom prst="rect">
            <a:avLst/>
          </a:prstGeom>
        </p:spPr>
        <p:txBody>
          <a:bodyPr anchor="t" rtlCol="false" tIns="0" lIns="0" bIns="0" rIns="0">
            <a:spAutoFit/>
          </a:bodyPr>
          <a:lstStyle/>
          <a:p>
            <a:pPr algn="l">
              <a:lnSpc>
                <a:spcPts val="3426"/>
              </a:lnSpc>
              <a:spcBef>
                <a:spcPct val="0"/>
              </a:spcBef>
            </a:pPr>
            <a:r>
              <a:rPr lang="en-US" sz="2447">
                <a:solidFill>
                  <a:srgbClr val="0F4662"/>
                </a:solidFill>
                <a:latin typeface="Quicksand"/>
                <a:ea typeface="Quicksand"/>
                <a:cs typeface="Quicksand"/>
                <a:sym typeface="Quicksand"/>
              </a:rPr>
              <a:t>    Mục tiêu chính là cải thiện</a:t>
            </a:r>
            <a:r>
              <a:rPr lang="en-US" sz="2447">
                <a:solidFill>
                  <a:srgbClr val="0F4662"/>
                </a:solidFill>
                <a:latin typeface="Quicksand"/>
                <a:ea typeface="Quicksand"/>
                <a:cs typeface="Quicksand"/>
                <a:sym typeface="Quicksand"/>
              </a:rPr>
              <a:t> hà</a:t>
            </a:r>
            <a:r>
              <a:rPr lang="en-US" sz="2447">
                <a:solidFill>
                  <a:srgbClr val="0F4662"/>
                </a:solidFill>
                <a:latin typeface="Quicksand"/>
                <a:ea typeface="Quicksand"/>
                <a:cs typeface="Quicksand"/>
                <a:sym typeface="Quicksand"/>
              </a:rPr>
              <a:t>nh vi hạ cánh của agent so với phiên bản Simple Reflex Agent, bằng cách thiết kế một hệ thống phản ứng tức thời dựa trên trạng thái hiện tại của tàu đổ bộ</a:t>
            </a:r>
            <a:r>
              <a:rPr lang="en-US" sz="2447">
                <a:solidFill>
                  <a:srgbClr val="0F4662"/>
                </a:solidFill>
                <a:latin typeface="Quicksand"/>
                <a:ea typeface="Quicksand"/>
                <a:cs typeface="Quicksand"/>
                <a:sym typeface="Quicksand"/>
              </a:rPr>
              <a:t>.</a:t>
            </a:r>
          </a:p>
          <a:p>
            <a:pPr algn="l">
              <a:lnSpc>
                <a:spcPts val="3426"/>
              </a:lnSpc>
              <a:spcBef>
                <a:spcPct val="0"/>
              </a:spcBef>
            </a:pPr>
          </a:p>
        </p:txBody>
      </p:sp>
      <p:sp>
        <p:nvSpPr>
          <p:cNvPr name="TextBox 7" id="7"/>
          <p:cNvSpPr txBox="true"/>
          <p:nvPr/>
        </p:nvSpPr>
        <p:spPr>
          <a:xfrm rot="0">
            <a:off x="443808" y="3608858"/>
            <a:ext cx="14777075" cy="2985837"/>
          </a:xfrm>
          <a:prstGeom prst="rect">
            <a:avLst/>
          </a:prstGeom>
        </p:spPr>
        <p:txBody>
          <a:bodyPr anchor="t" rtlCol="false" tIns="0" lIns="0" bIns="0" rIns="0">
            <a:spAutoFit/>
          </a:bodyPr>
          <a:lstStyle/>
          <a:p>
            <a:pPr algn="l">
              <a:lnSpc>
                <a:spcPts val="3426"/>
              </a:lnSpc>
            </a:pPr>
            <a:r>
              <a:rPr lang="en-US" sz="2447">
                <a:solidFill>
                  <a:srgbClr val="0F4662"/>
                </a:solidFill>
                <a:latin typeface="Quicksand"/>
                <a:ea typeface="Quicksand"/>
                <a:cs typeface="Quicksand"/>
                <a:sym typeface="Quicksand"/>
              </a:rPr>
              <a:t>          </a:t>
            </a:r>
            <a:r>
              <a:rPr lang="en-US" sz="2447">
                <a:solidFill>
                  <a:srgbClr val="0F4662"/>
                </a:solidFill>
                <a:latin typeface="Quicksand"/>
                <a:ea typeface="Quicksand"/>
                <a:cs typeface="Quicksand"/>
                <a:sym typeface="Quicksand"/>
              </a:rPr>
              <a:t>Tron</a:t>
            </a:r>
            <a:r>
              <a:rPr lang="en-US" sz="2447">
                <a:solidFill>
                  <a:srgbClr val="0F4662"/>
                </a:solidFill>
                <a:latin typeface="Quicksand"/>
                <a:ea typeface="Quicksand"/>
                <a:cs typeface="Quicksand"/>
                <a:sym typeface="Quicksand"/>
              </a:rPr>
              <a:t>g phần này,</a:t>
            </a:r>
            <a:r>
              <a:rPr lang="en-US" sz="2447">
                <a:solidFill>
                  <a:srgbClr val="0F4662"/>
                </a:solidFill>
                <a:latin typeface="Quicksand"/>
                <a:ea typeface="Quicksand"/>
                <a:cs typeface="Quicksand"/>
                <a:sym typeface="Quicksand"/>
              </a:rPr>
              <a:t> ta triển khai một tác nhân phản xạ cải tiến (Better Reflex Agent) cho môi trường LunarLander-v3 thuộc bộ môi trường chuẩn của Gymnasium (OpenAI, 2023).</a:t>
            </a:r>
          </a:p>
          <a:p>
            <a:pPr algn="l">
              <a:lnSpc>
                <a:spcPts val="3426"/>
              </a:lnSpc>
            </a:pPr>
          </a:p>
          <a:p>
            <a:pPr algn="l">
              <a:lnSpc>
                <a:spcPts val="3426"/>
              </a:lnSpc>
            </a:pPr>
            <a:r>
              <a:rPr lang="en-US" sz="2447">
                <a:solidFill>
                  <a:srgbClr val="0F4662"/>
                </a:solidFill>
                <a:latin typeface="Quicksand"/>
                <a:ea typeface="Quicksand"/>
                <a:cs typeface="Quicksand"/>
                <a:sym typeface="Quicksand"/>
              </a:rPr>
              <a:t>          Khác với phương pháp học tăng cường (Reinforcement Learning), agent này không học từ dữ liệu, mà thực hiện hành vi dựa trên các quy tắc phản xạ (rule-based) xuất phát từ trực giác vật lý: giữ thăng bằng, giảm vận tốc rơi và giảm lệch ngang.</a:t>
            </a:r>
          </a:p>
          <a:p>
            <a:pPr algn="l">
              <a:lnSpc>
                <a:spcPts val="3426"/>
              </a:lnSpc>
              <a:spcBef>
                <a:spcPct val="0"/>
              </a:spcBef>
            </a:pPr>
          </a:p>
        </p:txBody>
      </p:sp>
      <p:sp>
        <p:nvSpPr>
          <p:cNvPr name="TextBox 8" id="8"/>
          <p:cNvSpPr txBox="true"/>
          <p:nvPr/>
        </p:nvSpPr>
        <p:spPr>
          <a:xfrm rot="0">
            <a:off x="741983" y="1734433"/>
            <a:ext cx="4922282" cy="663999"/>
          </a:xfrm>
          <a:prstGeom prst="rect">
            <a:avLst/>
          </a:prstGeom>
        </p:spPr>
        <p:txBody>
          <a:bodyPr anchor="t" rtlCol="false" tIns="0" lIns="0" bIns="0" rIns="0">
            <a:spAutoFit/>
          </a:bodyPr>
          <a:lstStyle/>
          <a:p>
            <a:pPr algn="ctr">
              <a:lnSpc>
                <a:spcPts val="5401"/>
              </a:lnSpc>
              <a:spcBef>
                <a:spcPct val="0"/>
              </a:spcBef>
            </a:pPr>
            <a:r>
              <a:rPr lang="en-US" b="true" sz="3858">
                <a:solidFill>
                  <a:srgbClr val="0F4662"/>
                </a:solidFill>
                <a:latin typeface="Quicksand Bold"/>
                <a:ea typeface="Quicksand Bold"/>
                <a:cs typeface="Quicksand Bold"/>
                <a:sym typeface="Quicksand Bold"/>
              </a:rPr>
              <a:t>4.1 Giới thiệu mô hình</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0" y="2456124"/>
            <a:ext cx="7312014" cy="5800717"/>
          </a:xfrm>
          <a:custGeom>
            <a:avLst/>
            <a:gdLst/>
            <a:ahLst/>
            <a:cxnLst/>
            <a:rect r="r" b="b" t="t" l="l"/>
            <a:pathLst>
              <a:path h="5800717" w="7312014">
                <a:moveTo>
                  <a:pt x="0" y="0"/>
                </a:moveTo>
                <a:lnTo>
                  <a:pt x="7312014" y="0"/>
                </a:lnTo>
                <a:lnTo>
                  <a:pt x="7312014" y="5800717"/>
                </a:lnTo>
                <a:lnTo>
                  <a:pt x="0" y="5800717"/>
                </a:lnTo>
                <a:lnTo>
                  <a:pt x="0" y="0"/>
                </a:lnTo>
                <a:close/>
              </a:path>
            </a:pathLst>
          </a:custGeom>
          <a:blipFill>
            <a:blip r:embed="rId2"/>
            <a:stretch>
              <a:fillRect l="0" t="0" r="0" b="0"/>
            </a:stretch>
          </a:blipFill>
        </p:spPr>
      </p:sp>
      <p:sp>
        <p:nvSpPr>
          <p:cNvPr name="TextBox 6" id="6"/>
          <p:cNvSpPr txBox="true"/>
          <p:nvPr/>
        </p:nvSpPr>
        <p:spPr>
          <a:xfrm rot="0">
            <a:off x="192200" y="315801"/>
            <a:ext cx="13107579" cy="1624962"/>
          </a:xfrm>
          <a:prstGeom prst="rect">
            <a:avLst/>
          </a:prstGeom>
        </p:spPr>
        <p:txBody>
          <a:bodyPr anchor="t" rtlCol="false" tIns="0" lIns="0" bIns="0" rIns="0">
            <a:spAutoFit/>
          </a:bodyPr>
          <a:lstStyle/>
          <a:p>
            <a:pPr algn="ctr">
              <a:lnSpc>
                <a:spcPts val="6521"/>
              </a:lnSpc>
            </a:pPr>
            <a:r>
              <a:rPr lang="en-US" sz="4658" b="true">
                <a:solidFill>
                  <a:srgbClr val="0F4662"/>
                </a:solidFill>
                <a:latin typeface="Quicksand Bold"/>
                <a:ea typeface="Quicksand Bold"/>
                <a:cs typeface="Quicksand Bold"/>
                <a:sym typeface="Quicksand Bold"/>
              </a:rPr>
              <a:t>4. Implement A Better Reflex-Based Agent</a:t>
            </a:r>
          </a:p>
          <a:p>
            <a:pPr algn="ctr">
              <a:lnSpc>
                <a:spcPts val="6521"/>
              </a:lnSpc>
              <a:spcBef>
                <a:spcPct val="0"/>
              </a:spcBef>
            </a:pPr>
          </a:p>
        </p:txBody>
      </p:sp>
      <p:sp>
        <p:nvSpPr>
          <p:cNvPr name="TextBox 7" id="7"/>
          <p:cNvSpPr txBox="true"/>
          <p:nvPr/>
        </p:nvSpPr>
        <p:spPr>
          <a:xfrm rot="0">
            <a:off x="7866106" y="3986733"/>
            <a:ext cx="10144846" cy="3414462"/>
          </a:xfrm>
          <a:prstGeom prst="rect">
            <a:avLst/>
          </a:prstGeom>
        </p:spPr>
        <p:txBody>
          <a:bodyPr anchor="t" rtlCol="false" tIns="0" lIns="0" bIns="0" rIns="0">
            <a:spAutoFit/>
          </a:bodyPr>
          <a:lstStyle/>
          <a:p>
            <a:pPr algn="l">
              <a:lnSpc>
                <a:spcPts val="3426"/>
              </a:lnSpc>
            </a:pPr>
            <a:r>
              <a:rPr lang="en-US" sz="2447">
                <a:solidFill>
                  <a:srgbClr val="0F4662"/>
                </a:solidFill>
                <a:latin typeface="Quicksand"/>
                <a:ea typeface="Quicksand"/>
                <a:cs typeface="Quicksand"/>
                <a:sym typeface="Quicksand"/>
              </a:rPr>
              <a:t>Cấu trúc logic của tác nhân bao gồm ba cơ chế</a:t>
            </a:r>
            <a:r>
              <a:rPr lang="en-US" sz="2447">
                <a:solidFill>
                  <a:srgbClr val="0F4662"/>
                </a:solidFill>
                <a:latin typeface="Quicksand"/>
                <a:ea typeface="Quicksand"/>
                <a:cs typeface="Quicksand"/>
                <a:sym typeface="Quicksand"/>
              </a:rPr>
              <a:t> chí</a:t>
            </a:r>
            <a:r>
              <a:rPr lang="en-US" sz="2447">
                <a:solidFill>
                  <a:srgbClr val="0F4662"/>
                </a:solidFill>
                <a:latin typeface="Quicksand"/>
                <a:ea typeface="Quicksand"/>
                <a:cs typeface="Quicksand"/>
                <a:sym typeface="Quicksand"/>
              </a:rPr>
              <a:t>nh:</a:t>
            </a:r>
          </a:p>
          <a:p>
            <a:pPr algn="l" marL="528387" indent="-264194" lvl="1">
              <a:lnSpc>
                <a:spcPts val="3426"/>
              </a:lnSpc>
              <a:buAutoNum type="arabicPeriod" startAt="1"/>
            </a:pPr>
            <a:r>
              <a:rPr lang="en-US" sz="2447">
                <a:solidFill>
                  <a:srgbClr val="0F4662"/>
                </a:solidFill>
                <a:latin typeface="Quicksand"/>
                <a:ea typeface="Quicksand"/>
                <a:cs typeface="Quicksand"/>
                <a:sym typeface="Quicksand"/>
              </a:rPr>
              <a:t>Cân bằng góc dựa vào angle để duy trì trạng thái thẳng đứng.</a:t>
            </a:r>
          </a:p>
          <a:p>
            <a:pPr algn="l" marL="528387" indent="-264194" lvl="1">
              <a:lnSpc>
                <a:spcPts val="3426"/>
              </a:lnSpc>
              <a:buAutoNum type="arabicPeriod" startAt="1"/>
            </a:pPr>
            <a:r>
              <a:rPr lang="en-US" sz="2447">
                <a:solidFill>
                  <a:srgbClr val="0F4662"/>
                </a:solidFill>
                <a:latin typeface="Quicksand"/>
                <a:ea typeface="Quicksand"/>
                <a:cs typeface="Quicksand"/>
                <a:sym typeface="Quicksand"/>
              </a:rPr>
              <a:t>Giảm vận tốc ngang khi độ lệch tốc độ lớn hơn ngưỡng cho phép.</a:t>
            </a:r>
          </a:p>
          <a:p>
            <a:pPr algn="l" marL="528387" indent="-264194" lvl="1">
              <a:lnSpc>
                <a:spcPts val="3426"/>
              </a:lnSpc>
              <a:buAutoNum type="arabicPeriod" startAt="1"/>
            </a:pPr>
            <a:r>
              <a:rPr lang="en-US" sz="2447">
                <a:solidFill>
                  <a:srgbClr val="0F4662"/>
                </a:solidFill>
                <a:latin typeface="Quicksand"/>
                <a:ea typeface="Quicksand"/>
                <a:cs typeface="Quicksand"/>
                <a:sym typeface="Quicksand"/>
              </a:rPr>
              <a:t>Điều chỉnh độ cao nhằm giảm va đập khi tiếp đất.</a:t>
            </a:r>
          </a:p>
          <a:p>
            <a:pPr algn="l">
              <a:lnSpc>
                <a:spcPts val="3426"/>
              </a:lnSpc>
            </a:pPr>
          </a:p>
          <a:p>
            <a:pPr algn="l">
              <a:lnSpc>
                <a:spcPts val="3426"/>
              </a:lnSpc>
              <a:spcBef>
                <a:spcPct val="0"/>
              </a:spcBef>
            </a:pPr>
            <a:r>
              <a:rPr lang="en-US" sz="2447">
                <a:solidFill>
                  <a:srgbClr val="0F4662"/>
                </a:solidFill>
                <a:latin typeface="Quicksand"/>
                <a:ea typeface="Quicksand"/>
                <a:cs typeface="Quicksand"/>
                <a:sym typeface="Quicksand"/>
              </a:rPr>
              <a:t>   Các ngưỡng (threshold) được lựa chọn thủ công thông qua thực nghiệm nhiều lần, nhằm đạt được sự ổn định tương đối</a:t>
            </a:r>
            <a:r>
              <a:rPr lang="en-US" sz="2447">
                <a:solidFill>
                  <a:srgbClr val="0F4662"/>
                </a:solidFill>
                <a:latin typeface="Quicksand"/>
                <a:ea typeface="Quicksand"/>
                <a:cs typeface="Quicksand"/>
                <a:sym typeface="Quicksand"/>
              </a:rPr>
              <a:t>.</a:t>
            </a:r>
          </a:p>
          <a:p>
            <a:pPr algn="l">
              <a:lnSpc>
                <a:spcPts val="3426"/>
              </a:lnSpc>
              <a:spcBef>
                <a:spcPct val="0"/>
              </a:spcBef>
            </a:pPr>
          </a:p>
        </p:txBody>
      </p:sp>
      <p:sp>
        <p:nvSpPr>
          <p:cNvPr name="TextBox 8" id="8"/>
          <p:cNvSpPr txBox="true"/>
          <p:nvPr/>
        </p:nvSpPr>
        <p:spPr>
          <a:xfrm rot="0">
            <a:off x="10091910" y="2543946"/>
            <a:ext cx="7919042" cy="842712"/>
          </a:xfrm>
          <a:prstGeom prst="rect">
            <a:avLst/>
          </a:prstGeom>
        </p:spPr>
        <p:txBody>
          <a:bodyPr anchor="t" rtlCol="false" tIns="0" lIns="0" bIns="0" rIns="0">
            <a:spAutoFit/>
          </a:bodyPr>
          <a:lstStyle/>
          <a:p>
            <a:pPr algn="l">
              <a:lnSpc>
                <a:spcPts val="3426"/>
              </a:lnSpc>
            </a:pPr>
            <a:r>
              <a:rPr lang="en-US" sz="2447">
                <a:solidFill>
                  <a:srgbClr val="0F4662"/>
                </a:solidFill>
                <a:latin typeface="Quicksand"/>
                <a:ea typeface="Quicksand"/>
                <a:cs typeface="Quicksand"/>
                <a:sym typeface="Quicksand"/>
              </a:rPr>
              <a:t>Trạn</a:t>
            </a:r>
            <a:r>
              <a:rPr lang="en-US" sz="2447">
                <a:solidFill>
                  <a:srgbClr val="0F4662"/>
                </a:solidFill>
                <a:latin typeface="Quicksand"/>
                <a:ea typeface="Quicksand"/>
                <a:cs typeface="Quicksand"/>
                <a:sym typeface="Quicksand"/>
              </a:rPr>
              <a:t>g </a:t>
            </a:r>
            <a:r>
              <a:rPr lang="en-US" sz="2447">
                <a:solidFill>
                  <a:srgbClr val="0F4662"/>
                </a:solidFill>
                <a:latin typeface="Quicksand"/>
                <a:ea typeface="Quicksand"/>
                <a:cs typeface="Quicksand"/>
                <a:sym typeface="Quicksand"/>
              </a:rPr>
              <a:t>thái của môi trường được biểu diễn bởi vector:</a:t>
            </a:r>
          </a:p>
          <a:p>
            <a:pPr algn="l">
              <a:lnSpc>
                <a:spcPts val="3426"/>
              </a:lnSpc>
              <a:spcBef>
                <a:spcPct val="0"/>
              </a:spcBef>
            </a:pPr>
          </a:p>
        </p:txBody>
      </p:sp>
      <p:sp>
        <p:nvSpPr>
          <p:cNvPr name="TextBox 9" id="9"/>
          <p:cNvSpPr txBox="true"/>
          <p:nvPr/>
        </p:nvSpPr>
        <p:spPr>
          <a:xfrm rot="0">
            <a:off x="572912" y="1457556"/>
            <a:ext cx="10708493" cy="1349799"/>
          </a:xfrm>
          <a:prstGeom prst="rect">
            <a:avLst/>
          </a:prstGeom>
        </p:spPr>
        <p:txBody>
          <a:bodyPr anchor="t" rtlCol="false" tIns="0" lIns="0" bIns="0" rIns="0">
            <a:spAutoFit/>
          </a:bodyPr>
          <a:lstStyle/>
          <a:p>
            <a:pPr algn="ctr">
              <a:lnSpc>
                <a:spcPts val="5401"/>
              </a:lnSpc>
              <a:spcBef>
                <a:spcPct val="0"/>
              </a:spcBef>
            </a:pPr>
            <a:r>
              <a:rPr lang="en-US" b="true" sz="3858">
                <a:solidFill>
                  <a:srgbClr val="0F4662"/>
                </a:solidFill>
                <a:latin typeface="Quicksand Bold"/>
                <a:ea typeface="Quicksand Bold"/>
                <a:cs typeface="Quicksand Bold"/>
                <a:sym typeface="Quicksand Bold"/>
              </a:rPr>
              <a:t>4.2 Phương pháp và thiết kế logic điều khiển</a:t>
            </a:r>
          </a:p>
          <a:p>
            <a:pPr algn="ctr">
              <a:lnSpc>
                <a:spcPts val="5401"/>
              </a:lnSpc>
              <a:spcBef>
                <a:spcPct val="0"/>
              </a:spcBef>
            </a:pP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354282" y="2504779"/>
            <a:ext cx="10849030" cy="6753521"/>
          </a:xfrm>
          <a:custGeom>
            <a:avLst/>
            <a:gdLst/>
            <a:ahLst/>
            <a:cxnLst/>
            <a:rect r="r" b="b" t="t" l="l"/>
            <a:pathLst>
              <a:path h="6753521" w="10849030">
                <a:moveTo>
                  <a:pt x="0" y="0"/>
                </a:moveTo>
                <a:lnTo>
                  <a:pt x="10849029" y="0"/>
                </a:lnTo>
                <a:lnTo>
                  <a:pt x="10849029" y="6753521"/>
                </a:lnTo>
                <a:lnTo>
                  <a:pt x="0" y="6753521"/>
                </a:lnTo>
                <a:lnTo>
                  <a:pt x="0" y="0"/>
                </a:lnTo>
                <a:close/>
              </a:path>
            </a:pathLst>
          </a:custGeom>
          <a:blipFill>
            <a:blip r:embed="rId2"/>
            <a:stretch>
              <a:fillRect l="0" t="0" r="0" b="0"/>
            </a:stretch>
          </a:blipFill>
        </p:spPr>
      </p:sp>
      <p:sp>
        <p:nvSpPr>
          <p:cNvPr name="TextBox 6" id="6"/>
          <p:cNvSpPr txBox="true"/>
          <p:nvPr/>
        </p:nvSpPr>
        <p:spPr>
          <a:xfrm rot="0">
            <a:off x="192200" y="315801"/>
            <a:ext cx="13107579" cy="1624962"/>
          </a:xfrm>
          <a:prstGeom prst="rect">
            <a:avLst/>
          </a:prstGeom>
        </p:spPr>
        <p:txBody>
          <a:bodyPr anchor="t" rtlCol="false" tIns="0" lIns="0" bIns="0" rIns="0">
            <a:spAutoFit/>
          </a:bodyPr>
          <a:lstStyle/>
          <a:p>
            <a:pPr algn="ctr">
              <a:lnSpc>
                <a:spcPts val="6521"/>
              </a:lnSpc>
            </a:pPr>
            <a:r>
              <a:rPr lang="en-US" sz="4658" b="true">
                <a:solidFill>
                  <a:srgbClr val="0F4662"/>
                </a:solidFill>
                <a:latin typeface="Quicksand Bold"/>
                <a:ea typeface="Quicksand Bold"/>
                <a:cs typeface="Quicksand Bold"/>
                <a:sym typeface="Quicksand Bold"/>
              </a:rPr>
              <a:t>4. Implement A Better Reflex-Based Agent</a:t>
            </a:r>
          </a:p>
          <a:p>
            <a:pPr algn="ctr">
              <a:lnSpc>
                <a:spcPts val="6521"/>
              </a:lnSpc>
              <a:spcBef>
                <a:spcPct val="0"/>
              </a:spcBef>
            </a:pPr>
          </a:p>
        </p:txBody>
      </p:sp>
      <p:sp>
        <p:nvSpPr>
          <p:cNvPr name="TextBox 7" id="7"/>
          <p:cNvSpPr txBox="true"/>
          <p:nvPr/>
        </p:nvSpPr>
        <p:spPr>
          <a:xfrm rot="0">
            <a:off x="8143154" y="4055394"/>
            <a:ext cx="10144846" cy="2128587"/>
          </a:xfrm>
          <a:prstGeom prst="rect">
            <a:avLst/>
          </a:prstGeom>
        </p:spPr>
        <p:txBody>
          <a:bodyPr anchor="t" rtlCol="false" tIns="0" lIns="0" bIns="0" rIns="0">
            <a:spAutoFit/>
          </a:bodyPr>
          <a:lstStyle/>
          <a:p>
            <a:pPr algn="l" marL="528387" indent="-264194" lvl="1">
              <a:lnSpc>
                <a:spcPts val="3426"/>
              </a:lnSpc>
              <a:buFont typeface="Arial"/>
              <a:buChar char="•"/>
            </a:pPr>
            <a:r>
              <a:rPr lang="en-US" sz="2447">
                <a:solidFill>
                  <a:srgbClr val="0F4662"/>
                </a:solidFill>
                <a:latin typeface="Quicksand"/>
                <a:ea typeface="Quicksand"/>
                <a:cs typeface="Quicksand"/>
                <a:sym typeface="Quicksand"/>
              </a:rPr>
              <a:t>Hàm đánh giá được</a:t>
            </a:r>
            <a:r>
              <a:rPr lang="en-US" sz="2447">
                <a:solidFill>
                  <a:srgbClr val="0F4662"/>
                </a:solidFill>
                <a:latin typeface="Quicksand"/>
                <a:ea typeface="Quicksand"/>
                <a:cs typeface="Quicksand"/>
                <a:sym typeface="Quicksand"/>
              </a:rPr>
              <a:t> cài</a:t>
            </a:r>
            <a:r>
              <a:rPr lang="en-US" sz="2447">
                <a:solidFill>
                  <a:srgbClr val="0F4662"/>
                </a:solidFill>
                <a:latin typeface="Quicksand"/>
                <a:ea typeface="Quicksand"/>
                <a:cs typeface="Quicksand"/>
                <a:sym typeface="Quicksand"/>
              </a:rPr>
              <a:t> đặt dựa trên 100 episode, với mỗi episode tính tổng reward tích lũy theo chuẩn của môi trường LunarLander.</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Mỗi lần hạ cánh thành công (reward &gt; 200) được ghi nhận là một lần “success”</a:t>
            </a:r>
          </a:p>
          <a:p>
            <a:pPr algn="l">
              <a:lnSpc>
                <a:spcPts val="3426"/>
              </a:lnSpc>
              <a:spcBef>
                <a:spcPct val="0"/>
              </a:spcBef>
            </a:pPr>
          </a:p>
        </p:txBody>
      </p:sp>
      <p:sp>
        <p:nvSpPr>
          <p:cNvPr name="TextBox 8" id="8"/>
          <p:cNvSpPr txBox="true"/>
          <p:nvPr/>
        </p:nvSpPr>
        <p:spPr>
          <a:xfrm rot="0">
            <a:off x="572912" y="1457556"/>
            <a:ext cx="10708493" cy="1349799"/>
          </a:xfrm>
          <a:prstGeom prst="rect">
            <a:avLst/>
          </a:prstGeom>
        </p:spPr>
        <p:txBody>
          <a:bodyPr anchor="t" rtlCol="false" tIns="0" lIns="0" bIns="0" rIns="0">
            <a:spAutoFit/>
          </a:bodyPr>
          <a:lstStyle/>
          <a:p>
            <a:pPr algn="ctr">
              <a:lnSpc>
                <a:spcPts val="5401"/>
              </a:lnSpc>
              <a:spcBef>
                <a:spcPct val="0"/>
              </a:spcBef>
            </a:pPr>
            <a:r>
              <a:rPr lang="en-US" b="true" sz="3858">
                <a:solidFill>
                  <a:srgbClr val="0F4662"/>
                </a:solidFill>
                <a:latin typeface="Quicksand Bold"/>
                <a:ea typeface="Quicksand Bold"/>
                <a:cs typeface="Quicksand Bold"/>
                <a:sym typeface="Quicksand Bold"/>
              </a:rPr>
              <a:t>4.3 Đánh giá và phương pháp thực nghiệm</a:t>
            </a:r>
          </a:p>
          <a:p>
            <a:pPr algn="ctr">
              <a:lnSpc>
                <a:spcPts val="5401"/>
              </a:lnSpc>
              <a:spcBef>
                <a:spcPct val="0"/>
              </a:spcBef>
            </a:pPr>
          </a:p>
        </p:txBody>
      </p:sp>
    </p:spTree>
  </p:cSld>
  <p:clrMapOvr>
    <a:masterClrMapping/>
  </p:clrMapOvr>
</p:sld>
</file>

<file path=ppt/slides/slide58.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5927159" cy="10287000"/>
            <a:chOff x="0" y="0"/>
            <a:chExt cx="1561062" cy="2709333"/>
          </a:xfrm>
        </p:grpSpPr>
        <p:sp>
          <p:nvSpPr>
            <p:cNvPr name="Freeform 3" id="3"/>
            <p:cNvSpPr/>
            <p:nvPr/>
          </p:nvSpPr>
          <p:spPr>
            <a:xfrm flipH="false" flipV="false" rot="0">
              <a:off x="0" y="0"/>
              <a:ext cx="1561062" cy="2709333"/>
            </a:xfrm>
            <a:custGeom>
              <a:avLst/>
              <a:gdLst/>
              <a:ahLst/>
              <a:cxnLst/>
              <a:rect r="r" b="b" t="t" l="l"/>
              <a:pathLst>
                <a:path h="2709333" w="1561062">
                  <a:moveTo>
                    <a:pt x="0" y="0"/>
                  </a:moveTo>
                  <a:lnTo>
                    <a:pt x="1561062" y="0"/>
                  </a:lnTo>
                  <a:lnTo>
                    <a:pt x="1561062" y="2709333"/>
                  </a:lnTo>
                  <a:lnTo>
                    <a:pt x="0" y="2709333"/>
                  </a:lnTo>
                  <a:close/>
                </a:path>
              </a:pathLst>
            </a:custGeom>
            <a:solidFill>
              <a:srgbClr val="DBE5EA"/>
            </a:solidFill>
          </p:spPr>
        </p:sp>
        <p:sp>
          <p:nvSpPr>
            <p:cNvPr name="TextBox 4" id="4"/>
            <p:cNvSpPr txBox="true"/>
            <p:nvPr/>
          </p:nvSpPr>
          <p:spPr>
            <a:xfrm>
              <a:off x="0" y="-123825"/>
              <a:ext cx="1561062" cy="2833158"/>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192200" y="315801"/>
            <a:ext cx="13107579" cy="1624962"/>
          </a:xfrm>
          <a:prstGeom prst="rect">
            <a:avLst/>
          </a:prstGeom>
        </p:spPr>
        <p:txBody>
          <a:bodyPr anchor="t" rtlCol="false" tIns="0" lIns="0" bIns="0" rIns="0">
            <a:spAutoFit/>
          </a:bodyPr>
          <a:lstStyle/>
          <a:p>
            <a:pPr algn="ctr">
              <a:lnSpc>
                <a:spcPts val="6521"/>
              </a:lnSpc>
            </a:pPr>
            <a:r>
              <a:rPr lang="en-US" sz="4658" b="true">
                <a:solidFill>
                  <a:srgbClr val="0F4662"/>
                </a:solidFill>
                <a:latin typeface="Quicksand Bold"/>
                <a:ea typeface="Quicksand Bold"/>
                <a:cs typeface="Quicksand Bold"/>
                <a:sym typeface="Quicksand Bold"/>
              </a:rPr>
              <a:t>4. Implement A Better Reflex-Based Agent</a:t>
            </a:r>
          </a:p>
          <a:p>
            <a:pPr algn="ctr">
              <a:lnSpc>
                <a:spcPts val="6521"/>
              </a:lnSpc>
              <a:spcBef>
                <a:spcPct val="0"/>
              </a:spcBef>
            </a:pPr>
          </a:p>
        </p:txBody>
      </p:sp>
      <p:sp>
        <p:nvSpPr>
          <p:cNvPr name="TextBox 6" id="6"/>
          <p:cNvSpPr txBox="true"/>
          <p:nvPr/>
        </p:nvSpPr>
        <p:spPr>
          <a:xfrm rot="0">
            <a:off x="369297" y="3198144"/>
            <a:ext cx="7716847" cy="3843087"/>
          </a:xfrm>
          <a:prstGeom prst="rect">
            <a:avLst/>
          </a:prstGeom>
        </p:spPr>
        <p:txBody>
          <a:bodyPr anchor="t" rtlCol="false" tIns="0" lIns="0" bIns="0" rIns="0">
            <a:spAutoFit/>
          </a:bodyPr>
          <a:lstStyle/>
          <a:p>
            <a:pPr algn="l">
              <a:lnSpc>
                <a:spcPts val="3426"/>
              </a:lnSpc>
            </a:pPr>
            <a:r>
              <a:rPr lang="en-US" sz="2447">
                <a:solidFill>
                  <a:srgbClr val="0F4662"/>
                </a:solidFill>
                <a:latin typeface="Quicksand"/>
                <a:ea typeface="Quicksand"/>
                <a:cs typeface="Quicksand"/>
                <a:sym typeface="Quicksand"/>
              </a:rPr>
              <a:t>Phân tích định tính:</a:t>
            </a:r>
          </a:p>
          <a:p>
            <a:pPr algn="l" marL="528387" indent="-264194" lvl="1">
              <a:lnSpc>
                <a:spcPts val="3426"/>
              </a:lnSpc>
              <a:buFont typeface="Arial"/>
              <a:buChar char="•"/>
            </a:pPr>
            <a:r>
              <a:rPr lang="en-US" sz="2447">
                <a:solidFill>
                  <a:srgbClr val="0F4662"/>
                </a:solidFill>
                <a:latin typeface="Quicksand"/>
                <a:ea typeface="Quicksand"/>
                <a:cs typeface="Quicksand"/>
                <a:sym typeface="Quicksand"/>
              </a:rPr>
              <a:t>Khi quan sát trực quan, tàu đã giữ được</a:t>
            </a:r>
            <a:r>
              <a:rPr lang="en-US" sz="2447">
                <a:solidFill>
                  <a:srgbClr val="0F4662"/>
                </a:solidFill>
                <a:latin typeface="Quicksand"/>
                <a:ea typeface="Quicksand"/>
                <a:cs typeface="Quicksand"/>
                <a:sym typeface="Quicksand"/>
              </a:rPr>
              <a:t> hướng thẳng và</a:t>
            </a:r>
            <a:r>
              <a:rPr lang="en-US" sz="2447">
                <a:solidFill>
                  <a:srgbClr val="0F4662"/>
                </a:solidFill>
                <a:latin typeface="Quicksand"/>
                <a:ea typeface="Quicksand"/>
                <a:cs typeface="Quicksand"/>
                <a:sym typeface="Quicksand"/>
              </a:rPr>
              <a:t> tốc độ rơi ổn định hơn.</a:t>
            </a:r>
          </a:p>
          <a:p>
            <a:pPr algn="l" marL="528387" indent="-264194" lvl="1">
              <a:lnSpc>
                <a:spcPts val="3426"/>
              </a:lnSpc>
              <a:buFont typeface="Arial"/>
              <a:buChar char="•"/>
            </a:pPr>
            <a:r>
              <a:rPr lang="en-US" sz="2447">
                <a:solidFill>
                  <a:srgbClr val="0F4662"/>
                </a:solidFill>
                <a:latin typeface="Quicksand"/>
                <a:ea typeface="Quicksand"/>
                <a:cs typeface="Quicksand"/>
                <a:sym typeface="Quicksand"/>
              </a:rPr>
              <a:t>Agent biết bật main engine khi rơi nhanh, và chỉnh hướng khi lệch tâm.</a:t>
            </a:r>
          </a:p>
          <a:p>
            <a:pPr algn="l" marL="528387" indent="-264194" lvl="1">
              <a:lnSpc>
                <a:spcPts val="3426"/>
              </a:lnSpc>
              <a:spcBef>
                <a:spcPct val="0"/>
              </a:spcBef>
              <a:buFont typeface="Arial"/>
              <a:buChar char="•"/>
            </a:pPr>
            <a:r>
              <a:rPr lang="en-US" sz="2447">
                <a:solidFill>
                  <a:srgbClr val="0F4662"/>
                </a:solidFill>
                <a:latin typeface="Quicksand"/>
                <a:ea typeface="Quicksand"/>
                <a:cs typeface="Quicksand"/>
                <a:sym typeface="Quicksand"/>
              </a:rPr>
              <a:t>Tuy nhiên, do các điều kiện phản xạ là ngưỡng cứng (hard thresholds), hành vi đôi khi vẫn “giật” và chưa ổn định khi gần mặt đất.</a:t>
            </a:r>
          </a:p>
          <a:p>
            <a:pPr algn="l">
              <a:lnSpc>
                <a:spcPts val="3426"/>
              </a:lnSpc>
              <a:spcBef>
                <a:spcPct val="0"/>
              </a:spcBef>
            </a:pPr>
          </a:p>
        </p:txBody>
      </p:sp>
      <p:sp>
        <p:nvSpPr>
          <p:cNvPr name="TextBox 7" id="7"/>
          <p:cNvSpPr txBox="true"/>
          <p:nvPr/>
        </p:nvSpPr>
        <p:spPr>
          <a:xfrm rot="0">
            <a:off x="-2238455" y="1372363"/>
            <a:ext cx="10708493" cy="1349799"/>
          </a:xfrm>
          <a:prstGeom prst="rect">
            <a:avLst/>
          </a:prstGeom>
        </p:spPr>
        <p:txBody>
          <a:bodyPr anchor="t" rtlCol="false" tIns="0" lIns="0" bIns="0" rIns="0">
            <a:spAutoFit/>
          </a:bodyPr>
          <a:lstStyle/>
          <a:p>
            <a:pPr algn="ctr">
              <a:lnSpc>
                <a:spcPts val="5401"/>
              </a:lnSpc>
              <a:spcBef>
                <a:spcPct val="0"/>
              </a:spcBef>
            </a:pPr>
            <a:r>
              <a:rPr lang="en-US" b="true" sz="3858">
                <a:solidFill>
                  <a:srgbClr val="0F4662"/>
                </a:solidFill>
                <a:latin typeface="Quicksand Bold"/>
                <a:ea typeface="Quicksand Bold"/>
                <a:cs typeface="Quicksand Bold"/>
                <a:sym typeface="Quicksand Bold"/>
              </a:rPr>
              <a:t>4.4 Phân tích kết quả</a:t>
            </a:r>
          </a:p>
          <a:p>
            <a:pPr algn="ctr">
              <a:lnSpc>
                <a:spcPts val="5401"/>
              </a:lnSpc>
              <a:spcBef>
                <a:spcPct val="0"/>
              </a:spcBef>
            </a:pPr>
          </a:p>
        </p:txBody>
      </p:sp>
      <p:sp>
        <p:nvSpPr>
          <p:cNvPr name="TextBox 8" id="8"/>
          <p:cNvSpPr txBox="true"/>
          <p:nvPr/>
        </p:nvSpPr>
        <p:spPr>
          <a:xfrm rot="0">
            <a:off x="8721519" y="3198144"/>
            <a:ext cx="7716847" cy="3414462"/>
          </a:xfrm>
          <a:prstGeom prst="rect">
            <a:avLst/>
          </a:prstGeom>
        </p:spPr>
        <p:txBody>
          <a:bodyPr anchor="t" rtlCol="false" tIns="0" lIns="0" bIns="0" rIns="0">
            <a:spAutoFit/>
          </a:bodyPr>
          <a:lstStyle/>
          <a:p>
            <a:pPr algn="l">
              <a:lnSpc>
                <a:spcPts val="3426"/>
              </a:lnSpc>
            </a:pPr>
            <a:r>
              <a:rPr lang="en-US" sz="2447">
                <a:solidFill>
                  <a:srgbClr val="0F4662"/>
                </a:solidFill>
                <a:latin typeface="Quicksand"/>
                <a:ea typeface="Quicksand"/>
                <a:cs typeface="Quicksand"/>
                <a:sym typeface="Quicksand"/>
              </a:rPr>
              <a:t>Phân tích định lượng:</a:t>
            </a:r>
          </a:p>
          <a:p>
            <a:pPr algn="l">
              <a:lnSpc>
                <a:spcPts val="3426"/>
              </a:lnSpc>
            </a:pPr>
            <a:r>
              <a:rPr lang="en-US" sz="2447">
                <a:solidFill>
                  <a:srgbClr val="0F4662"/>
                </a:solidFill>
                <a:latin typeface="Quicksand"/>
                <a:ea typeface="Quicksand"/>
                <a:cs typeface="Quicksand"/>
                <a:sym typeface="Quicksand"/>
              </a:rPr>
              <a:t>       Mức reward trung bình -42.94 c</a:t>
            </a:r>
            <a:r>
              <a:rPr lang="en-US" sz="2447">
                <a:solidFill>
                  <a:srgbClr val="0F4662"/>
                </a:solidFill>
                <a:latin typeface="Quicksand"/>
                <a:ea typeface="Quicksand"/>
                <a:cs typeface="Quicksand"/>
                <a:sym typeface="Quicksand"/>
              </a:rPr>
              <a:t>ho thấy phầ</a:t>
            </a:r>
            <a:r>
              <a:rPr lang="en-US" sz="2447">
                <a:solidFill>
                  <a:srgbClr val="0F4662"/>
                </a:solidFill>
                <a:latin typeface="Quicksand"/>
                <a:ea typeface="Quicksand"/>
                <a:cs typeface="Quicksand"/>
                <a:sym typeface="Quicksand"/>
              </a:rPr>
              <a:t>n lớn episode đạt trạng thái hạ cánh “gần thành công”.</a:t>
            </a:r>
          </a:p>
          <a:p>
            <a:pPr algn="l">
              <a:lnSpc>
                <a:spcPts val="3426"/>
              </a:lnSpc>
            </a:pPr>
          </a:p>
          <a:p>
            <a:pPr algn="l">
              <a:lnSpc>
                <a:spcPts val="3426"/>
              </a:lnSpc>
              <a:spcBef>
                <a:spcPct val="0"/>
              </a:spcBef>
            </a:pPr>
            <a:r>
              <a:rPr lang="en-US" sz="2447">
                <a:solidFill>
                  <a:srgbClr val="0F4662"/>
                </a:solidFill>
                <a:latin typeface="Quicksand"/>
                <a:ea typeface="Quicksand"/>
                <a:cs typeface="Quicksand"/>
                <a:sym typeface="Quicksand"/>
              </a:rPr>
              <a:t>       Tỷ lệ thành công 16% là dấu hiệu tích cực, chứng tỏ agent đã hình thành phản xạ hợp lý trong một số điều kiện khởi tạo.</a:t>
            </a:r>
          </a:p>
          <a:p>
            <a:pPr algn="l">
              <a:lnSpc>
                <a:spcPts val="3426"/>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DAGWRQvj5gk</dc:identifier>
  <dcterms:modified xsi:type="dcterms:W3CDTF">2011-08-01T06:04:30Z</dcterms:modified>
  <cp:revision>1</cp:revision>
  <dc:title>Blue Purple Futuristic Modern 3D Tech Company Business Presentation</dc:title>
</cp:coreProperties>
</file>