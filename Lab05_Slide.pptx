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Public Sans Bold" charset="1" panose="00000000000000000000"/>
      <p:regular r:id="rId34"/>
    </p:embeddedFont>
    <p:embeddedFont>
      <p:font typeface="Playfair Display" charset="1" panose="00000500000000000000"/>
      <p:regular r:id="rId35"/>
    </p:embeddedFont>
    <p:embeddedFont>
      <p:font typeface="Playfair Display Bold Italics" charset="1" panose="00000800000000000000"/>
      <p:regular r:id="rId36"/>
    </p:embeddedFont>
    <p:embeddedFont>
      <p:font typeface="Playfair Display Italics" charset="1" panose="00000500000000000000"/>
      <p:regular r:id="rId37"/>
    </p:embeddedFont>
    <p:embeddedFont>
      <p:font typeface="Public Sans" charset="1" panose="000000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59282" y="5541816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CSP_GRAPH_COLORING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LAB 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9282" y="4881192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N-QUEEN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8404" y="1231670"/>
            <a:ext cx="9122966" cy="68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1"/>
              </a:lnSpc>
              <a:spcBef>
                <a:spcPct val="0"/>
              </a:spcBef>
            </a:pPr>
            <a:r>
              <a:rPr lang="en-US" b="true" sz="4022" i="true" spc="20">
                <a:solidFill>
                  <a:srgbClr val="2B2C30"/>
                </a:solidFill>
                <a:latin typeface="Playfair Display Bold Italics"/>
                <a:ea typeface="Playfair Display Bold Italics"/>
                <a:cs typeface="Playfair Display Bold Italics"/>
                <a:sym typeface="Playfair Display Bold Italics"/>
              </a:rPr>
              <a:t>Bài toán N-Queens và Thuật toán Giải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8404" y="2801188"/>
            <a:ext cx="13055226" cy="104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1"/>
              </a:lnSpc>
              <a:spcBef>
                <a:spcPct val="0"/>
              </a:spcBef>
            </a:pPr>
            <a:r>
              <a:rPr lang="en-US" sz="3058" i="true" spc="15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Trình bày các thuật toán tìm kiếm cục bộ và di truyền</a:t>
            </a:r>
          </a:p>
          <a:p>
            <a:pPr algn="l">
              <a:lnSpc>
                <a:spcPts val="4281"/>
              </a:lnSpc>
              <a:spcBef>
                <a:spcPct val="0"/>
              </a:spcBef>
            </a:pPr>
            <a:r>
              <a:rPr lang="en-US" sz="3058" i="true" spc="15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Mục tiêu: Tìm cách đặt N quân hậu trên bàn cờ N×N mà không tấn công nhau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1 GIỚI THIỆU BÀI TOÁN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7877184" cy="718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Đặt N quân hậu trên bàn cờ N×N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hông có hai quân hậu cùng hàng, cùng cột, hoặc cùng đường chéo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Mô hình hóa bà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 toán dưới dạng Constraint Satisfaction Problem (CSP)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Phương pháp giải: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Hill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Climbing (Steepest, Stochastic, First-choice)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Simulated Annealing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Genetic Algorithm (GA)</a:t>
            </a:r>
          </a:p>
          <a:p>
            <a:pPr algn="l">
              <a:lnSpc>
                <a:spcPts val="523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1.1CÁC HÀM HỖ TRỢ (HELPER FUNCTIONS)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7877184" cy="718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</a:pP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random_board(n): Sinh bàn cờ 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ngẫu nhiên, mỗi cột 1 hậu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comb2(n): Tính số cặp (n2)\binom{n}{2}(2n​)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conflicts(board): Tính tổng xung đột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trên bà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 cờ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show_board(board): Hiển thị bàn cờ và số xung đột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Mục đích: 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Hỗ trợ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khởi tạo, đánh giá, trực quan hóa lời giải</a:t>
            </a:r>
          </a:p>
          <a:p>
            <a:pPr algn="l">
              <a:lnSpc>
                <a:spcPts val="523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191252" y="2275852"/>
            <a:ext cx="5481918" cy="5481918"/>
          </a:xfrm>
          <a:custGeom>
            <a:avLst/>
            <a:gdLst/>
            <a:ahLst/>
            <a:cxnLst/>
            <a:rect r="r" b="b" t="t" l="l"/>
            <a:pathLst>
              <a:path h="5481918" w="5481918">
                <a:moveTo>
                  <a:pt x="0" y="0"/>
                </a:moveTo>
                <a:lnTo>
                  <a:pt x="5481919" y="0"/>
                </a:lnTo>
                <a:lnTo>
                  <a:pt x="5481919" y="5481919"/>
                </a:lnTo>
                <a:lnTo>
                  <a:pt x="0" y="5481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4879" y="2247277"/>
            <a:ext cx="9977489" cy="484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Ví dụ: bàn cờ 4×4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random_board(4) tạo bàn cờ ngẫu nhiên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show_board() hiển thị: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Vị trí các quân hậu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Số xung đột hiện tại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Kiểm tra tính chính xác của hàm trước khi chạy thuật toán tìm kiếm</a:t>
            </a:r>
          </a:p>
          <a:p>
            <a:pPr algn="l">
              <a:lnSpc>
                <a:spcPts val="483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1.2 KHỞI TẠO VÀ HIỂN THỊ BÀN CỜ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2963352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128654" y="3482873"/>
            <a:ext cx="5108817" cy="5184879"/>
          </a:xfrm>
          <a:custGeom>
            <a:avLst/>
            <a:gdLst/>
            <a:ahLst/>
            <a:cxnLst/>
            <a:rect r="r" b="b" t="t" l="l"/>
            <a:pathLst>
              <a:path h="5184879" w="5108817">
                <a:moveTo>
                  <a:pt x="0" y="0"/>
                </a:moveTo>
                <a:lnTo>
                  <a:pt x="5108817" y="0"/>
                </a:lnTo>
                <a:lnTo>
                  <a:pt x="5108817" y="5184879"/>
                </a:lnTo>
                <a:lnTo>
                  <a:pt x="0" y="5184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871" y="2963760"/>
            <a:ext cx="9977489" cy="705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044" indent="-358022" lvl="1">
              <a:lnSpc>
                <a:spcPts val="4311"/>
              </a:lnSpc>
              <a:buFont typeface="Arial"/>
              <a:buChar char="•"/>
            </a:pPr>
            <a:r>
              <a:rPr lang="en-US" sz="3316" spc="1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Cải thiện cấu hình hiện tại bằng cách chọn bước đi giảm xung đột nhiều nhất</a:t>
            </a:r>
          </a:p>
          <a:p>
            <a:pPr algn="l" marL="716044" indent="-358022" lvl="1">
              <a:lnSpc>
                <a:spcPts val="4311"/>
              </a:lnSpc>
              <a:buFont typeface="Arial"/>
              <a:buChar char="•"/>
            </a:pPr>
            <a:r>
              <a:rPr lang="en-US" sz="3316" spc="1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Các bước:</a:t>
            </a:r>
          </a:p>
          <a:p>
            <a:pPr algn="l" marL="716044" indent="-358022" lvl="1">
              <a:lnSpc>
                <a:spcPts val="4311"/>
              </a:lnSpc>
              <a:buFont typeface="Arial"/>
              <a:buChar char="•"/>
            </a:pPr>
            <a:r>
              <a:rPr lang="en-US" sz="3316" spc="1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Xét tất cả nước đi </a:t>
            </a:r>
            <a:r>
              <a:rPr lang="en-US" sz="3316" spc="1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hợp lệ (di chuyển hậu trong cùng cột)</a:t>
            </a:r>
          </a:p>
          <a:p>
            <a:pPr algn="l" marL="716044" indent="-358022" lvl="1">
              <a:lnSpc>
                <a:spcPts val="4311"/>
              </a:lnSpc>
              <a:buFont typeface="Arial"/>
              <a:buChar char="•"/>
            </a:pPr>
            <a:r>
              <a:rPr lang="en-US" sz="3316" spc="1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Tính số xung đột cho từng cấu hình mới</a:t>
            </a:r>
          </a:p>
          <a:p>
            <a:pPr algn="l" marL="716044" indent="-358022" lvl="1">
              <a:lnSpc>
                <a:spcPts val="4311"/>
              </a:lnSpc>
              <a:buFont typeface="Arial"/>
              <a:buChar char="•"/>
            </a:pPr>
            <a:r>
              <a:rPr lang="en-US" sz="3316" spc="1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Chọn bước đ</a:t>
            </a:r>
            <a:r>
              <a:rPr lang="en-US" sz="3316" spc="1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 tốt nhất</a:t>
            </a:r>
          </a:p>
          <a:p>
            <a:pPr algn="l" marL="716044" indent="-358022" lvl="1">
              <a:lnSpc>
                <a:spcPts val="4311"/>
              </a:lnSpc>
              <a:buFont typeface="Arial"/>
              <a:buChar char="•"/>
            </a:pPr>
            <a:r>
              <a:rPr lang="en-US" sz="3316" spc="1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Dừng khi không còn bước đi nào tốt hơn</a:t>
            </a:r>
          </a:p>
          <a:p>
            <a:pPr algn="l" marL="716044" indent="-358022" lvl="1">
              <a:lnSpc>
                <a:spcPts val="4311"/>
              </a:lnSpc>
              <a:buFont typeface="Arial"/>
              <a:buChar char="•"/>
            </a:pPr>
            <a:r>
              <a:rPr lang="en-US" sz="3316" spc="1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Hàm: steepest_ascent_hill_climbing(board, max_steps=1000)</a:t>
            </a:r>
          </a:p>
          <a:p>
            <a:pPr algn="l" marL="716044" indent="-358022" lvl="1">
              <a:lnSpc>
                <a:spcPts val="4311"/>
              </a:lnSpc>
              <a:buFont typeface="Arial"/>
              <a:buChar char="•"/>
            </a:pPr>
            <a:r>
              <a:rPr lang="en-US" sz="3316" spc="1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Ưu điểm: Hội tụ nhanh</a:t>
            </a:r>
          </a:p>
          <a:p>
            <a:pPr algn="l" marL="716044" indent="-358022" lvl="1">
              <a:lnSpc>
                <a:spcPts val="4311"/>
              </a:lnSpc>
              <a:buFont typeface="Arial"/>
              <a:buChar char="•"/>
            </a:pPr>
            <a:r>
              <a:rPr lang="en-US" sz="3316" spc="1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Nhược điểm: Dễ kẹt tại cực tiểu cục bộ</a:t>
            </a:r>
          </a:p>
          <a:p>
            <a:pPr algn="l">
              <a:lnSpc>
                <a:spcPts val="431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CÁC THUẬT TOÁN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6871" y="1835872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2.1 STEEPEST-ASCENT HILL CLIMBING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221947" y="2377308"/>
            <a:ext cx="5451223" cy="5532383"/>
          </a:xfrm>
          <a:custGeom>
            <a:avLst/>
            <a:gdLst/>
            <a:ahLst/>
            <a:cxnLst/>
            <a:rect r="r" b="b" t="t" l="l"/>
            <a:pathLst>
              <a:path h="5532383" w="5451223">
                <a:moveTo>
                  <a:pt x="0" y="0"/>
                </a:moveTo>
                <a:lnTo>
                  <a:pt x="5451224" y="0"/>
                </a:lnTo>
                <a:lnTo>
                  <a:pt x="5451224" y="5532384"/>
                </a:lnTo>
                <a:lnTo>
                  <a:pt x="0" y="5532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4879" y="2247277"/>
            <a:ext cx="9977489" cy="484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Biến thể của Hill Climbing: chọn ngẫu nhiên một bước cải thiện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Giảm nguy cơ b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ị kẹt cực tiểu cục bộ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Hàm: stochastic_hill_climbing(board, max_steps=1000)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Nhận xét: Tiếp cận nghiệm gần tối ưu nhưng không đảm bảo nghiệm hoàn hảo</a:t>
            </a:r>
          </a:p>
          <a:p>
            <a:pPr algn="l">
              <a:lnSpc>
                <a:spcPts val="483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2.2 STOCHASTIC HILL CLIMBING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54879" y="2247277"/>
            <a:ext cx="9977489" cy="728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Sinh ngẫu nhiên một trạng thái kế cận, chấp nhận nếu cải thiện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Giảm chi phí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tính toán khi không gian lân cận lớn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Hàm: first_choice_hill_climbing(board, max_steps=10000, max_tries_without_improvement=200)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Ưu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điểm: Tốc độ và hiệu quả trong không gian tìm kiếm lớn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Nhược điểm: Có thể dừng ở nghiệm gần tối ưu</a:t>
            </a:r>
          </a:p>
          <a:p>
            <a:pPr algn="l">
              <a:lnSpc>
                <a:spcPts val="4831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518391" y="2804569"/>
            <a:ext cx="5451223" cy="5532383"/>
          </a:xfrm>
          <a:custGeom>
            <a:avLst/>
            <a:gdLst/>
            <a:ahLst/>
            <a:cxnLst/>
            <a:rect r="r" b="b" t="t" l="l"/>
            <a:pathLst>
              <a:path h="5532383" w="5451223">
                <a:moveTo>
                  <a:pt x="0" y="0"/>
                </a:moveTo>
                <a:lnTo>
                  <a:pt x="5451223" y="0"/>
                </a:lnTo>
                <a:lnTo>
                  <a:pt x="5451223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2.3  FIRST-CHOICE HILL CLIMBING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54879" y="2247277"/>
            <a:ext cx="9977489" cy="6674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Khắc phục cực trị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địa phươ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ng bằng khởi tạo ngẫu nhiên nhiều lần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Chạy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Hill Climbing tối đa 100 lần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Lưu lại nghiệm tốt nhất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Dừng sớm nếu đạt 0 x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ung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đột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quả: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Stochastic HC hiệu quả nhất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First-choice HC cần số bước trung bình nhiều hơn nhưng hội tụ nếu đủ số lần restart</a:t>
            </a:r>
          </a:p>
          <a:p>
            <a:pPr algn="l">
              <a:lnSpc>
                <a:spcPts val="4831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518391" y="3012638"/>
            <a:ext cx="5451223" cy="5532383"/>
          </a:xfrm>
          <a:custGeom>
            <a:avLst/>
            <a:gdLst/>
            <a:ahLst/>
            <a:cxnLst/>
            <a:rect r="r" b="b" t="t" l="l"/>
            <a:pathLst>
              <a:path h="5532383" w="5451223">
                <a:moveTo>
                  <a:pt x="0" y="0"/>
                </a:moveTo>
                <a:lnTo>
                  <a:pt x="5451223" y="0"/>
                </a:lnTo>
                <a:lnTo>
                  <a:pt x="5451223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2.4 HILL CLIMBING VỚI RANDOM RESTARTS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54879" y="2247277"/>
            <a:ext cx="9977489" cy="78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Biến thể mở rộng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Stochastic Hill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Climbing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Cho phép chấp nhận bước đi tệ hơn t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heo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xác suất giảm dần (temperature)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Tham số chính: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T_start, T_end, alpha, max_steps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Ng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uyên lý: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Sinh trạng thái láng giềng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Chấp nhận nếu giảm x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ung</a:t>
            </a: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đột hoặc theo xác suất exp(-ΔE / T)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Giảm nhiệt độ theo T = T * alpha</a:t>
            </a:r>
          </a:p>
          <a:p>
            <a:pPr algn="l" marL="802402" indent="-401201" lvl="1">
              <a:lnSpc>
                <a:spcPts val="4831"/>
              </a:lnSpc>
              <a:buFont typeface="Arial"/>
              <a:buChar char="•"/>
            </a:pPr>
            <a:r>
              <a:rPr lang="en-US" sz="3716" spc="1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quả thử nghiệm: Số xung đột giảm dần nhưng chưa tối ưu tuyệt đối</a:t>
            </a:r>
          </a:p>
          <a:p>
            <a:pPr algn="l">
              <a:lnSpc>
                <a:spcPts val="4831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221947" y="1594074"/>
            <a:ext cx="5451223" cy="5532383"/>
          </a:xfrm>
          <a:custGeom>
            <a:avLst/>
            <a:gdLst/>
            <a:ahLst/>
            <a:cxnLst/>
            <a:rect r="r" b="b" t="t" l="l"/>
            <a:pathLst>
              <a:path h="5532383" w="5451223">
                <a:moveTo>
                  <a:pt x="0" y="0"/>
                </a:moveTo>
                <a:lnTo>
                  <a:pt x="5451224" y="0"/>
                </a:lnTo>
                <a:lnTo>
                  <a:pt x="5451224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2.5  SIMULATED ANNEALING (SA)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05468" y="1965957"/>
            <a:ext cx="8094661" cy="5210938"/>
          </a:xfrm>
          <a:custGeom>
            <a:avLst/>
            <a:gdLst/>
            <a:ahLst/>
            <a:cxnLst/>
            <a:rect r="r" b="b" t="t" l="l"/>
            <a:pathLst>
              <a:path h="5210938" w="8094661">
                <a:moveTo>
                  <a:pt x="0" y="0"/>
                </a:moveTo>
                <a:lnTo>
                  <a:pt x="8094661" y="0"/>
                </a:lnTo>
                <a:lnTo>
                  <a:pt x="8094661" y="5210938"/>
                </a:lnTo>
                <a:lnTo>
                  <a:pt x="0" y="5210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900129" y="1971693"/>
            <a:ext cx="9564672" cy="520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4329" indent="-312164" lvl="1">
              <a:lnSpc>
                <a:spcPts val="3759"/>
              </a:lnSpc>
              <a:buFont typeface="Arial"/>
              <a:buChar char="•"/>
            </a:pP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Thuật </a:t>
            </a: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toá</a:t>
            </a: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 đánh giá t</a:t>
            </a: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heo</a:t>
            </a: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3 chỉ số:</a:t>
            </a:r>
          </a:p>
          <a:p>
            <a:pPr algn="l" marL="624329" indent="-312164" lvl="1">
              <a:lnSpc>
                <a:spcPts val="3759"/>
              </a:lnSpc>
              <a:buFont typeface="Arial"/>
              <a:buChar char="•"/>
            </a:pP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Thời gian chạy trung bình</a:t>
            </a:r>
          </a:p>
          <a:p>
            <a:pPr algn="l" marL="624329" indent="-312164" lvl="1">
              <a:lnSpc>
                <a:spcPts val="3759"/>
              </a:lnSpc>
              <a:buFont typeface="Arial"/>
              <a:buChar char="•"/>
            </a:pP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Số</a:t>
            </a: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xung đột trung bình</a:t>
            </a:r>
          </a:p>
          <a:p>
            <a:pPr algn="l" marL="624329" indent="-312164" lvl="1">
              <a:lnSpc>
                <a:spcPts val="3759"/>
              </a:lnSpc>
              <a:buFont typeface="Arial"/>
              <a:buChar char="•"/>
            </a:pP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Tỉ lệ nghiệm tối ưu (0 x</a:t>
            </a: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ung</a:t>
            </a: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đột)</a:t>
            </a:r>
          </a:p>
          <a:p>
            <a:pPr algn="l" marL="624329" indent="-312164" lvl="1">
              <a:lnSpc>
                <a:spcPts val="3759"/>
              </a:lnSpc>
              <a:buFont typeface="Arial"/>
              <a:buChar char="•"/>
            </a:pP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quả:</a:t>
            </a:r>
          </a:p>
          <a:p>
            <a:pPr algn="l" marL="624329" indent="-312164" lvl="1">
              <a:lnSpc>
                <a:spcPts val="3759"/>
              </a:lnSpc>
              <a:buFont typeface="Arial"/>
              <a:buChar char="•"/>
            </a:pP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Steepest-Ascent HC: hội tụ nhanh nhưng dễ kẹt</a:t>
            </a:r>
          </a:p>
          <a:p>
            <a:pPr algn="l" marL="624329" indent="-312164" lvl="1">
              <a:lnSpc>
                <a:spcPts val="3759"/>
              </a:lnSpc>
              <a:buFont typeface="Arial"/>
              <a:buChar char="•"/>
            </a:pP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Stochastic / First-choice HC: vượt qua cực trị, cải thiện tỉ lệ nghiệm tốt</a:t>
            </a:r>
          </a:p>
          <a:p>
            <a:pPr algn="l" marL="624329" indent="-312164" lvl="1">
              <a:lnSpc>
                <a:spcPts val="3759"/>
              </a:lnSpc>
              <a:buFont typeface="Arial"/>
              <a:buChar char="•"/>
            </a:pPr>
            <a:r>
              <a:rPr lang="en-US" sz="2891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Simulated Annealing: giảm xung đột chậm nhưng ổn định nhất</a:t>
            </a:r>
          </a:p>
          <a:p>
            <a:pPr algn="l">
              <a:lnSpc>
                <a:spcPts val="3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PHÂN TÍCH HIỆU NĂNG THUẬT TOÁN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6871" y="2209761"/>
            <a:ext cx="7461901" cy="5867478"/>
          </a:xfrm>
          <a:custGeom>
            <a:avLst/>
            <a:gdLst/>
            <a:ahLst/>
            <a:cxnLst/>
            <a:rect r="r" b="b" t="t" l="l"/>
            <a:pathLst>
              <a:path h="5867478" w="7461901">
                <a:moveTo>
                  <a:pt x="0" y="0"/>
                </a:moveTo>
                <a:lnTo>
                  <a:pt x="7461901" y="0"/>
                </a:lnTo>
                <a:lnTo>
                  <a:pt x="7461901" y="5867478"/>
                </a:lnTo>
                <a:lnTo>
                  <a:pt x="0" y="5867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68772" y="2171661"/>
            <a:ext cx="9977489" cy="505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Thử nghiệm với n = 4, 8, 12, 16, 20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</a:t>
            </a: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sánh: Steepest-Ascent HC vs Simulated Anneali</a:t>
            </a: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ng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quả: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Steepest-Ascent HC: O(n^3.70)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Simulated Annealing: O(n^3.07)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Nhận xét: SA tăng chậm hơn, ổn định hơn khi n lớn</a:t>
            </a:r>
          </a:p>
          <a:p>
            <a:pPr algn="l">
              <a:lnSpc>
                <a:spcPts val="444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 KHẢ NĂNG MỞ RỘNG (SCALABILITY)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80878" y="2368858"/>
            <a:ext cx="9977489" cy="561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Mục tiêu: đánh giá ảnh hưởng các kiểu di chuyển cục bộ trên First-choice HC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</a:t>
            </a: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án tử: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Single-step: di chuyển 1 hậu ±1 ô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Column swap: hoán đổi 2 cột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Dual-queen move: di chuyển 2 hậu ngẫu nhiê</a:t>
            </a: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Adap</a:t>
            </a: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tive move: kết hợp 3 chiến lược với xác suất thích ứng</a:t>
            </a:r>
          </a:p>
          <a:p>
            <a:pPr algn="l">
              <a:lnSpc>
                <a:spcPts val="4441"/>
              </a:lnSpc>
            </a:pPr>
          </a:p>
          <a:p>
            <a:pPr algn="l">
              <a:lnSpc>
                <a:spcPts val="444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  LOCAL MOVE OPERATORS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6871" y="1965957"/>
            <a:ext cx="9415456" cy="3883875"/>
          </a:xfrm>
          <a:custGeom>
            <a:avLst/>
            <a:gdLst/>
            <a:ahLst/>
            <a:cxnLst/>
            <a:rect r="r" b="b" t="t" l="l"/>
            <a:pathLst>
              <a:path h="3883875" w="9415456">
                <a:moveTo>
                  <a:pt x="0" y="0"/>
                </a:moveTo>
                <a:lnTo>
                  <a:pt x="9415456" y="0"/>
                </a:lnTo>
                <a:lnTo>
                  <a:pt x="9415456" y="3883876"/>
                </a:lnTo>
                <a:lnTo>
                  <a:pt x="0" y="3883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6871" y="6090857"/>
            <a:ext cx="9415456" cy="3883875"/>
          </a:xfrm>
          <a:custGeom>
            <a:avLst/>
            <a:gdLst/>
            <a:ahLst/>
            <a:cxnLst/>
            <a:rect r="r" b="b" t="t" l="l"/>
            <a:pathLst>
              <a:path h="3883875" w="9415456">
                <a:moveTo>
                  <a:pt x="0" y="0"/>
                </a:moveTo>
                <a:lnTo>
                  <a:pt x="9415456" y="0"/>
                </a:lnTo>
                <a:lnTo>
                  <a:pt x="9415456" y="3883876"/>
                </a:lnTo>
                <a:lnTo>
                  <a:pt x="0" y="3883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843181" y="2530642"/>
            <a:ext cx="6690866" cy="16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1"/>
              </a:lnSpc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quả (n=8/n=12): Dual-queen move hiệu quả nhất, Adaptive có tính đa dạng cao hơn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  LOCAL MOVE OPERATORS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927857"/>
            <a:ext cx="9977489" cy="842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Biểu diễn cá thể: danh sách độ dài n, giá trị i = hàng của hậu cột i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Thành phần GA: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Fitness: tỷ lệ nghịch với số xung đột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Selection: tournament selection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Crossover: order-preserving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Mutation: thay đổi hàng của hậu với xác suất nhỏ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Elitism: giữ cá thể tốt nhất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Tham số: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Population: 300 cá thể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Max generations: 1000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Crossover: 0.8, Mutation: 0.15</a:t>
            </a:r>
          </a:p>
          <a:p>
            <a:pPr algn="l" marL="737633" indent="-368817" lvl="1">
              <a:lnSpc>
                <a:spcPts val="4441"/>
              </a:lnSpc>
              <a:buFont typeface="Arial"/>
              <a:buChar char="•"/>
            </a:pPr>
            <a:r>
              <a:rPr lang="en-US" sz="3416" spc="1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Elites: 4</a:t>
            </a:r>
          </a:p>
          <a:p>
            <a:pPr algn="l">
              <a:lnSpc>
                <a:spcPts val="444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7 THUẬT TOÁN DI TRUYỀN (GA) CHO N-QUEENS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6871" y="1965957"/>
            <a:ext cx="9111587" cy="4214109"/>
          </a:xfrm>
          <a:custGeom>
            <a:avLst/>
            <a:gdLst/>
            <a:ahLst/>
            <a:cxnLst/>
            <a:rect r="r" b="b" t="t" l="l"/>
            <a:pathLst>
              <a:path h="4214109" w="9111587">
                <a:moveTo>
                  <a:pt x="0" y="0"/>
                </a:moveTo>
                <a:lnTo>
                  <a:pt x="9111588" y="0"/>
                </a:lnTo>
                <a:lnTo>
                  <a:pt x="9111588" y="4214110"/>
                </a:lnTo>
                <a:lnTo>
                  <a:pt x="0" y="4214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59905" y="1937382"/>
            <a:ext cx="6699395" cy="741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275" indent="-325638" lvl="1">
              <a:lnSpc>
                <a:spcPts val="3921"/>
              </a:lnSpc>
              <a:buFont typeface="Arial"/>
              <a:buChar char="•"/>
            </a:pPr>
            <a:r>
              <a:rPr lang="en-US" sz="301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n=20, hội tụ sau ~1000 thế hệ, 2 xung đột</a:t>
            </a:r>
          </a:p>
          <a:p>
            <a:pPr algn="l" marL="651275" indent="-325638" lvl="1">
              <a:lnSpc>
                <a:spcPts val="3921"/>
              </a:lnSpc>
              <a:buFont typeface="Arial"/>
              <a:buChar char="•"/>
            </a:pPr>
            <a:r>
              <a:rPr lang="en-US" sz="301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Số xung đột giảm nhanh giai đoạn đầu (50–200 t</a:t>
            </a:r>
            <a:r>
              <a:rPr lang="en-US" sz="301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hế hệ)</a:t>
            </a:r>
          </a:p>
          <a:p>
            <a:pPr algn="l" marL="651275" indent="-325638" lvl="1">
              <a:lnSpc>
                <a:spcPts val="3921"/>
              </a:lnSpc>
              <a:buFont typeface="Arial"/>
              <a:buChar char="•"/>
            </a:pPr>
            <a:r>
              <a:rPr lang="en-US" sz="301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</a:t>
            </a:r>
            <a:r>
              <a:rPr lang="en-US" sz="301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 conflicts luôn thấp hơn average conflicts</a:t>
            </a:r>
          </a:p>
          <a:p>
            <a:pPr algn="l" marL="651275" indent="-325638" lvl="1">
              <a:lnSpc>
                <a:spcPts val="3921"/>
              </a:lnSpc>
              <a:buFont typeface="Arial"/>
              <a:buChar char="•"/>
            </a:pPr>
            <a:r>
              <a:rPr lang="en-US" sz="301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Phân tích:</a:t>
            </a:r>
          </a:p>
          <a:p>
            <a:pPr algn="l" marL="651275" indent="-325638" lvl="1">
              <a:lnSpc>
                <a:spcPts val="3921"/>
              </a:lnSpc>
              <a:buFont typeface="Arial"/>
              <a:buChar char="•"/>
            </a:pPr>
            <a:r>
              <a:rPr lang="en-US" sz="301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 khám phá không gian lớn tốt hơn hill climbing</a:t>
            </a:r>
          </a:p>
          <a:p>
            <a:pPr algn="l" marL="651275" indent="-325638" lvl="1">
              <a:lnSpc>
                <a:spcPts val="3921"/>
              </a:lnSpc>
              <a:buFont typeface="Arial"/>
              <a:buChar char="•"/>
            </a:pPr>
            <a:r>
              <a:rPr lang="en-US" sz="301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Nhược đ</a:t>
            </a:r>
            <a:r>
              <a:rPr lang="en-US" sz="301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iểm: thời gian tính toán lớn, chưa đảm bảo nghiệm tối ưu tuyệt đối</a:t>
            </a:r>
          </a:p>
          <a:p>
            <a:pPr algn="l" marL="651275" indent="-325638" lvl="1">
              <a:lnSpc>
                <a:spcPts val="3921"/>
              </a:lnSpc>
              <a:buFont typeface="Arial"/>
              <a:buChar char="•"/>
            </a:pPr>
            <a:r>
              <a:rPr lang="en-US" sz="301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Tinh chỉnh tham số có thể cải thiện kết quả</a:t>
            </a:r>
          </a:p>
          <a:p>
            <a:pPr algn="l">
              <a:lnSpc>
                <a:spcPts val="392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KẾT QUẢ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231670"/>
            <a:ext cx="14367925" cy="68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1"/>
              </a:lnSpc>
              <a:spcBef>
                <a:spcPct val="0"/>
              </a:spcBef>
            </a:pPr>
            <a:r>
              <a:rPr lang="en-US" b="true" sz="4022" i="true" spc="20">
                <a:solidFill>
                  <a:srgbClr val="2B2C30"/>
                </a:solidFill>
                <a:latin typeface="Playfair Display Bold Italics"/>
                <a:ea typeface="Playfair Display Bold Italics"/>
                <a:cs typeface="Playfair Display Bold Italics"/>
                <a:sym typeface="Playfair Display Bold Italics"/>
              </a:rPr>
              <a:t>Graph</a:t>
            </a:r>
            <a:r>
              <a:rPr lang="en-US" b="true" sz="4022" i="true" spc="20">
                <a:solidFill>
                  <a:srgbClr val="2B2C30"/>
                </a:solidFill>
                <a:latin typeface="Playfair Display Bold Italics"/>
                <a:ea typeface="Playfair Display Bold Italics"/>
                <a:cs typeface="Playfair Display Bold Italics"/>
                <a:sym typeface="Playfair Display Bold Italics"/>
              </a:rPr>
              <a:t> Coloring &amp; Constraint Satisfaction Problem (CSP)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8404" y="2801188"/>
            <a:ext cx="11624739" cy="158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224" indent="-330112" lvl="1">
              <a:lnSpc>
                <a:spcPts val="4281"/>
              </a:lnSpc>
              <a:spcBef>
                <a:spcPct val="0"/>
              </a:spcBef>
              <a:buFont typeface="Arial"/>
              <a:buChar char="•"/>
            </a:pPr>
            <a:r>
              <a:rPr lang="en-US" sz="3058" i="true" spc="15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Mụ</a:t>
            </a:r>
            <a:r>
              <a:rPr lang="en-US" sz="3058" i="true" spc="15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c tiêu: Biểu diễn bài toán tô màu đồ thị dưới dạng CSP</a:t>
            </a:r>
          </a:p>
          <a:p>
            <a:pPr algn="l" marL="660224" indent="-330112" lvl="1">
              <a:lnSpc>
                <a:spcPts val="4281"/>
              </a:lnSpc>
              <a:spcBef>
                <a:spcPct val="0"/>
              </a:spcBef>
              <a:buFont typeface="Arial"/>
              <a:buChar char="•"/>
            </a:pPr>
            <a:r>
              <a:rPr lang="en-US" sz="3058" i="true" spc="15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Thử nghiệm các thuật toán: Backtracking, Local Search, DSATUR</a:t>
            </a:r>
          </a:p>
          <a:p>
            <a:pPr algn="l">
              <a:lnSpc>
                <a:spcPts val="428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2110589"/>
            <a:ext cx="9079725" cy="602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Graph Coloring CSP:</a:t>
            </a:r>
          </a:p>
          <a:p>
            <a:pPr algn="l" marL="1765354" indent="-588451" lvl="2">
              <a:lnSpc>
                <a:spcPts val="5314"/>
              </a:lnSpc>
              <a:buFont typeface="Arial"/>
              <a:buChar char="⚬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Biến: mỗi đỉnh của đồ thị</a:t>
            </a:r>
          </a:p>
          <a:p>
            <a:pPr algn="l" marL="1765354" indent="-588451" lvl="2">
              <a:lnSpc>
                <a:spcPts val="5314"/>
              </a:lnSpc>
              <a:buFont typeface="Arial"/>
              <a:buChar char="⚬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Miền giá trị: màu có thể gán cho đỉnh (ví dụ 3–4 màu)</a:t>
            </a:r>
          </a:p>
          <a:p>
            <a:pPr algn="l" marL="1765354" indent="-588451" lvl="2">
              <a:lnSpc>
                <a:spcPts val="5314"/>
              </a:lnSpc>
              <a:buFont typeface="Arial"/>
              <a:buChar char="⚬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Ràng buộc: đỉnh kề không được cùng màu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Mục tiêu: Tô màu đồ thị planar sao cho không vi phạm ràng buộc</a:t>
            </a:r>
          </a:p>
          <a:p>
            <a:pPr algn="l">
              <a:lnSpc>
                <a:spcPts val="531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1.GIỚI THIỆU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430467" y="2148689"/>
            <a:ext cx="7286933" cy="5542364"/>
          </a:xfrm>
          <a:custGeom>
            <a:avLst/>
            <a:gdLst/>
            <a:ahLst/>
            <a:cxnLst/>
            <a:rect r="r" b="b" t="t" l="l"/>
            <a:pathLst>
              <a:path h="5542364" w="7286933">
                <a:moveTo>
                  <a:pt x="0" y="0"/>
                </a:moveTo>
                <a:lnTo>
                  <a:pt x="7286933" y="0"/>
                </a:lnTo>
                <a:lnTo>
                  <a:pt x="7286933" y="5542363"/>
                </a:lnTo>
                <a:lnTo>
                  <a:pt x="0" y="5542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2110589"/>
            <a:ext cx="9079725" cy="602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Sinh n điểm đồng đều trên [0,1]²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Dù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ng Delaunay Triangulation để tạo tam giác → các cạnh lân cận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Tạo đồ thị NetworkX từ tập cạnh, lọc các cạnh quá dài nếu cần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Trực quan hóa bằng matplotlib: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Cạnh màu xám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Đỉnh màu xanh lá, đánh số thứ tự</a:t>
            </a:r>
          </a:p>
          <a:p>
            <a:pPr algn="l">
              <a:lnSpc>
                <a:spcPts val="531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TẠO DỮ LIỆU THỬ NGHIỆM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430467" y="2148689"/>
            <a:ext cx="7286933" cy="5542364"/>
          </a:xfrm>
          <a:custGeom>
            <a:avLst/>
            <a:gdLst/>
            <a:ahLst/>
            <a:cxnLst/>
            <a:rect r="r" b="b" t="t" l="l"/>
            <a:pathLst>
              <a:path h="5542364" w="7286933">
                <a:moveTo>
                  <a:pt x="0" y="0"/>
                </a:moveTo>
                <a:lnTo>
                  <a:pt x="7286933" y="0"/>
                </a:lnTo>
                <a:lnTo>
                  <a:pt x="7286933" y="5542363"/>
                </a:lnTo>
                <a:lnTo>
                  <a:pt x="0" y="5542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2110589"/>
            <a:ext cx="9079725" cy="602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Sinh n điểm đồng đều trên [0,1]²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Dù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ng Delaunay Triangulation để tạo tam giác → các cạnh lân cận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Tạo đồ thị NetworkX từ tập cạnh, lọc các cạnh quá dài nếu cần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Trực quan hóa bằng matplotlib: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Cạnh màu xám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Đỉnh màu xanh lá, đánh số thứ tự</a:t>
            </a:r>
          </a:p>
          <a:p>
            <a:pPr algn="l">
              <a:lnSpc>
                <a:spcPts val="531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TẠO DỮ LIỆU THỬ NGHIỆM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2110589"/>
            <a:ext cx="9079725" cy="468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Từ Delaunay triangulation, lấy: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indices: chỉ số các đỉnh kề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indptr: vị trí bắt đầu &amp; kết thúc danh sách kề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Dùng để kiểm tra ràng buộc “khác màu” giữa các đỉnh kề</a:t>
            </a:r>
          </a:p>
          <a:p>
            <a:pPr algn="l">
              <a:lnSpc>
                <a:spcPts val="531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XÁC ĐỊNH CẤU TRÚC LÂN CẬN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2110589"/>
            <a:ext cx="9079725" cy="737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Complete (đầy đủ):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True nếu mọi biến đều có giá trị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False nếu còn biến chưa gán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istent (nhất quán):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True nếu không có hai đỉnh kề cùng màu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False nếu vi phạm ràng buộc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Ý nghĩa: loại bỏ sớm nhánh không hợp lệ trong thuật toán Backtracking</a:t>
            </a:r>
          </a:p>
          <a:p>
            <a:pPr algn="l">
              <a:lnSpc>
                <a:spcPts val="531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 KIỂM TRA TRẠNG THÁI GÁN GIÁ TRỊ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2110589"/>
            <a:ext cx="9079725" cy="669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Nguyên lý: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ọn biến chưa gán (select_unassigned_var)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Thử từng giá trị trong miền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Kiểm tra tính nhất quán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ếu hợp lệ, tiếp tục đệ quy; nếu không, quay lui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Có thể kết hợp heuristics: MRV, Degree, LCV, Forward Checking</a:t>
            </a:r>
          </a:p>
          <a:p>
            <a:pPr algn="l">
              <a:lnSpc>
                <a:spcPts val="531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 THUẬT TOÁN BACKTRACKING SEARCH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598836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86596" y="2148689"/>
            <a:ext cx="7326170" cy="5544853"/>
          </a:xfrm>
          <a:custGeom>
            <a:avLst/>
            <a:gdLst/>
            <a:ahLst/>
            <a:cxnLst/>
            <a:rect r="r" b="b" t="t" l="l"/>
            <a:pathLst>
              <a:path h="5544853" w="7326170">
                <a:moveTo>
                  <a:pt x="0" y="0"/>
                </a:moveTo>
                <a:lnTo>
                  <a:pt x="7326170" y="0"/>
                </a:lnTo>
                <a:lnTo>
                  <a:pt x="7326170" y="5544853"/>
                </a:lnTo>
                <a:lnTo>
                  <a:pt x="0" y="5544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2110589"/>
            <a:ext cx="9079725" cy="602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4"/>
              </a:lnSpc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quả Backtracking Search: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Ví dụ: đồ thị 10 đỉnh, 3 màu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quả: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Số nút kiểm tra: 11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Thời gian: ~7.65 ms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Nghiệm hợp lệ: tất cả đỉnh được tô màu khác nhau với đỉnh kề</a:t>
            </a:r>
          </a:p>
          <a:p>
            <a:pPr algn="l">
              <a:lnSpc>
                <a:spcPts val="5314"/>
              </a:lnSpc>
            </a:pPr>
          </a:p>
          <a:p>
            <a:pPr algn="l">
              <a:lnSpc>
                <a:spcPts val="531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 THUẬT TOÁN BACKTRACKING SEARCH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598836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2110589"/>
            <a:ext cx="13955234" cy="669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 sánh 3 phương pháp tô màu đồ thị:</a:t>
            </a:r>
          </a:p>
          <a:p>
            <a:pPr algn="l" marL="1765354" indent="-588451" lvl="2">
              <a:lnSpc>
                <a:spcPts val="5314"/>
              </a:lnSpc>
              <a:buAutoNum type="alphaLcPeriod" startAt="1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Backtracking cải tiến: MR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V, Degree, LCV, Forward Checking</a:t>
            </a:r>
          </a:p>
          <a:p>
            <a:pPr algn="l" marL="1765354" indent="-588451" lvl="2">
              <a:lnSpc>
                <a:spcPts val="5314"/>
              </a:lnSpc>
              <a:buAutoNum type="alphaLcPeriod" startAt="1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Backtracking không Forward Checking</a:t>
            </a:r>
          </a:p>
          <a:p>
            <a:pPr algn="l" marL="1765354" indent="-588451" lvl="2">
              <a:lnSpc>
                <a:spcPts val="5314"/>
              </a:lnSpc>
              <a:buAutoNum type="alphaLcPeriod" startAt="1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Hill-Climbing min-conflicts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Đánh giá 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theo:</a:t>
            </a:r>
          </a:p>
          <a:p>
            <a:pPr algn="l" marL="1765354" indent="-588451" lvl="2">
              <a:lnSpc>
                <a:spcPts val="5314"/>
              </a:lnSpc>
              <a:buFont typeface="Arial"/>
              <a:buChar char="⚬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Số node duyệt / bước lặp</a:t>
            </a:r>
          </a:p>
          <a:p>
            <a:pPr algn="l" marL="1765354" indent="-588451" lvl="2">
              <a:lnSpc>
                <a:spcPts val="5314"/>
              </a:lnSpc>
              <a:buFont typeface="Arial"/>
              <a:buChar char="⚬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Thời gian chạy</a:t>
            </a:r>
          </a:p>
          <a:p>
            <a:pPr algn="l" marL="1765354" indent="-588451" lvl="2">
              <a:lnSpc>
                <a:spcPts val="5314"/>
              </a:lnSpc>
              <a:buFont typeface="Arial"/>
              <a:buChar char="⚬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Tỉ lệ tìm được nghiệm hợp lệ</a:t>
            </a:r>
          </a:p>
          <a:p>
            <a:pPr algn="l">
              <a:lnSpc>
                <a:spcPts val="531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6 ASSIGNMENT – MỤC TIÊU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598836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2110589"/>
            <a:ext cx="13955234" cy="5356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Sinh đồ thị bằng Delaunay triangulation: n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= 10, 20, 30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Mỗ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 n chạy 3 lần (trials = 3)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Sử dụ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ng 3 màu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Ghi nhận: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Số cạ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nh trung bìn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Số node kiểm tra &amp; thời gian Backtracking</a:t>
            </a:r>
          </a:p>
          <a:p>
            <a:pPr algn="l" marL="882677" indent="-441338" lvl="1">
              <a:lnSpc>
                <a:spcPts val="5314"/>
              </a:lnSpc>
              <a:buFont typeface="Arial"/>
              <a:buChar char="•"/>
            </a:pP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Số</a:t>
            </a:r>
            <a:r>
              <a:rPr lang="en-US" sz="4088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bước, số restart &amp; thời gian Hill-Climbing</a:t>
            </a:r>
          </a:p>
          <a:p>
            <a:pPr algn="l">
              <a:lnSpc>
                <a:spcPts val="531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6.1 QUY TRÌNH THỰC NGHIỆM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598836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6871" y="1865286"/>
            <a:ext cx="5376940" cy="4133164"/>
          </a:xfrm>
          <a:custGeom>
            <a:avLst/>
            <a:gdLst/>
            <a:ahLst/>
            <a:cxnLst/>
            <a:rect r="r" b="b" t="t" l="l"/>
            <a:pathLst>
              <a:path h="4133164" w="5376940">
                <a:moveTo>
                  <a:pt x="0" y="0"/>
                </a:moveTo>
                <a:lnTo>
                  <a:pt x="5376940" y="0"/>
                </a:lnTo>
                <a:lnTo>
                  <a:pt x="5376940" y="4133164"/>
                </a:lnTo>
                <a:lnTo>
                  <a:pt x="0" y="4133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39669" y="1865286"/>
            <a:ext cx="5874497" cy="4133164"/>
          </a:xfrm>
          <a:custGeom>
            <a:avLst/>
            <a:gdLst/>
            <a:ahLst/>
            <a:cxnLst/>
            <a:rect r="r" b="b" t="t" l="l"/>
            <a:pathLst>
              <a:path h="4133164" w="5874497">
                <a:moveTo>
                  <a:pt x="0" y="0"/>
                </a:moveTo>
                <a:lnTo>
                  <a:pt x="5874497" y="0"/>
                </a:lnTo>
                <a:lnTo>
                  <a:pt x="5874497" y="4133164"/>
                </a:lnTo>
                <a:lnTo>
                  <a:pt x="0" y="41331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179425"/>
            <a:ext cx="12988784" cy="4457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3340" indent="-326670" lvl="1">
              <a:lnSpc>
                <a:spcPts val="3933"/>
              </a:lnSpc>
              <a:buFont typeface="Arial"/>
              <a:buChar char="•"/>
            </a:pPr>
            <a:r>
              <a:rPr lang="en-US" sz="302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Số cạnh trung bình tăng gần</a:t>
            </a:r>
            <a:r>
              <a:rPr lang="en-US" sz="302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tuyến tính theo n</a:t>
            </a:r>
          </a:p>
          <a:p>
            <a:pPr algn="l" marL="653340" indent="-326670" lvl="1">
              <a:lnSpc>
                <a:spcPts val="3933"/>
              </a:lnSpc>
              <a:buFont typeface="Arial"/>
              <a:buChar char="•"/>
            </a:pPr>
            <a:r>
              <a:rPr lang="en-US" sz="302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Backtracking + Forward Checking: giảm</a:t>
            </a:r>
            <a:r>
              <a:rPr lang="en-US" sz="302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đáng kể</a:t>
            </a:r>
            <a:r>
              <a:rPr lang="en-US" sz="302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node kiểm tra và thời gian</a:t>
            </a:r>
          </a:p>
          <a:p>
            <a:pPr algn="l" marL="653340" indent="-326670" lvl="1">
              <a:lnSpc>
                <a:spcPts val="3933"/>
              </a:lnSpc>
              <a:buFont typeface="Arial"/>
              <a:buChar char="•"/>
            </a:pPr>
            <a:r>
              <a:rPr lang="en-US" sz="302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Hill-Climbing (min-conflicts): nhanh hơn nhiều, nhưng không luôn tìm được nghiệm hợp lệ → cần restart</a:t>
            </a:r>
          </a:p>
          <a:p>
            <a:pPr algn="l" marL="653340" indent="-326670" lvl="1">
              <a:lnSpc>
                <a:spcPts val="3933"/>
              </a:lnSpc>
              <a:buFont typeface="Arial"/>
              <a:buChar char="•"/>
            </a:pPr>
            <a:r>
              <a:rPr lang="en-US" sz="302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luận:</a:t>
            </a:r>
          </a:p>
          <a:p>
            <a:pPr algn="l" marL="653340" indent="-326670" lvl="1">
              <a:lnSpc>
                <a:spcPts val="3933"/>
              </a:lnSpc>
              <a:buFont typeface="Arial"/>
              <a:buChar char="•"/>
            </a:pPr>
            <a:r>
              <a:rPr lang="en-US" sz="302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hợp MRV + LCV + Forward Checking làm Backtracking hiệu quả</a:t>
            </a:r>
          </a:p>
          <a:p>
            <a:pPr algn="l" marL="653340" indent="-326670" lvl="1">
              <a:lnSpc>
                <a:spcPts val="3933"/>
              </a:lnSpc>
              <a:buFont typeface="Arial"/>
              <a:buChar char="•"/>
            </a:pPr>
            <a:r>
              <a:rPr lang="en-US" sz="3026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Hill-Climbing phù hợp với đồ thị lớn khi chấp nhận nghiệm xấp xỉ</a:t>
            </a:r>
          </a:p>
          <a:p>
            <a:pPr algn="l">
              <a:lnSpc>
                <a:spcPts val="393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6.2 KẾT QUẢ VÀ NHẬN XÉT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DAG22uNU_tQ</dc:identifier>
  <dcterms:modified xsi:type="dcterms:W3CDTF">2011-08-01T06:04:30Z</dcterms:modified>
  <cp:revision>1</cp:revision>
  <dc:title>Lab05_Slide</dc:title>
</cp:coreProperties>
</file>