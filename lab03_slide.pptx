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x="18288000" cy="10287000"/>
  <p:notesSz cx="6858000" cy="9144000"/>
  <p:embeddedFontLst>
    <p:embeddedFont>
      <p:font typeface="Noto Serif Display Semi-Bold Italics" charset="1" panose="02020702080505090204"/>
      <p:regular r:id="rId64"/>
    </p:embeddedFont>
    <p:embeddedFont>
      <p:font typeface="Public Sans Bold" charset="1" panose="00000000000000000000"/>
      <p:regular r:id="rId65"/>
    </p:embeddedFont>
    <p:embeddedFont>
      <p:font typeface="Public Sans" charset="1" panose="00000000000000000000"/>
      <p:regular r:id="rId66"/>
    </p:embeddedFont>
    <p:embeddedFont>
      <p:font typeface="Noto Serif Display ExtraCondensed Bold Italics" charset="1" panose="02020806080505090204"/>
      <p:regular r:id="rId67"/>
    </p:embeddedFont>
    <p:embeddedFont>
      <p:font typeface="Public Sans Italics" charset="1" panose="00000000000000000000"/>
      <p:regular r:id="rId68"/>
    </p:embeddedFont>
    <p:embeddedFont>
      <p:font typeface="Noto Serif Display Bold Italics" charset="1" panose="02020802080505090204"/>
      <p:regular r:id="rId6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fonts/font64.fntdata" Type="http://schemas.openxmlformats.org/officeDocument/2006/relationships/font"/><Relationship Id="rId65" Target="fonts/font65.fntdata" Type="http://schemas.openxmlformats.org/officeDocument/2006/relationships/font"/><Relationship Id="rId66" Target="fonts/font66.fntdata" Type="http://schemas.openxmlformats.org/officeDocument/2006/relationships/font"/><Relationship Id="rId67" Target="fonts/font67.fntdata" Type="http://schemas.openxmlformats.org/officeDocument/2006/relationships/font"/><Relationship Id="rId68" Target="fonts/font68.fntdata" Type="http://schemas.openxmlformats.org/officeDocument/2006/relationships/font"/><Relationship Id="rId69" Target="fonts/font69.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38.png" Type="http://schemas.openxmlformats.org/officeDocument/2006/relationships/image"/><Relationship Id="rId13" Target="../media/image39.svg" Type="http://schemas.openxmlformats.org/officeDocument/2006/relationships/image"/><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3005009"/>
            <a:ext cx="13919249" cy="3770630"/>
          </a:xfrm>
          <a:prstGeom prst="rect">
            <a:avLst/>
          </a:prstGeom>
        </p:spPr>
        <p:txBody>
          <a:bodyPr anchor="t" rtlCol="false" tIns="0" lIns="0" bIns="0" rIns="0">
            <a:spAutoFit/>
          </a:bodyPr>
          <a:lstStyle/>
          <a:p>
            <a:pPr algn="l">
              <a:lnSpc>
                <a:spcPts val="14740"/>
              </a:lnSpc>
            </a:pPr>
            <a:r>
              <a:rPr lang="en-US" b="true" sz="13400" i="true" spc="-656">
                <a:solidFill>
                  <a:srgbClr val="333333"/>
                </a:solidFill>
                <a:latin typeface="Noto Serif Display Semi-Bold Italics"/>
                <a:ea typeface="Noto Serif Display Semi-Bold Italics"/>
                <a:cs typeface="Noto Serif Display Semi-Bold Italics"/>
                <a:sym typeface="Noto Serif Display Semi-Bold Italics"/>
              </a:rPr>
              <a:t>Lab 03 : Local Search</a:t>
            </a:r>
          </a:p>
        </p:txBody>
      </p:sp>
      <p:sp>
        <p:nvSpPr>
          <p:cNvPr name="TextBox 4" id="4"/>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Rimberio Co.</a:t>
            </a:r>
          </a:p>
        </p:txBody>
      </p:sp>
      <p:sp>
        <p:nvSpPr>
          <p:cNvPr name="TextBox 5" id="5"/>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6" id="6"/>
          <p:cNvSpPr txBox="true"/>
          <p:nvPr/>
        </p:nvSpPr>
        <p:spPr>
          <a:xfrm rot="0">
            <a:off x="12222482" y="8247181"/>
            <a:ext cx="5036818" cy="431800"/>
          </a:xfrm>
          <a:prstGeom prst="rect">
            <a:avLst/>
          </a:prstGeom>
        </p:spPr>
        <p:txBody>
          <a:bodyPr anchor="t" rtlCol="false" tIns="0" lIns="0" bIns="0" rIns="0">
            <a:spAutoFit/>
          </a:bodyPr>
          <a:lstStyle/>
          <a:p>
            <a:pPr algn="r">
              <a:lnSpc>
                <a:spcPts val="3499"/>
              </a:lnSpc>
            </a:pPr>
            <a:r>
              <a:rPr lang="en-US" sz="2499">
                <a:solidFill>
                  <a:srgbClr val="333333"/>
                </a:solidFill>
                <a:latin typeface="Public Sans"/>
                <a:ea typeface="Public Sans"/>
                <a:cs typeface="Public Sans"/>
                <a:sym typeface="Public Sans"/>
              </a:rPr>
              <a:t>Presented by</a:t>
            </a:r>
          </a:p>
        </p:txBody>
      </p:sp>
      <p:sp>
        <p:nvSpPr>
          <p:cNvPr name="TextBox 7" id="7"/>
          <p:cNvSpPr txBox="true"/>
          <p:nvPr/>
        </p:nvSpPr>
        <p:spPr>
          <a:xfrm rot="0">
            <a:off x="12222482" y="8743950"/>
            <a:ext cx="5036818" cy="514350"/>
          </a:xfrm>
          <a:prstGeom prst="rect">
            <a:avLst/>
          </a:prstGeom>
        </p:spPr>
        <p:txBody>
          <a:bodyPr anchor="t" rtlCol="false" tIns="0" lIns="0" bIns="0" rIns="0">
            <a:spAutoFit/>
          </a:bodyPr>
          <a:lstStyle/>
          <a:p>
            <a:pPr algn="r">
              <a:lnSpc>
                <a:spcPts val="4199"/>
              </a:lnSpc>
            </a:pPr>
            <a:r>
              <a:rPr lang="en-US" b="true" sz="2999">
                <a:solidFill>
                  <a:srgbClr val="333333"/>
                </a:solidFill>
                <a:latin typeface="Public Sans Bold"/>
                <a:ea typeface="Public Sans Bold"/>
                <a:cs typeface="Public Sans Bold"/>
                <a:sym typeface="Public Sans Bold"/>
              </a:rPr>
              <a:t>Harper Russo</a:t>
            </a:r>
          </a:p>
        </p:txBody>
      </p:sp>
      <p:sp>
        <p:nvSpPr>
          <p:cNvPr name="TextBox 8" id="8"/>
          <p:cNvSpPr txBox="true"/>
          <p:nvPr/>
        </p:nvSpPr>
        <p:spPr>
          <a:xfrm rot="0">
            <a:off x="1028700" y="882650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May 2023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4191083" y="6095917"/>
            <a:ext cx="8382166" cy="8382166"/>
          </a:xfrm>
          <a:custGeom>
            <a:avLst/>
            <a:gdLst/>
            <a:ahLst/>
            <a:cxnLst/>
            <a:rect r="r" b="b" t="t" l="l"/>
            <a:pathLst>
              <a:path h="8382166" w="8382166">
                <a:moveTo>
                  <a:pt x="0" y="0"/>
                </a:moveTo>
                <a:lnTo>
                  <a:pt x="8382166" y="0"/>
                </a:lnTo>
                <a:lnTo>
                  <a:pt x="8382166" y="8382166"/>
                </a:lnTo>
                <a:lnTo>
                  <a:pt x="0" y="83821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2458154"/>
            <a:ext cx="13919249" cy="2057400"/>
          </a:xfrm>
          <a:prstGeom prst="rect">
            <a:avLst/>
          </a:prstGeom>
        </p:spPr>
        <p:txBody>
          <a:bodyPr anchor="t" rtlCol="false" tIns="0" lIns="0" bIns="0" rIns="0">
            <a:spAutoFit/>
          </a:bodyPr>
          <a:lstStyle/>
          <a:p>
            <a:pPr algn="l">
              <a:lnSpc>
                <a:spcPts val="16200"/>
              </a:lnSpc>
            </a:pPr>
            <a:r>
              <a:rPr lang="en-US" b="true" sz="13500" i="true" spc="-661">
                <a:solidFill>
                  <a:srgbClr val="333333"/>
                </a:solidFill>
                <a:latin typeface="Noto Serif Display Semi-Bold Italics"/>
                <a:ea typeface="Noto Serif Display Semi-Bold Italics"/>
                <a:cs typeface="Noto Serif Display Semi-Bold Italics"/>
                <a:sym typeface="Noto Serif Display Semi-Bold Italics"/>
              </a:rPr>
              <a:t>Nhóm 13</a:t>
            </a:r>
          </a:p>
        </p:txBody>
      </p:sp>
      <p:sp>
        <p:nvSpPr>
          <p:cNvPr name="TextBox 5" id="5"/>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Rimberio Co.</a:t>
            </a:r>
          </a:p>
        </p:txBody>
      </p:sp>
      <p:sp>
        <p:nvSpPr>
          <p:cNvPr name="TextBox 6" id="6"/>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7" id="7"/>
          <p:cNvSpPr txBox="true"/>
          <p:nvPr/>
        </p:nvSpPr>
        <p:spPr>
          <a:xfrm rot="0">
            <a:off x="1028700" y="8826500"/>
            <a:ext cx="3091650"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May 2023</a:t>
            </a:r>
          </a:p>
        </p:txBody>
      </p:sp>
      <p:sp>
        <p:nvSpPr>
          <p:cNvPr name="AutoShape 8" id="8"/>
          <p:cNvSpPr/>
          <p:nvPr/>
        </p:nvSpPr>
        <p:spPr>
          <a:xfrm rot="0">
            <a:off x="8679763" y="3657517"/>
            <a:ext cx="3559327" cy="0"/>
          </a:xfrm>
          <a:prstGeom prst="line">
            <a:avLst/>
          </a:prstGeom>
          <a:ln cap="flat" w="47625">
            <a:solidFill>
              <a:srgbClr val="333333"/>
            </a:solidFill>
            <a:prstDash val="solid"/>
            <a:headEnd type="none" len="sm" w="sm"/>
            <a:tailEnd type="arrow" len="sm" w="med"/>
          </a:ln>
        </p:spPr>
      </p:sp>
      <p:sp>
        <p:nvSpPr>
          <p:cNvPr name="TextBox 9" id="9"/>
          <p:cNvSpPr txBox="true"/>
          <p:nvPr/>
        </p:nvSpPr>
        <p:spPr>
          <a:xfrm rot="0">
            <a:off x="6065518" y="5718526"/>
            <a:ext cx="9991876" cy="3352449"/>
          </a:xfrm>
          <a:prstGeom prst="rect">
            <a:avLst/>
          </a:prstGeom>
        </p:spPr>
        <p:txBody>
          <a:bodyPr anchor="t" rtlCol="false" tIns="0" lIns="0" bIns="0" rIns="0">
            <a:spAutoFit/>
          </a:bodyPr>
          <a:lstStyle/>
          <a:p>
            <a:pPr algn="l">
              <a:lnSpc>
                <a:spcPts val="5374"/>
              </a:lnSpc>
              <a:spcBef>
                <a:spcPct val="0"/>
              </a:spcBef>
            </a:pPr>
            <a:r>
              <a:rPr lang="en-US" b="true" sz="3839">
                <a:solidFill>
                  <a:srgbClr val="333333"/>
                </a:solidFill>
                <a:latin typeface="Public Sans Bold"/>
                <a:ea typeface="Public Sans Bold"/>
                <a:cs typeface="Public Sans Bold"/>
                <a:sym typeface="Public Sans Bold"/>
              </a:rPr>
              <a:t>3121410541- Nguyễn Minh Trường </a:t>
            </a:r>
          </a:p>
          <a:p>
            <a:pPr algn="l">
              <a:lnSpc>
                <a:spcPts val="5374"/>
              </a:lnSpc>
              <a:spcBef>
                <a:spcPct val="0"/>
              </a:spcBef>
            </a:pPr>
            <a:r>
              <a:rPr lang="en-US" b="true" sz="3839">
                <a:solidFill>
                  <a:srgbClr val="333333"/>
                </a:solidFill>
                <a:latin typeface="Public Sans Bold"/>
                <a:ea typeface="Public Sans Bold"/>
                <a:cs typeface="Public Sans Bold"/>
                <a:sym typeface="Public Sans Bold"/>
              </a:rPr>
              <a:t>3122410279- Nguyễn Phan Việt Nhật</a:t>
            </a:r>
          </a:p>
          <a:p>
            <a:pPr algn="l">
              <a:lnSpc>
                <a:spcPts val="5374"/>
              </a:lnSpc>
              <a:spcBef>
                <a:spcPct val="0"/>
              </a:spcBef>
            </a:pPr>
            <a:r>
              <a:rPr lang="en-US" b="true" sz="3839">
                <a:solidFill>
                  <a:srgbClr val="333333"/>
                </a:solidFill>
                <a:latin typeface="Public Sans Bold"/>
                <a:ea typeface="Public Sans Bold"/>
                <a:cs typeface="Public Sans Bold"/>
                <a:sym typeface="Public Sans Bold"/>
              </a:rPr>
              <a:t>3122410401-Đinh Công Thuận</a:t>
            </a:r>
          </a:p>
          <a:p>
            <a:pPr algn="l">
              <a:lnSpc>
                <a:spcPts val="5374"/>
              </a:lnSpc>
              <a:spcBef>
                <a:spcPct val="0"/>
              </a:spcBef>
            </a:pPr>
            <a:r>
              <a:rPr lang="en-US" b="true" sz="3839">
                <a:solidFill>
                  <a:srgbClr val="333333"/>
                </a:solidFill>
                <a:latin typeface="Public Sans Bold"/>
                <a:ea typeface="Public Sans Bold"/>
                <a:cs typeface="Public Sans Bold"/>
                <a:sym typeface="Public Sans Bold"/>
              </a:rPr>
              <a:t>3122410384- Hoàng Minh Thành </a:t>
            </a:r>
          </a:p>
          <a:p>
            <a:pPr algn="l">
              <a:lnSpc>
                <a:spcPts val="5374"/>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233983" y="2132768"/>
            <a:ext cx="14965512" cy="2571750"/>
          </a:xfrm>
          <a:prstGeom prst="rect">
            <a:avLst/>
          </a:prstGeom>
        </p:spPr>
        <p:txBody>
          <a:bodyPr anchor="t" rtlCol="false" tIns="0" lIns="0" bIns="0" rIns="0">
            <a:spAutoFit/>
          </a:bodyPr>
          <a:lstStyle/>
          <a:p>
            <a:pPr algn="ctr">
              <a:lnSpc>
                <a:spcPts val="10199"/>
              </a:lnSpc>
            </a:pPr>
            <a:r>
              <a:rPr lang="en-US" b="true" sz="8499" i="true" spc="-416">
                <a:solidFill>
                  <a:srgbClr val="333333"/>
                </a:solidFill>
                <a:latin typeface="Noto Serif Display Semi-Bold Italics"/>
                <a:ea typeface="Noto Serif Display Semi-Bold Italics"/>
                <a:cs typeface="Noto Serif Display Semi-Bold Italics"/>
                <a:sym typeface="Noto Serif Display Semi-Bold Italics"/>
              </a:rPr>
              <a:t>Phần I: Assignments: - [The n-Queens Problem]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a:off x="1028700" y="673434"/>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568968" y="4353187"/>
            <a:ext cx="7893711" cy="5666438"/>
          </a:xfrm>
          <a:custGeom>
            <a:avLst/>
            <a:gdLst/>
            <a:ahLst/>
            <a:cxnLst/>
            <a:rect r="r" b="b" t="t" l="l"/>
            <a:pathLst>
              <a:path h="5666438" w="7893711">
                <a:moveTo>
                  <a:pt x="0" y="0"/>
                </a:moveTo>
                <a:lnTo>
                  <a:pt x="7893710" y="0"/>
                </a:lnTo>
                <a:lnTo>
                  <a:pt x="7893710" y="5666438"/>
                </a:lnTo>
                <a:lnTo>
                  <a:pt x="0" y="5666438"/>
                </a:lnTo>
                <a:lnTo>
                  <a:pt x="0" y="0"/>
                </a:lnTo>
                <a:close/>
              </a:path>
            </a:pathLst>
          </a:custGeom>
          <a:blipFill>
            <a:blip r:embed="rId2"/>
            <a:stretch>
              <a:fillRect l="0" t="0" r="-23765" b="0"/>
            </a:stretch>
          </a:blipFill>
        </p:spPr>
      </p:sp>
      <p:sp>
        <p:nvSpPr>
          <p:cNvPr name="Freeform 4" id="4"/>
          <p:cNvSpPr/>
          <p:nvPr/>
        </p:nvSpPr>
        <p:spPr>
          <a:xfrm flipH="false" flipV="false" rot="0">
            <a:off x="9797939" y="4335485"/>
            <a:ext cx="7461361" cy="5701842"/>
          </a:xfrm>
          <a:custGeom>
            <a:avLst/>
            <a:gdLst/>
            <a:ahLst/>
            <a:cxnLst/>
            <a:rect r="r" b="b" t="t" l="l"/>
            <a:pathLst>
              <a:path h="5701842" w="7461361">
                <a:moveTo>
                  <a:pt x="0" y="0"/>
                </a:moveTo>
                <a:lnTo>
                  <a:pt x="7461361" y="0"/>
                </a:lnTo>
                <a:lnTo>
                  <a:pt x="7461361" y="5701842"/>
                </a:lnTo>
                <a:lnTo>
                  <a:pt x="0" y="5701842"/>
                </a:lnTo>
                <a:lnTo>
                  <a:pt x="0" y="0"/>
                </a:lnTo>
                <a:close/>
              </a:path>
            </a:pathLst>
          </a:custGeom>
          <a:blipFill>
            <a:blip r:embed="rId3"/>
            <a:stretch>
              <a:fillRect l="0" t="0" r="-27629" b="0"/>
            </a:stretch>
          </a:blipFill>
        </p:spPr>
      </p:sp>
      <p:sp>
        <p:nvSpPr>
          <p:cNvPr name="TextBox 5" id="5"/>
          <p:cNvSpPr txBox="true"/>
          <p:nvPr/>
        </p:nvSpPr>
        <p:spPr>
          <a:xfrm rot="0">
            <a:off x="0" y="1040015"/>
            <a:ext cx="17259300" cy="3295470"/>
          </a:xfrm>
          <a:prstGeom prst="rect">
            <a:avLst/>
          </a:prstGeom>
        </p:spPr>
        <p:txBody>
          <a:bodyPr anchor="t" rtlCol="false" tIns="0" lIns="0" bIns="0" rIns="0">
            <a:spAutoFit/>
          </a:bodyPr>
          <a:lstStyle/>
          <a:p>
            <a:pPr algn="ctr">
              <a:lnSpc>
                <a:spcPts val="8873"/>
              </a:lnSpc>
              <a:spcBef>
                <a:spcPct val="0"/>
              </a:spcBef>
            </a:pPr>
            <a:r>
              <a:rPr lang="en-US" b="true" sz="6338">
                <a:solidFill>
                  <a:srgbClr val="333333"/>
                </a:solidFill>
                <a:latin typeface="Public Sans Bold"/>
                <a:ea typeface="Public Sans Bold"/>
                <a:cs typeface="Public Sans Bold"/>
                <a:sym typeface="Public Sans Bold"/>
              </a:rPr>
              <a:t>Task 1: Steepest-ascend H</a:t>
            </a:r>
            <a:r>
              <a:rPr lang="en-US" b="true" sz="6338">
                <a:solidFill>
                  <a:srgbClr val="333333"/>
                </a:solidFill>
                <a:latin typeface="Public Sans Bold"/>
                <a:ea typeface="Public Sans Bold"/>
                <a:cs typeface="Public Sans Bold"/>
                <a:sym typeface="Public Sans Bold"/>
              </a:rPr>
              <a:t>ill Climbing Search</a:t>
            </a:r>
          </a:p>
          <a:p>
            <a:pPr algn="ctr">
              <a:lnSpc>
                <a:spcPts val="8873"/>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a:off x="1028700" y="673434"/>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1628794" y="4207935"/>
            <a:ext cx="15030412" cy="5293730"/>
          </a:xfrm>
          <a:custGeom>
            <a:avLst/>
            <a:gdLst/>
            <a:ahLst/>
            <a:cxnLst/>
            <a:rect r="r" b="b" t="t" l="l"/>
            <a:pathLst>
              <a:path h="5293730" w="15030412">
                <a:moveTo>
                  <a:pt x="0" y="0"/>
                </a:moveTo>
                <a:lnTo>
                  <a:pt x="15030412" y="0"/>
                </a:lnTo>
                <a:lnTo>
                  <a:pt x="15030412" y="5293730"/>
                </a:lnTo>
                <a:lnTo>
                  <a:pt x="0" y="5293730"/>
                </a:lnTo>
                <a:lnTo>
                  <a:pt x="0" y="0"/>
                </a:lnTo>
                <a:close/>
              </a:path>
            </a:pathLst>
          </a:custGeom>
          <a:blipFill>
            <a:blip r:embed="rId2"/>
            <a:stretch>
              <a:fillRect l="0" t="0" r="0" b="0"/>
            </a:stretch>
          </a:blipFill>
        </p:spPr>
      </p:sp>
      <p:sp>
        <p:nvSpPr>
          <p:cNvPr name="TextBox 4" id="4"/>
          <p:cNvSpPr txBox="true"/>
          <p:nvPr/>
        </p:nvSpPr>
        <p:spPr>
          <a:xfrm rot="0">
            <a:off x="0" y="1040015"/>
            <a:ext cx="17259300" cy="2184589"/>
          </a:xfrm>
          <a:prstGeom prst="rect">
            <a:avLst/>
          </a:prstGeom>
        </p:spPr>
        <p:txBody>
          <a:bodyPr anchor="t" rtlCol="false" tIns="0" lIns="0" bIns="0" rIns="0">
            <a:spAutoFit/>
          </a:bodyPr>
          <a:lstStyle/>
          <a:p>
            <a:pPr algn="ctr">
              <a:lnSpc>
                <a:spcPts val="8873"/>
              </a:lnSpc>
              <a:spcBef>
                <a:spcPct val="0"/>
              </a:spcBef>
            </a:pPr>
            <a:r>
              <a:rPr lang="en-US" b="true" sz="6338">
                <a:solidFill>
                  <a:srgbClr val="333333"/>
                </a:solidFill>
                <a:latin typeface="Public Sans Bold"/>
                <a:ea typeface="Public Sans Bold"/>
                <a:cs typeface="Public Sans Bold"/>
                <a:sym typeface="Public Sans Bold"/>
              </a:rPr>
              <a:t>Task 2: Stochastic H</a:t>
            </a:r>
            <a:r>
              <a:rPr lang="en-US" b="true" sz="6338">
                <a:solidFill>
                  <a:srgbClr val="333333"/>
                </a:solidFill>
                <a:latin typeface="Public Sans Bold"/>
                <a:ea typeface="Public Sans Bold"/>
                <a:cs typeface="Public Sans Bold"/>
                <a:sym typeface="Public Sans Bold"/>
              </a:rPr>
              <a:t>ill Climbing 1</a:t>
            </a:r>
          </a:p>
          <a:p>
            <a:pPr algn="ctr">
              <a:lnSpc>
                <a:spcPts val="8873"/>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a:off x="1028700" y="673434"/>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1173008" y="2194222"/>
            <a:ext cx="6946910" cy="6020655"/>
          </a:xfrm>
          <a:custGeom>
            <a:avLst/>
            <a:gdLst/>
            <a:ahLst/>
            <a:cxnLst/>
            <a:rect r="r" b="b" t="t" l="l"/>
            <a:pathLst>
              <a:path h="6020655" w="6946910">
                <a:moveTo>
                  <a:pt x="0" y="0"/>
                </a:moveTo>
                <a:lnTo>
                  <a:pt x="6946910" y="0"/>
                </a:lnTo>
                <a:lnTo>
                  <a:pt x="6946910" y="6020655"/>
                </a:lnTo>
                <a:lnTo>
                  <a:pt x="0" y="6020655"/>
                </a:lnTo>
                <a:lnTo>
                  <a:pt x="0" y="0"/>
                </a:lnTo>
                <a:close/>
              </a:path>
            </a:pathLst>
          </a:custGeom>
          <a:blipFill>
            <a:blip r:embed="rId2"/>
            <a:stretch>
              <a:fillRect l="0" t="0" r="0" b="0"/>
            </a:stretch>
          </a:blipFill>
        </p:spPr>
      </p:sp>
      <p:sp>
        <p:nvSpPr>
          <p:cNvPr name="Freeform 4" id="4"/>
          <p:cNvSpPr/>
          <p:nvPr/>
        </p:nvSpPr>
        <p:spPr>
          <a:xfrm flipH="false" flipV="false" rot="0">
            <a:off x="10862648" y="2194222"/>
            <a:ext cx="6442704" cy="6020655"/>
          </a:xfrm>
          <a:custGeom>
            <a:avLst/>
            <a:gdLst/>
            <a:ahLst/>
            <a:cxnLst/>
            <a:rect r="r" b="b" t="t" l="l"/>
            <a:pathLst>
              <a:path h="6020655" w="6442704">
                <a:moveTo>
                  <a:pt x="0" y="0"/>
                </a:moveTo>
                <a:lnTo>
                  <a:pt x="6442704" y="0"/>
                </a:lnTo>
                <a:lnTo>
                  <a:pt x="6442704" y="6020655"/>
                </a:lnTo>
                <a:lnTo>
                  <a:pt x="0" y="6020655"/>
                </a:lnTo>
                <a:lnTo>
                  <a:pt x="0" y="0"/>
                </a:lnTo>
                <a:close/>
              </a:path>
            </a:pathLst>
          </a:custGeom>
          <a:blipFill>
            <a:blip r:embed="rId3"/>
            <a:stretch>
              <a:fillRect l="0" t="0" r="0" b="0"/>
            </a:stretch>
          </a:blipFill>
        </p:spPr>
      </p:sp>
      <p:sp>
        <p:nvSpPr>
          <p:cNvPr name="Freeform 5" id="5"/>
          <p:cNvSpPr/>
          <p:nvPr/>
        </p:nvSpPr>
        <p:spPr>
          <a:xfrm flipH="false" flipV="false" rot="0">
            <a:off x="3711472" y="8985530"/>
            <a:ext cx="10865057" cy="974445"/>
          </a:xfrm>
          <a:custGeom>
            <a:avLst/>
            <a:gdLst/>
            <a:ahLst/>
            <a:cxnLst/>
            <a:rect r="r" b="b" t="t" l="l"/>
            <a:pathLst>
              <a:path h="974445" w="10865057">
                <a:moveTo>
                  <a:pt x="0" y="0"/>
                </a:moveTo>
                <a:lnTo>
                  <a:pt x="10865056" y="0"/>
                </a:lnTo>
                <a:lnTo>
                  <a:pt x="10865056" y="974445"/>
                </a:lnTo>
                <a:lnTo>
                  <a:pt x="0" y="974445"/>
                </a:lnTo>
                <a:lnTo>
                  <a:pt x="0" y="0"/>
                </a:lnTo>
                <a:close/>
              </a:path>
            </a:pathLst>
          </a:custGeom>
          <a:blipFill>
            <a:blip r:embed="rId4"/>
            <a:stretch>
              <a:fillRect l="0" t="0" r="0" b="0"/>
            </a:stretch>
          </a:blipFill>
        </p:spPr>
      </p:sp>
      <p:sp>
        <p:nvSpPr>
          <p:cNvPr name="TextBox 6" id="6"/>
          <p:cNvSpPr txBox="true"/>
          <p:nvPr/>
        </p:nvSpPr>
        <p:spPr>
          <a:xfrm rot="0">
            <a:off x="0" y="1040015"/>
            <a:ext cx="17259300" cy="2184589"/>
          </a:xfrm>
          <a:prstGeom prst="rect">
            <a:avLst/>
          </a:prstGeom>
        </p:spPr>
        <p:txBody>
          <a:bodyPr anchor="t" rtlCol="false" tIns="0" lIns="0" bIns="0" rIns="0">
            <a:spAutoFit/>
          </a:bodyPr>
          <a:lstStyle/>
          <a:p>
            <a:pPr algn="ctr">
              <a:lnSpc>
                <a:spcPts val="8873"/>
              </a:lnSpc>
              <a:spcBef>
                <a:spcPct val="0"/>
              </a:spcBef>
            </a:pPr>
            <a:r>
              <a:rPr lang="en-US" b="true" sz="6338">
                <a:solidFill>
                  <a:srgbClr val="333333"/>
                </a:solidFill>
                <a:latin typeface="Public Sans Bold"/>
                <a:ea typeface="Public Sans Bold"/>
                <a:cs typeface="Public Sans Bold"/>
                <a:sym typeface="Public Sans Bold"/>
              </a:rPr>
              <a:t>Task 3: Stochastic H</a:t>
            </a:r>
            <a:r>
              <a:rPr lang="en-US" b="true" sz="6338">
                <a:solidFill>
                  <a:srgbClr val="333333"/>
                </a:solidFill>
                <a:latin typeface="Public Sans Bold"/>
                <a:ea typeface="Public Sans Bold"/>
                <a:cs typeface="Public Sans Bold"/>
                <a:sym typeface="Public Sans Bold"/>
              </a:rPr>
              <a:t>ill Climbing 2</a:t>
            </a:r>
          </a:p>
          <a:p>
            <a:pPr algn="ctr">
              <a:lnSpc>
                <a:spcPts val="8873"/>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a:off x="1028700" y="673434"/>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1017526" y="1930400"/>
            <a:ext cx="8126474" cy="4873668"/>
          </a:xfrm>
          <a:custGeom>
            <a:avLst/>
            <a:gdLst/>
            <a:ahLst/>
            <a:cxnLst/>
            <a:rect r="r" b="b" t="t" l="l"/>
            <a:pathLst>
              <a:path h="4873668" w="8126474">
                <a:moveTo>
                  <a:pt x="0" y="0"/>
                </a:moveTo>
                <a:lnTo>
                  <a:pt x="8126474" y="0"/>
                </a:lnTo>
                <a:lnTo>
                  <a:pt x="8126474" y="4873668"/>
                </a:lnTo>
                <a:lnTo>
                  <a:pt x="0" y="4873668"/>
                </a:lnTo>
                <a:lnTo>
                  <a:pt x="0" y="0"/>
                </a:lnTo>
                <a:close/>
              </a:path>
            </a:pathLst>
          </a:custGeom>
          <a:blipFill>
            <a:blip r:embed="rId2"/>
            <a:stretch>
              <a:fillRect l="0" t="0" r="-39067" b="0"/>
            </a:stretch>
          </a:blipFill>
        </p:spPr>
      </p:sp>
      <p:sp>
        <p:nvSpPr>
          <p:cNvPr name="Freeform 4" id="4"/>
          <p:cNvSpPr/>
          <p:nvPr/>
        </p:nvSpPr>
        <p:spPr>
          <a:xfrm flipH="false" flipV="false" rot="0">
            <a:off x="10895794" y="1855507"/>
            <a:ext cx="5732151" cy="5962237"/>
          </a:xfrm>
          <a:custGeom>
            <a:avLst/>
            <a:gdLst/>
            <a:ahLst/>
            <a:cxnLst/>
            <a:rect r="r" b="b" t="t" l="l"/>
            <a:pathLst>
              <a:path h="5962237" w="5732151">
                <a:moveTo>
                  <a:pt x="0" y="0"/>
                </a:moveTo>
                <a:lnTo>
                  <a:pt x="5732151" y="0"/>
                </a:lnTo>
                <a:lnTo>
                  <a:pt x="5732151" y="5962238"/>
                </a:lnTo>
                <a:lnTo>
                  <a:pt x="0" y="5962238"/>
                </a:lnTo>
                <a:lnTo>
                  <a:pt x="0" y="0"/>
                </a:lnTo>
                <a:close/>
              </a:path>
            </a:pathLst>
          </a:custGeom>
          <a:blipFill>
            <a:blip r:embed="rId3"/>
            <a:stretch>
              <a:fillRect l="0" t="0" r="0" b="0"/>
            </a:stretch>
          </a:blipFill>
        </p:spPr>
      </p:sp>
      <p:sp>
        <p:nvSpPr>
          <p:cNvPr name="Freeform 5" id="5"/>
          <p:cNvSpPr/>
          <p:nvPr/>
        </p:nvSpPr>
        <p:spPr>
          <a:xfrm flipH="false" flipV="false" rot="0">
            <a:off x="1036211" y="7146968"/>
            <a:ext cx="8107789" cy="2917009"/>
          </a:xfrm>
          <a:custGeom>
            <a:avLst/>
            <a:gdLst/>
            <a:ahLst/>
            <a:cxnLst/>
            <a:rect r="r" b="b" t="t" l="l"/>
            <a:pathLst>
              <a:path h="2917009" w="8107789">
                <a:moveTo>
                  <a:pt x="0" y="0"/>
                </a:moveTo>
                <a:lnTo>
                  <a:pt x="8107789" y="0"/>
                </a:lnTo>
                <a:lnTo>
                  <a:pt x="8107789" y="2917009"/>
                </a:lnTo>
                <a:lnTo>
                  <a:pt x="0" y="2917009"/>
                </a:lnTo>
                <a:lnTo>
                  <a:pt x="0" y="0"/>
                </a:lnTo>
                <a:close/>
              </a:path>
            </a:pathLst>
          </a:custGeom>
          <a:blipFill>
            <a:blip r:embed="rId4"/>
            <a:stretch>
              <a:fillRect l="0" t="0" r="0" b="0"/>
            </a:stretch>
          </a:blipFill>
        </p:spPr>
      </p:sp>
      <p:sp>
        <p:nvSpPr>
          <p:cNvPr name="TextBox 6" id="6"/>
          <p:cNvSpPr txBox="true"/>
          <p:nvPr/>
        </p:nvSpPr>
        <p:spPr>
          <a:xfrm rot="0">
            <a:off x="659696" y="923925"/>
            <a:ext cx="17259300" cy="1908175"/>
          </a:xfrm>
          <a:prstGeom prst="rect">
            <a:avLst/>
          </a:prstGeom>
        </p:spPr>
        <p:txBody>
          <a:bodyPr anchor="t" rtlCol="false" tIns="0" lIns="0" bIns="0" rIns="0">
            <a:spAutoFit/>
          </a:bodyPr>
          <a:lstStyle/>
          <a:p>
            <a:pPr algn="ctr">
              <a:lnSpc>
                <a:spcPts val="7699"/>
              </a:lnSpc>
              <a:spcBef>
                <a:spcPct val="0"/>
              </a:spcBef>
            </a:pPr>
            <a:r>
              <a:rPr lang="en-US" b="true" sz="5499">
                <a:solidFill>
                  <a:srgbClr val="333333"/>
                </a:solidFill>
                <a:latin typeface="Public Sans Bold"/>
                <a:ea typeface="Public Sans Bold"/>
                <a:cs typeface="Public Sans Bold"/>
                <a:sym typeface="Public Sans Bold"/>
              </a:rPr>
              <a:t>Task 4: H</a:t>
            </a:r>
            <a:r>
              <a:rPr lang="en-US" b="true" sz="5499">
                <a:solidFill>
                  <a:srgbClr val="333333"/>
                </a:solidFill>
                <a:latin typeface="Public Sans Bold"/>
                <a:ea typeface="Public Sans Bold"/>
                <a:cs typeface="Public Sans Bold"/>
                <a:sym typeface="Public Sans Bold"/>
              </a:rPr>
              <a:t>ill Climbing Search with Random Restarts</a:t>
            </a:r>
          </a:p>
          <a:p>
            <a:pPr algn="ctr">
              <a:lnSpc>
                <a:spcPts val="769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a:off x="1028700" y="673434"/>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371079" y="2257222"/>
            <a:ext cx="6678480" cy="1811302"/>
          </a:xfrm>
          <a:custGeom>
            <a:avLst/>
            <a:gdLst/>
            <a:ahLst/>
            <a:cxnLst/>
            <a:rect r="r" b="b" t="t" l="l"/>
            <a:pathLst>
              <a:path h="1811302" w="6678480">
                <a:moveTo>
                  <a:pt x="0" y="0"/>
                </a:moveTo>
                <a:lnTo>
                  <a:pt x="6678480" y="0"/>
                </a:lnTo>
                <a:lnTo>
                  <a:pt x="6678480" y="1811301"/>
                </a:lnTo>
                <a:lnTo>
                  <a:pt x="0" y="1811301"/>
                </a:lnTo>
                <a:lnTo>
                  <a:pt x="0" y="0"/>
                </a:lnTo>
                <a:close/>
              </a:path>
            </a:pathLst>
          </a:custGeom>
          <a:blipFill>
            <a:blip r:embed="rId2"/>
            <a:stretch>
              <a:fillRect l="0" t="0" r="0" b="0"/>
            </a:stretch>
          </a:blipFill>
        </p:spPr>
      </p:sp>
      <p:sp>
        <p:nvSpPr>
          <p:cNvPr name="Freeform 4" id="4"/>
          <p:cNvSpPr/>
          <p:nvPr/>
        </p:nvSpPr>
        <p:spPr>
          <a:xfrm flipH="false" flipV="false" rot="0">
            <a:off x="7049559" y="2257222"/>
            <a:ext cx="10994784" cy="7574894"/>
          </a:xfrm>
          <a:custGeom>
            <a:avLst/>
            <a:gdLst/>
            <a:ahLst/>
            <a:cxnLst/>
            <a:rect r="r" b="b" t="t" l="l"/>
            <a:pathLst>
              <a:path h="7574894" w="10994784">
                <a:moveTo>
                  <a:pt x="0" y="0"/>
                </a:moveTo>
                <a:lnTo>
                  <a:pt x="10994783" y="0"/>
                </a:lnTo>
                <a:lnTo>
                  <a:pt x="10994783" y="7574894"/>
                </a:lnTo>
                <a:lnTo>
                  <a:pt x="0" y="7574894"/>
                </a:lnTo>
                <a:lnTo>
                  <a:pt x="0" y="0"/>
                </a:lnTo>
                <a:close/>
              </a:path>
            </a:pathLst>
          </a:custGeom>
          <a:blipFill>
            <a:blip r:embed="rId3"/>
            <a:stretch>
              <a:fillRect l="0" t="0" r="0" b="0"/>
            </a:stretch>
          </a:blipFill>
        </p:spPr>
      </p:sp>
      <p:sp>
        <p:nvSpPr>
          <p:cNvPr name="TextBox 5" id="5"/>
          <p:cNvSpPr txBox="true"/>
          <p:nvPr/>
        </p:nvSpPr>
        <p:spPr>
          <a:xfrm rot="0">
            <a:off x="371079" y="568659"/>
            <a:ext cx="17259300" cy="1908175"/>
          </a:xfrm>
          <a:prstGeom prst="rect">
            <a:avLst/>
          </a:prstGeom>
        </p:spPr>
        <p:txBody>
          <a:bodyPr anchor="t" rtlCol="false" tIns="0" lIns="0" bIns="0" rIns="0">
            <a:spAutoFit/>
          </a:bodyPr>
          <a:lstStyle/>
          <a:p>
            <a:pPr algn="ctr">
              <a:lnSpc>
                <a:spcPts val="7699"/>
              </a:lnSpc>
              <a:spcBef>
                <a:spcPct val="0"/>
              </a:spcBef>
            </a:pPr>
            <a:r>
              <a:rPr lang="en-US" b="true" sz="5499">
                <a:solidFill>
                  <a:srgbClr val="333333"/>
                </a:solidFill>
                <a:latin typeface="Public Sans Bold"/>
                <a:ea typeface="Public Sans Bold"/>
                <a:cs typeface="Public Sans Bold"/>
                <a:sym typeface="Public Sans Bold"/>
              </a:rPr>
              <a:t>Task 5: S</a:t>
            </a:r>
            <a:r>
              <a:rPr lang="en-US" b="true" sz="5499">
                <a:solidFill>
                  <a:srgbClr val="333333"/>
                </a:solidFill>
                <a:latin typeface="Public Sans Bold"/>
                <a:ea typeface="Public Sans Bold"/>
                <a:cs typeface="Public Sans Bold"/>
                <a:sym typeface="Public Sans Bold"/>
              </a:rPr>
              <a:t>imulated Annealing</a:t>
            </a:r>
          </a:p>
          <a:p>
            <a:pPr algn="ctr">
              <a:lnSpc>
                <a:spcPts val="769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a:off x="1028700" y="673434"/>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1028700" y="1575135"/>
            <a:ext cx="16452507" cy="4524439"/>
          </a:xfrm>
          <a:custGeom>
            <a:avLst/>
            <a:gdLst/>
            <a:ahLst/>
            <a:cxnLst/>
            <a:rect r="r" b="b" t="t" l="l"/>
            <a:pathLst>
              <a:path h="4524439" w="16452507">
                <a:moveTo>
                  <a:pt x="0" y="0"/>
                </a:moveTo>
                <a:lnTo>
                  <a:pt x="16452507" y="0"/>
                </a:lnTo>
                <a:lnTo>
                  <a:pt x="16452507" y="4524439"/>
                </a:lnTo>
                <a:lnTo>
                  <a:pt x="0" y="4524439"/>
                </a:lnTo>
                <a:lnTo>
                  <a:pt x="0" y="0"/>
                </a:lnTo>
                <a:close/>
              </a:path>
            </a:pathLst>
          </a:custGeom>
          <a:blipFill>
            <a:blip r:embed="rId2"/>
            <a:stretch>
              <a:fillRect l="0" t="0" r="0" b="0"/>
            </a:stretch>
          </a:blipFill>
        </p:spPr>
      </p:sp>
      <p:sp>
        <p:nvSpPr>
          <p:cNvPr name="TextBox 4" id="4"/>
          <p:cNvSpPr txBox="true"/>
          <p:nvPr/>
        </p:nvSpPr>
        <p:spPr>
          <a:xfrm rot="0">
            <a:off x="371079" y="568659"/>
            <a:ext cx="17259300" cy="1908175"/>
          </a:xfrm>
          <a:prstGeom prst="rect">
            <a:avLst/>
          </a:prstGeom>
        </p:spPr>
        <p:txBody>
          <a:bodyPr anchor="t" rtlCol="false" tIns="0" lIns="0" bIns="0" rIns="0">
            <a:spAutoFit/>
          </a:bodyPr>
          <a:lstStyle/>
          <a:p>
            <a:pPr algn="ctr">
              <a:lnSpc>
                <a:spcPts val="7699"/>
              </a:lnSpc>
              <a:spcBef>
                <a:spcPct val="0"/>
              </a:spcBef>
            </a:pPr>
            <a:r>
              <a:rPr lang="en-US" b="true" sz="5499">
                <a:solidFill>
                  <a:srgbClr val="333333"/>
                </a:solidFill>
                <a:latin typeface="Public Sans Bold"/>
                <a:ea typeface="Public Sans Bold"/>
                <a:cs typeface="Public Sans Bold"/>
                <a:sym typeface="Public Sans Bold"/>
              </a:rPr>
              <a:t>Task 6: Algor</a:t>
            </a:r>
            <a:r>
              <a:rPr lang="en-US" b="true" sz="5499">
                <a:solidFill>
                  <a:srgbClr val="333333"/>
                </a:solidFill>
                <a:latin typeface="Public Sans Bold"/>
                <a:ea typeface="Public Sans Bold"/>
                <a:cs typeface="Public Sans Bold"/>
                <a:sym typeface="Public Sans Bold"/>
              </a:rPr>
              <a:t>ithm Behavior Analysis</a:t>
            </a:r>
          </a:p>
          <a:p>
            <a:pPr algn="ctr">
              <a:lnSpc>
                <a:spcPts val="769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a:off x="1028700" y="673434"/>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3924477" y="2122024"/>
            <a:ext cx="10152503" cy="8164976"/>
          </a:xfrm>
          <a:custGeom>
            <a:avLst/>
            <a:gdLst/>
            <a:ahLst/>
            <a:cxnLst/>
            <a:rect r="r" b="b" t="t" l="l"/>
            <a:pathLst>
              <a:path h="8164976" w="10152503">
                <a:moveTo>
                  <a:pt x="0" y="0"/>
                </a:moveTo>
                <a:lnTo>
                  <a:pt x="10152503" y="0"/>
                </a:lnTo>
                <a:lnTo>
                  <a:pt x="10152503" y="8164976"/>
                </a:lnTo>
                <a:lnTo>
                  <a:pt x="0" y="8164976"/>
                </a:lnTo>
                <a:lnTo>
                  <a:pt x="0" y="0"/>
                </a:lnTo>
                <a:close/>
              </a:path>
            </a:pathLst>
          </a:custGeom>
          <a:blipFill>
            <a:blip r:embed="rId2"/>
            <a:stretch>
              <a:fillRect l="0" t="0" r="0" b="0"/>
            </a:stretch>
          </a:blipFill>
        </p:spPr>
      </p:sp>
      <p:sp>
        <p:nvSpPr>
          <p:cNvPr name="TextBox 4" id="4"/>
          <p:cNvSpPr txBox="true"/>
          <p:nvPr/>
        </p:nvSpPr>
        <p:spPr>
          <a:xfrm rot="0">
            <a:off x="371079" y="568659"/>
            <a:ext cx="17259300" cy="1908175"/>
          </a:xfrm>
          <a:prstGeom prst="rect">
            <a:avLst/>
          </a:prstGeom>
        </p:spPr>
        <p:txBody>
          <a:bodyPr anchor="t" rtlCol="false" tIns="0" lIns="0" bIns="0" rIns="0">
            <a:spAutoFit/>
          </a:bodyPr>
          <a:lstStyle/>
          <a:p>
            <a:pPr algn="ctr">
              <a:lnSpc>
                <a:spcPts val="7699"/>
              </a:lnSpc>
              <a:spcBef>
                <a:spcPct val="0"/>
              </a:spcBef>
            </a:pPr>
            <a:r>
              <a:rPr lang="en-US" b="true" sz="5499">
                <a:solidFill>
                  <a:srgbClr val="333333"/>
                </a:solidFill>
                <a:latin typeface="Public Sans Bold"/>
                <a:ea typeface="Public Sans Bold"/>
                <a:cs typeface="Public Sans Bold"/>
                <a:sym typeface="Public Sans Bold"/>
              </a:rPr>
              <a:t>Algor</a:t>
            </a:r>
            <a:r>
              <a:rPr lang="en-US" b="true" sz="5499">
                <a:solidFill>
                  <a:srgbClr val="333333"/>
                </a:solidFill>
                <a:latin typeface="Public Sans Bold"/>
                <a:ea typeface="Public Sans Bold"/>
                <a:cs typeface="Public Sans Bold"/>
                <a:sym typeface="Public Sans Bold"/>
              </a:rPr>
              <a:t>ithm Convergence</a:t>
            </a:r>
          </a:p>
          <a:p>
            <a:pPr algn="ctr">
              <a:lnSpc>
                <a:spcPts val="769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a:off x="1028700" y="673434"/>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371079" y="1933248"/>
            <a:ext cx="10600519" cy="8353752"/>
          </a:xfrm>
          <a:custGeom>
            <a:avLst/>
            <a:gdLst/>
            <a:ahLst/>
            <a:cxnLst/>
            <a:rect r="r" b="b" t="t" l="l"/>
            <a:pathLst>
              <a:path h="8353752" w="10600519">
                <a:moveTo>
                  <a:pt x="0" y="0"/>
                </a:moveTo>
                <a:lnTo>
                  <a:pt x="10600519" y="0"/>
                </a:lnTo>
                <a:lnTo>
                  <a:pt x="10600519" y="8353752"/>
                </a:lnTo>
                <a:lnTo>
                  <a:pt x="0" y="8353752"/>
                </a:lnTo>
                <a:lnTo>
                  <a:pt x="0" y="0"/>
                </a:lnTo>
                <a:close/>
              </a:path>
            </a:pathLst>
          </a:custGeom>
          <a:blipFill>
            <a:blip r:embed="rId2"/>
            <a:stretch>
              <a:fillRect l="0" t="0" r="0" b="0"/>
            </a:stretch>
          </a:blipFill>
        </p:spPr>
      </p:sp>
      <p:sp>
        <p:nvSpPr>
          <p:cNvPr name="Freeform 4" id="4"/>
          <p:cNvSpPr/>
          <p:nvPr/>
        </p:nvSpPr>
        <p:spPr>
          <a:xfrm flipH="false" flipV="false" rot="0">
            <a:off x="11301446" y="5568900"/>
            <a:ext cx="6782424" cy="1082447"/>
          </a:xfrm>
          <a:custGeom>
            <a:avLst/>
            <a:gdLst/>
            <a:ahLst/>
            <a:cxnLst/>
            <a:rect r="r" b="b" t="t" l="l"/>
            <a:pathLst>
              <a:path h="1082447" w="6782424">
                <a:moveTo>
                  <a:pt x="0" y="0"/>
                </a:moveTo>
                <a:lnTo>
                  <a:pt x="6782424" y="0"/>
                </a:lnTo>
                <a:lnTo>
                  <a:pt x="6782424" y="1082448"/>
                </a:lnTo>
                <a:lnTo>
                  <a:pt x="0" y="1082448"/>
                </a:lnTo>
                <a:lnTo>
                  <a:pt x="0" y="0"/>
                </a:lnTo>
                <a:close/>
              </a:path>
            </a:pathLst>
          </a:custGeom>
          <a:blipFill>
            <a:blip r:embed="rId3"/>
            <a:stretch>
              <a:fillRect l="0" t="0" r="0" b="0"/>
            </a:stretch>
          </a:blipFill>
        </p:spPr>
      </p:sp>
      <p:sp>
        <p:nvSpPr>
          <p:cNvPr name="TextBox 5" id="5"/>
          <p:cNvSpPr txBox="true"/>
          <p:nvPr/>
        </p:nvSpPr>
        <p:spPr>
          <a:xfrm rot="0">
            <a:off x="371079" y="568659"/>
            <a:ext cx="17259300" cy="1908175"/>
          </a:xfrm>
          <a:prstGeom prst="rect">
            <a:avLst/>
          </a:prstGeom>
        </p:spPr>
        <p:txBody>
          <a:bodyPr anchor="t" rtlCol="false" tIns="0" lIns="0" bIns="0" rIns="0">
            <a:spAutoFit/>
          </a:bodyPr>
          <a:lstStyle/>
          <a:p>
            <a:pPr algn="ctr">
              <a:lnSpc>
                <a:spcPts val="7699"/>
              </a:lnSpc>
              <a:spcBef>
                <a:spcPct val="0"/>
              </a:spcBef>
            </a:pPr>
            <a:r>
              <a:rPr lang="en-US" b="true" sz="5499">
                <a:solidFill>
                  <a:srgbClr val="333333"/>
                </a:solidFill>
                <a:latin typeface="Public Sans Bold"/>
                <a:ea typeface="Public Sans Bold"/>
                <a:cs typeface="Public Sans Bold"/>
                <a:sym typeface="Public Sans Bold"/>
              </a:rPr>
              <a:t>Proble</a:t>
            </a:r>
            <a:r>
              <a:rPr lang="en-US" b="true" sz="5499">
                <a:solidFill>
                  <a:srgbClr val="333333"/>
                </a:solidFill>
                <a:latin typeface="Public Sans Bold"/>
                <a:ea typeface="Public Sans Bold"/>
                <a:cs typeface="Public Sans Bold"/>
                <a:sym typeface="Public Sans Bold"/>
              </a:rPr>
              <a:t>m Size Scalability</a:t>
            </a:r>
          </a:p>
          <a:p>
            <a:pPr algn="ctr">
              <a:lnSpc>
                <a:spcPts val="769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1233983" y="2132768"/>
            <a:ext cx="14965512" cy="3857625"/>
          </a:xfrm>
          <a:prstGeom prst="rect">
            <a:avLst/>
          </a:prstGeom>
        </p:spPr>
        <p:txBody>
          <a:bodyPr anchor="t" rtlCol="false" tIns="0" lIns="0" bIns="0" rIns="0">
            <a:spAutoFit/>
          </a:bodyPr>
          <a:lstStyle/>
          <a:p>
            <a:pPr algn="ctr">
              <a:lnSpc>
                <a:spcPts val="10199"/>
              </a:lnSpc>
            </a:pPr>
            <a:r>
              <a:rPr lang="en-US" b="true" sz="8499" i="true" spc="-416">
                <a:solidFill>
                  <a:srgbClr val="333333"/>
                </a:solidFill>
                <a:latin typeface="Noto Serif Display Semi-Bold Italics"/>
                <a:ea typeface="Noto Serif Display Semi-Bold Italics"/>
                <a:cs typeface="Noto Serif Display Semi-Bold Italics"/>
                <a:sym typeface="Noto Serif Display Semi-Bold Italics"/>
              </a:rPr>
              <a:t>Phần II: Travelling Salesman Problem – TSP)</a:t>
            </a:r>
          </a:p>
          <a:p>
            <a:pPr algn="ctr">
              <a:lnSpc>
                <a:spcPts val="10199"/>
              </a:lnSpc>
            </a:pP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1028700" y="2008943"/>
            <a:ext cx="4257621" cy="1073709"/>
          </a:xfrm>
          <a:prstGeom prst="rect">
            <a:avLst/>
          </a:prstGeom>
        </p:spPr>
        <p:txBody>
          <a:bodyPr anchor="t" rtlCol="false" tIns="0" lIns="0" bIns="0" rIns="0">
            <a:spAutoFit/>
          </a:bodyPr>
          <a:lstStyle/>
          <a:p>
            <a:pPr algn="ctr">
              <a:lnSpc>
                <a:spcPts val="8873"/>
              </a:lnSpc>
              <a:spcBef>
                <a:spcPct val="0"/>
              </a:spcBef>
            </a:pPr>
            <a:r>
              <a:rPr lang="en-US" b="true" sz="6338">
                <a:solidFill>
                  <a:srgbClr val="333333"/>
                </a:solidFill>
                <a:latin typeface="Public Sans Bold"/>
                <a:ea typeface="Public Sans Bold"/>
                <a:cs typeface="Public Sans Bold"/>
                <a:sym typeface="Public Sans Bold"/>
              </a:rPr>
              <a:t>1.</a:t>
            </a:r>
            <a:r>
              <a:rPr lang="en-US" b="true" sz="6338">
                <a:solidFill>
                  <a:srgbClr val="333333"/>
                </a:solidFill>
                <a:latin typeface="Public Sans Bold"/>
                <a:ea typeface="Public Sans Bold"/>
                <a:cs typeface="Public Sans Bold"/>
                <a:sym typeface="Public Sans Bold"/>
              </a:rPr>
              <a:t>Giới thiệu</a:t>
            </a:r>
          </a:p>
        </p:txBody>
      </p:sp>
      <p:sp>
        <p:nvSpPr>
          <p:cNvPr name="TextBox 6" id="6"/>
          <p:cNvSpPr txBox="true"/>
          <p:nvPr/>
        </p:nvSpPr>
        <p:spPr>
          <a:xfrm rot="0">
            <a:off x="1028700" y="3443677"/>
            <a:ext cx="16966341" cy="2940149"/>
          </a:xfrm>
          <a:prstGeom prst="rect">
            <a:avLst/>
          </a:prstGeom>
        </p:spPr>
        <p:txBody>
          <a:bodyPr anchor="t" rtlCol="false" tIns="0" lIns="0" bIns="0" rIns="0">
            <a:spAutoFit/>
          </a:bodyPr>
          <a:lstStyle/>
          <a:p>
            <a:pPr algn="l">
              <a:lnSpc>
                <a:spcPts val="3920"/>
              </a:lnSpc>
              <a:spcBef>
                <a:spcPct val="0"/>
              </a:spcBef>
            </a:pPr>
            <a:r>
              <a:rPr lang="en-US" b="true" sz="2800">
                <a:solidFill>
                  <a:srgbClr val="333333"/>
                </a:solidFill>
                <a:latin typeface="Public Sans Bold"/>
                <a:ea typeface="Public Sans Bold"/>
                <a:cs typeface="Public Sans Bold"/>
                <a:sym typeface="Public Sans Bold"/>
              </a:rPr>
              <a:t>Bài toán TSP (Travelling Salesman Problem) là bài toán tối ưu nổi tiếng.</a:t>
            </a:r>
          </a:p>
          <a:p>
            <a:pPr algn="l">
              <a:lnSpc>
                <a:spcPts val="3920"/>
              </a:lnSpc>
              <a:spcBef>
                <a:spcPct val="0"/>
              </a:spcBef>
            </a:pPr>
            <a:r>
              <a:rPr lang="en-US" b="true" sz="2800">
                <a:solidFill>
                  <a:srgbClr val="333333"/>
                </a:solidFill>
                <a:latin typeface="Public Sans Bold"/>
                <a:ea typeface="Public Sans Bold"/>
                <a:cs typeface="Public Sans Bold"/>
                <a:sym typeface="Public Sans Bold"/>
              </a:rPr>
              <a:t>Mục tiêu: Tìm đường đi ngắn nhất đi qua tất cả các thành phố đúng một lần và quay về điểm xuất phát.</a:t>
            </a:r>
          </a:p>
          <a:p>
            <a:pPr algn="l">
              <a:lnSpc>
                <a:spcPts val="3920"/>
              </a:lnSpc>
              <a:spcBef>
                <a:spcPct val="0"/>
              </a:spcBef>
            </a:pPr>
            <a:r>
              <a:rPr lang="en-US" b="true" sz="2800">
                <a:solidFill>
                  <a:srgbClr val="333333"/>
                </a:solidFill>
                <a:latin typeface="Public Sans Bold"/>
                <a:ea typeface="Public Sans Bold"/>
                <a:cs typeface="Public Sans Bold"/>
                <a:sym typeface="Public Sans Bold"/>
              </a:rPr>
              <a:t>Đặc điểm:</a:t>
            </a:r>
          </a:p>
          <a:p>
            <a:pPr algn="l">
              <a:lnSpc>
                <a:spcPts val="3920"/>
              </a:lnSpc>
              <a:spcBef>
                <a:spcPct val="0"/>
              </a:spcBef>
            </a:pPr>
            <a:r>
              <a:rPr lang="en-US" b="true" sz="2800">
                <a:solidFill>
                  <a:srgbClr val="333333"/>
                </a:solidFill>
                <a:latin typeface="Public Sans Bold"/>
                <a:ea typeface="Public Sans Bold"/>
                <a:cs typeface="Public Sans Bold"/>
                <a:sym typeface="Public Sans Bold"/>
              </a:rPr>
              <a:t>Là bài toán NP-khó.</a:t>
            </a:r>
          </a:p>
          <a:p>
            <a:pPr algn="l">
              <a:lnSpc>
                <a:spcPts val="3920"/>
              </a:lnSpc>
              <a:spcBef>
                <a:spcPct val="0"/>
              </a:spcBef>
            </a:pPr>
            <a:r>
              <a:rPr lang="en-US" b="true" sz="2800">
                <a:solidFill>
                  <a:srgbClr val="333333"/>
                </a:solidFill>
                <a:latin typeface="Public Sans Bold"/>
                <a:ea typeface="Public Sans Bold"/>
                <a:cs typeface="Public Sans Bold"/>
                <a:sym typeface="Public Sans Bold"/>
              </a:rPr>
              <a:t>Không khả thi để tìm nghiệm tối ưu với số lượng thành phố lớn.</a:t>
            </a:r>
          </a:p>
          <a:p>
            <a:pPr algn="l">
              <a:lnSpc>
                <a:spcPts val="3920"/>
              </a:lnSpc>
              <a:spcBef>
                <a:spcPct val="0"/>
              </a:spcBef>
            </a:pPr>
            <a:r>
              <a:rPr lang="en-US" b="true" sz="2800">
                <a:solidFill>
                  <a:srgbClr val="333333"/>
                </a:solidFill>
                <a:latin typeface="Public Sans Bold"/>
                <a:ea typeface="Public Sans Bold"/>
                <a:cs typeface="Public Sans Bold"/>
                <a:sym typeface="Public Sans Bold"/>
              </a:rPr>
              <a:t>Cần dùng thuật toán tìm kiếm cục bộ để tìm lời giải gần tối ưu.</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1028700" y="2268784"/>
            <a:ext cx="8115300" cy="1017062"/>
          </a:xfrm>
          <a:prstGeom prst="rect">
            <a:avLst/>
          </a:prstGeom>
        </p:spPr>
        <p:txBody>
          <a:bodyPr anchor="t" rtlCol="false" tIns="0" lIns="0" bIns="0" rIns="0">
            <a:spAutoFit/>
          </a:bodyPr>
          <a:lstStyle/>
          <a:p>
            <a:pPr algn="ctr">
              <a:lnSpc>
                <a:spcPts val="8344"/>
              </a:lnSpc>
              <a:spcBef>
                <a:spcPct val="0"/>
              </a:spcBef>
            </a:pPr>
            <a:r>
              <a:rPr lang="en-US" b="true" sz="5960">
                <a:solidFill>
                  <a:srgbClr val="333333"/>
                </a:solidFill>
                <a:latin typeface="Public Sans Bold"/>
                <a:ea typeface="Public Sans Bold"/>
                <a:cs typeface="Public Sans Bold"/>
                <a:sym typeface="Public Sans Bold"/>
              </a:rPr>
              <a:t>2. </a:t>
            </a:r>
            <a:r>
              <a:rPr lang="en-US" b="true" sz="5960">
                <a:solidFill>
                  <a:srgbClr val="333333"/>
                </a:solidFill>
                <a:latin typeface="Public Sans Bold"/>
                <a:ea typeface="Public Sans Bold"/>
                <a:cs typeface="Public Sans Bold"/>
                <a:sym typeface="Public Sans Bold"/>
              </a:rPr>
              <a:t>Mục tiêu nghiên cứu</a:t>
            </a:r>
          </a:p>
        </p:txBody>
      </p:sp>
      <p:sp>
        <p:nvSpPr>
          <p:cNvPr name="TextBox 6" id="6"/>
          <p:cNvSpPr txBox="true"/>
          <p:nvPr/>
        </p:nvSpPr>
        <p:spPr>
          <a:xfrm rot="0">
            <a:off x="1758022" y="3828771"/>
            <a:ext cx="11538551" cy="5345378"/>
          </a:xfrm>
          <a:prstGeom prst="rect">
            <a:avLst/>
          </a:prstGeom>
        </p:spPr>
        <p:txBody>
          <a:bodyPr anchor="t" rtlCol="false" tIns="0" lIns="0" bIns="0" rIns="0">
            <a:spAutoFit/>
          </a:bodyPr>
          <a:lstStyle/>
          <a:p>
            <a:pPr algn="l">
              <a:lnSpc>
                <a:spcPts val="4278"/>
              </a:lnSpc>
              <a:spcBef>
                <a:spcPct val="0"/>
              </a:spcBef>
            </a:pPr>
            <a:r>
              <a:rPr lang="en-US" b="true" sz="3056">
                <a:solidFill>
                  <a:srgbClr val="333333"/>
                </a:solidFill>
                <a:latin typeface="Public Sans Bold"/>
                <a:ea typeface="Public Sans Bold"/>
                <a:cs typeface="Public Sans Bold"/>
                <a:sym typeface="Public Sans Bold"/>
              </a:rPr>
              <a:t>Cài đặt và so sánh hiệu suất của các thuật toán tìm kiếm cục bộ:</a:t>
            </a:r>
          </a:p>
          <a:p>
            <a:pPr algn="l">
              <a:lnSpc>
                <a:spcPts val="4278"/>
              </a:lnSpc>
              <a:spcBef>
                <a:spcPct val="0"/>
              </a:spcBef>
            </a:pPr>
            <a:r>
              <a:rPr lang="en-US" b="true" sz="3056">
                <a:solidFill>
                  <a:srgbClr val="333333"/>
                </a:solidFill>
                <a:latin typeface="Public Sans Bold"/>
                <a:ea typeface="Public Sans Bold"/>
                <a:cs typeface="Public Sans Bold"/>
                <a:sym typeface="Public Sans Bold"/>
              </a:rPr>
              <a:t>Steepest-Ascent Hill Climbing</a:t>
            </a:r>
          </a:p>
          <a:p>
            <a:pPr algn="l">
              <a:lnSpc>
                <a:spcPts val="4278"/>
              </a:lnSpc>
              <a:spcBef>
                <a:spcPct val="0"/>
              </a:spcBef>
            </a:pPr>
            <a:r>
              <a:rPr lang="en-US" b="true" sz="3056">
                <a:solidFill>
                  <a:srgbClr val="333333"/>
                </a:solidFill>
                <a:latin typeface="Public Sans Bold"/>
                <a:ea typeface="Public Sans Bold"/>
                <a:cs typeface="Public Sans Bold"/>
                <a:sym typeface="Public Sans Bold"/>
              </a:rPr>
              <a:t>Steepest Hill Climb with Random Restart</a:t>
            </a:r>
          </a:p>
          <a:p>
            <a:pPr algn="l">
              <a:lnSpc>
                <a:spcPts val="4278"/>
              </a:lnSpc>
              <a:spcBef>
                <a:spcPct val="0"/>
              </a:spcBef>
            </a:pPr>
            <a:r>
              <a:rPr lang="en-US" b="true" sz="3056">
                <a:solidFill>
                  <a:srgbClr val="333333"/>
                </a:solidFill>
                <a:latin typeface="Public Sans Bold"/>
                <a:ea typeface="Public Sans Bold"/>
                <a:cs typeface="Public Sans Bold"/>
                <a:sym typeface="Public Sans Bold"/>
              </a:rPr>
              <a:t>Stochastic Hill Climbing</a:t>
            </a:r>
          </a:p>
          <a:p>
            <a:pPr algn="l">
              <a:lnSpc>
                <a:spcPts val="4278"/>
              </a:lnSpc>
              <a:spcBef>
                <a:spcPct val="0"/>
              </a:spcBef>
            </a:pPr>
            <a:r>
              <a:rPr lang="en-US" b="true" sz="3056">
                <a:solidFill>
                  <a:srgbClr val="333333"/>
                </a:solidFill>
                <a:latin typeface="Public Sans Bold"/>
                <a:ea typeface="Public Sans Bold"/>
                <a:cs typeface="Public Sans Bold"/>
                <a:sym typeface="Public Sans Bold"/>
              </a:rPr>
              <a:t>First-Choice Hill Climbing</a:t>
            </a:r>
          </a:p>
          <a:p>
            <a:pPr algn="l">
              <a:lnSpc>
                <a:spcPts val="4278"/>
              </a:lnSpc>
              <a:spcBef>
                <a:spcPct val="0"/>
              </a:spcBef>
            </a:pPr>
            <a:r>
              <a:rPr lang="en-US" b="true" sz="3056">
                <a:solidFill>
                  <a:srgbClr val="333333"/>
                </a:solidFill>
                <a:latin typeface="Public Sans Bold"/>
                <a:ea typeface="Public Sans Bold"/>
                <a:cs typeface="Public Sans Bold"/>
                <a:sym typeface="Public Sans Bold"/>
              </a:rPr>
              <a:t>Simulated Annealing</a:t>
            </a:r>
          </a:p>
          <a:p>
            <a:pPr algn="l">
              <a:lnSpc>
                <a:spcPts val="4278"/>
              </a:lnSpc>
              <a:spcBef>
                <a:spcPct val="0"/>
              </a:spcBef>
            </a:pPr>
            <a:r>
              <a:rPr lang="en-US" b="true" sz="3056">
                <a:solidFill>
                  <a:srgbClr val="333333"/>
                </a:solidFill>
                <a:latin typeface="Public Sans Bold"/>
                <a:ea typeface="Public Sans Bold"/>
                <a:cs typeface="Public Sans Bold"/>
                <a:sym typeface="Public Sans Bold"/>
              </a:rPr>
              <a:t>So sánh theo:</a:t>
            </a:r>
          </a:p>
          <a:p>
            <a:pPr algn="l">
              <a:lnSpc>
                <a:spcPts val="4278"/>
              </a:lnSpc>
              <a:spcBef>
                <a:spcPct val="0"/>
              </a:spcBef>
            </a:pPr>
            <a:r>
              <a:rPr lang="en-US" b="true" sz="3056">
                <a:solidFill>
                  <a:srgbClr val="333333"/>
                </a:solidFill>
                <a:latin typeface="Public Sans Bold"/>
                <a:ea typeface="Public Sans Bold"/>
                <a:cs typeface="Public Sans Bold"/>
                <a:sym typeface="Public Sans Bold"/>
              </a:rPr>
              <a:t>Thời gian chạy</a:t>
            </a:r>
          </a:p>
          <a:p>
            <a:pPr algn="l">
              <a:lnSpc>
                <a:spcPts val="4278"/>
              </a:lnSpc>
              <a:spcBef>
                <a:spcPct val="0"/>
              </a:spcBef>
            </a:pPr>
            <a:r>
              <a:rPr lang="en-US" b="true" sz="3056">
                <a:solidFill>
                  <a:srgbClr val="333333"/>
                </a:solidFill>
                <a:latin typeface="Public Sans Bold"/>
                <a:ea typeface="Public Sans Bold"/>
                <a:cs typeface="Public Sans Bold"/>
                <a:sym typeface="Public Sans Bold"/>
              </a:rPr>
              <a:t>Chất lượng nghiệm (độ dài tour)</a:t>
            </a:r>
          </a:p>
          <a:p>
            <a:pPr algn="l">
              <a:lnSpc>
                <a:spcPts val="4278"/>
              </a:lnSpc>
              <a:spcBef>
                <a:spcPct val="0"/>
              </a:spcBef>
            </a:pPr>
            <a:r>
              <a:rPr lang="en-US" b="true" sz="3056">
                <a:solidFill>
                  <a:srgbClr val="333333"/>
                </a:solidFill>
                <a:latin typeface="Public Sans Bold"/>
                <a:ea typeface="Public Sans Bold"/>
                <a:cs typeface="Public Sans Bold"/>
                <a:sym typeface="Public Sans Bold"/>
              </a:rPr>
              <a:t>Khả năng mở rộng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3592295"/>
            <a:ext cx="14813125" cy="2242959"/>
          </a:xfrm>
          <a:prstGeom prst="rect">
            <a:avLst/>
          </a:prstGeom>
        </p:spPr>
        <p:txBody>
          <a:bodyPr anchor="t" rtlCol="false" tIns="0" lIns="0" bIns="0" rIns="0">
            <a:spAutoFit/>
          </a:bodyPr>
          <a:lstStyle/>
          <a:p>
            <a:pPr algn="l">
              <a:lnSpc>
                <a:spcPts val="4463"/>
              </a:lnSpc>
              <a:spcBef>
                <a:spcPct val="0"/>
              </a:spcBef>
            </a:pPr>
            <a:r>
              <a:rPr lang="en-US" b="true" sz="3188">
                <a:solidFill>
                  <a:srgbClr val="333333"/>
                </a:solidFill>
                <a:latin typeface="Public Sans Bold"/>
                <a:ea typeface="Public Sans Bold"/>
                <a:cs typeface="Public Sans Bold"/>
                <a:sym typeface="Public Sans Bold"/>
              </a:rPr>
              <a:t>Giả sử có n thành phố với ma trận khoảng cách D=[dij], trong đó dij​ là khoảng cách giữa thành phố i và j.</a:t>
            </a:r>
          </a:p>
          <a:p>
            <a:pPr algn="l">
              <a:lnSpc>
                <a:spcPts val="4463"/>
              </a:lnSpc>
              <a:spcBef>
                <a:spcPct val="0"/>
              </a:spcBef>
            </a:pPr>
            <a:r>
              <a:rPr lang="en-US" b="true" sz="3188">
                <a:solidFill>
                  <a:srgbClr val="333333"/>
                </a:solidFill>
                <a:latin typeface="Public Sans Bold"/>
                <a:ea typeface="Public Sans Bold"/>
                <a:cs typeface="Public Sans Bold"/>
                <a:sym typeface="Public Sans Bold"/>
              </a:rPr>
              <a:t> Nhiệm vụ là tìm một hoán vị π=[π1,π2,…,πn] sao cho tổng chiều dài hành trình:</a:t>
            </a:r>
          </a:p>
        </p:txBody>
      </p:sp>
      <p:sp>
        <p:nvSpPr>
          <p:cNvPr name="Freeform 4" id="4"/>
          <p:cNvSpPr/>
          <p:nvPr/>
        </p:nvSpPr>
        <p:spPr>
          <a:xfrm flipH="false" flipV="false" rot="0">
            <a:off x="2626857" y="5524924"/>
            <a:ext cx="8904452" cy="2368205"/>
          </a:xfrm>
          <a:custGeom>
            <a:avLst/>
            <a:gdLst/>
            <a:ahLst/>
            <a:cxnLst/>
            <a:rect r="r" b="b" t="t" l="l"/>
            <a:pathLst>
              <a:path h="2368205" w="8904452">
                <a:moveTo>
                  <a:pt x="0" y="0"/>
                </a:moveTo>
                <a:lnTo>
                  <a:pt x="8904452" y="0"/>
                </a:lnTo>
                <a:lnTo>
                  <a:pt x="8904452" y="2368206"/>
                </a:lnTo>
                <a:lnTo>
                  <a:pt x="0" y="2368206"/>
                </a:lnTo>
                <a:lnTo>
                  <a:pt x="0" y="0"/>
                </a:lnTo>
                <a:close/>
              </a:path>
            </a:pathLst>
          </a:custGeom>
          <a:blipFill>
            <a:blip r:embed="rId2"/>
            <a:stretch>
              <a:fillRect l="0" t="0" r="0" b="0"/>
            </a:stretch>
          </a:blipFill>
        </p:spPr>
      </p:sp>
      <p:sp>
        <p:nvSpPr>
          <p:cNvPr name="TextBox 5" id="5"/>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6" id="6"/>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7" id="7"/>
          <p:cNvSpPr txBox="true"/>
          <p:nvPr/>
        </p:nvSpPr>
        <p:spPr>
          <a:xfrm rot="0">
            <a:off x="1028700" y="2301715"/>
            <a:ext cx="7309829" cy="1004831"/>
          </a:xfrm>
          <a:prstGeom prst="rect">
            <a:avLst/>
          </a:prstGeom>
        </p:spPr>
        <p:txBody>
          <a:bodyPr anchor="t" rtlCol="false" tIns="0" lIns="0" bIns="0" rIns="0">
            <a:spAutoFit/>
          </a:bodyPr>
          <a:lstStyle/>
          <a:p>
            <a:pPr algn="ctr">
              <a:lnSpc>
                <a:spcPts val="8230"/>
              </a:lnSpc>
              <a:spcBef>
                <a:spcPct val="0"/>
              </a:spcBef>
            </a:pPr>
            <a:r>
              <a:rPr lang="en-US" b="true" sz="5878">
                <a:solidFill>
                  <a:srgbClr val="333333"/>
                </a:solidFill>
                <a:latin typeface="Public Sans Bold"/>
                <a:ea typeface="Public Sans Bold"/>
                <a:cs typeface="Public Sans Bold"/>
                <a:sym typeface="Public Sans Bold"/>
              </a:rPr>
              <a:t>3.</a:t>
            </a:r>
            <a:r>
              <a:rPr lang="en-US" b="true" sz="5878">
                <a:solidFill>
                  <a:srgbClr val="333333"/>
                </a:solidFill>
                <a:latin typeface="Public Sans Bold"/>
                <a:ea typeface="Public Sans Bold"/>
                <a:cs typeface="Public Sans Bold"/>
                <a:sym typeface="Public Sans Bold"/>
              </a:rPr>
              <a:t>Mô tả bài toán TSP</a:t>
            </a:r>
          </a:p>
        </p:txBody>
      </p:sp>
      <p:sp>
        <p:nvSpPr>
          <p:cNvPr name="TextBox 8" id="8"/>
          <p:cNvSpPr txBox="true"/>
          <p:nvPr/>
        </p:nvSpPr>
        <p:spPr>
          <a:xfrm rot="0">
            <a:off x="1028700" y="8369300"/>
            <a:ext cx="2129202" cy="1068600"/>
          </a:xfrm>
          <a:prstGeom prst="rect">
            <a:avLst/>
          </a:prstGeom>
        </p:spPr>
        <p:txBody>
          <a:bodyPr anchor="t" rtlCol="false" tIns="0" lIns="0" bIns="0" rIns="0">
            <a:spAutoFit/>
          </a:bodyPr>
          <a:lstStyle/>
          <a:p>
            <a:pPr algn="ctr">
              <a:lnSpc>
                <a:spcPts val="4273"/>
              </a:lnSpc>
              <a:spcBef>
                <a:spcPct val="0"/>
              </a:spcBef>
            </a:pPr>
            <a:r>
              <a:rPr lang="en-US" b="true" sz="3052">
                <a:solidFill>
                  <a:srgbClr val="333333"/>
                </a:solidFill>
                <a:latin typeface="Public Sans Bold"/>
                <a:ea typeface="Public Sans Bold"/>
                <a:cs typeface="Public Sans Bold"/>
                <a:sym typeface="Public Sans Bold"/>
              </a:rPr>
              <a:t>là nhỏ nhất.</a:t>
            </a:r>
          </a:p>
          <a:p>
            <a:pPr algn="ctr">
              <a:lnSpc>
                <a:spcPts val="4273"/>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1261390" y="3233467"/>
            <a:ext cx="6101396" cy="515942"/>
          </a:xfrm>
          <a:prstGeom prst="rect">
            <a:avLst/>
          </a:prstGeom>
        </p:spPr>
        <p:txBody>
          <a:bodyPr anchor="t" rtlCol="false" tIns="0" lIns="0" bIns="0" rIns="0">
            <a:spAutoFit/>
          </a:bodyPr>
          <a:lstStyle/>
          <a:p>
            <a:pPr algn="ctr">
              <a:lnSpc>
                <a:spcPts val="4197"/>
              </a:lnSpc>
              <a:spcBef>
                <a:spcPct val="0"/>
              </a:spcBef>
            </a:pPr>
            <a:r>
              <a:rPr lang="en-US" b="true" sz="2997">
                <a:solidFill>
                  <a:srgbClr val="333333"/>
                </a:solidFill>
                <a:latin typeface="Public Sans Bold"/>
                <a:ea typeface="Public Sans Bold"/>
                <a:cs typeface="Public Sans Bold"/>
                <a:sym typeface="Public Sans Bold"/>
              </a:rPr>
              <a:t>4.1 </a:t>
            </a:r>
            <a:r>
              <a:rPr lang="en-US" b="true" sz="2997">
                <a:solidFill>
                  <a:srgbClr val="333333"/>
                </a:solidFill>
                <a:latin typeface="Public Sans Bold"/>
                <a:ea typeface="Public Sans Bold"/>
                <a:cs typeface="Public Sans Bold"/>
                <a:sym typeface="Public Sans Bold"/>
              </a:rPr>
              <a:t>Steepest-Ascent Hill Climbing</a:t>
            </a:r>
          </a:p>
        </p:txBody>
      </p:sp>
      <p:sp>
        <p:nvSpPr>
          <p:cNvPr name="TextBox 6" id="6"/>
          <p:cNvSpPr txBox="true"/>
          <p:nvPr/>
        </p:nvSpPr>
        <p:spPr>
          <a:xfrm rot="0">
            <a:off x="1261390" y="2018468"/>
            <a:ext cx="5553351" cy="929249"/>
          </a:xfrm>
          <a:prstGeom prst="rect">
            <a:avLst/>
          </a:prstGeom>
        </p:spPr>
        <p:txBody>
          <a:bodyPr anchor="t" rtlCol="false" tIns="0" lIns="0" bIns="0" rIns="0">
            <a:spAutoFit/>
          </a:bodyPr>
          <a:lstStyle/>
          <a:p>
            <a:pPr algn="ctr">
              <a:lnSpc>
                <a:spcPts val="7613"/>
              </a:lnSpc>
              <a:spcBef>
                <a:spcPct val="0"/>
              </a:spcBef>
            </a:pPr>
            <a:r>
              <a:rPr lang="en-US" b="true" sz="5438">
                <a:solidFill>
                  <a:srgbClr val="333333"/>
                </a:solidFill>
                <a:latin typeface="Public Sans Bold"/>
                <a:ea typeface="Public Sans Bold"/>
                <a:cs typeface="Public Sans Bold"/>
                <a:sym typeface="Public Sans Bold"/>
              </a:rPr>
              <a:t>4.Các Thuật toán</a:t>
            </a:r>
          </a:p>
        </p:txBody>
      </p:sp>
      <p:sp>
        <p:nvSpPr>
          <p:cNvPr name="TextBox 7" id="7"/>
          <p:cNvSpPr txBox="true"/>
          <p:nvPr/>
        </p:nvSpPr>
        <p:spPr>
          <a:xfrm rot="0">
            <a:off x="1261390" y="4425684"/>
            <a:ext cx="13232471" cy="1889489"/>
          </a:xfrm>
          <a:prstGeom prst="rect">
            <a:avLst/>
          </a:prstGeom>
        </p:spPr>
        <p:txBody>
          <a:bodyPr anchor="t" rtlCol="false" tIns="0" lIns="0" bIns="0" rIns="0">
            <a:spAutoFit/>
          </a:bodyPr>
          <a:lstStyle/>
          <a:p>
            <a:pPr algn="l">
              <a:lnSpc>
                <a:spcPts val="3796"/>
              </a:lnSpc>
              <a:spcBef>
                <a:spcPct val="0"/>
              </a:spcBef>
            </a:pPr>
            <a:r>
              <a:rPr lang="en-US" b="true" sz="2712">
                <a:solidFill>
                  <a:srgbClr val="333333"/>
                </a:solidFill>
                <a:latin typeface="Public Sans Bold"/>
                <a:ea typeface="Public Sans Bold"/>
                <a:cs typeface="Public Sans Bold"/>
                <a:sym typeface="Public Sans Bold"/>
              </a:rPr>
              <a:t>Ý tưởng: Duyệt toàn bộ láng giềng (hoán đổi 2 thành phố) → chọn nghiệm tốt nhất.</a:t>
            </a:r>
          </a:p>
          <a:p>
            <a:pPr algn="l">
              <a:lnSpc>
                <a:spcPts val="3796"/>
              </a:lnSpc>
              <a:spcBef>
                <a:spcPct val="0"/>
              </a:spcBef>
            </a:pPr>
            <a:r>
              <a:rPr lang="en-US" b="true" sz="2712">
                <a:solidFill>
                  <a:srgbClr val="333333"/>
                </a:solidFill>
                <a:latin typeface="Public Sans Bold"/>
                <a:ea typeface="Public Sans Bold"/>
                <a:cs typeface="Public Sans Bold"/>
                <a:sym typeface="Public Sans Bold"/>
              </a:rPr>
              <a:t>Dừng lại: Khi không còn cải thiện.</a:t>
            </a:r>
          </a:p>
          <a:p>
            <a:pPr algn="l">
              <a:lnSpc>
                <a:spcPts val="3796"/>
              </a:lnSpc>
              <a:spcBef>
                <a:spcPct val="0"/>
              </a:spcBef>
            </a:pPr>
            <a:r>
              <a:rPr lang="en-US" b="true" sz="2712">
                <a:solidFill>
                  <a:srgbClr val="333333"/>
                </a:solidFill>
                <a:latin typeface="Public Sans Bold"/>
                <a:ea typeface="Public Sans Bold"/>
                <a:cs typeface="Public Sans Bold"/>
                <a:sym typeface="Public Sans Bold"/>
              </a:rPr>
              <a:t>Ưu điểm: Dễ hiểu, hội tụ nhanh.</a:t>
            </a:r>
          </a:p>
          <a:p>
            <a:pPr algn="l">
              <a:lnSpc>
                <a:spcPts val="3796"/>
              </a:lnSpc>
              <a:spcBef>
                <a:spcPct val="0"/>
              </a:spcBef>
            </a:pPr>
            <a:r>
              <a:rPr lang="en-US" b="true" sz="2712">
                <a:solidFill>
                  <a:srgbClr val="333333"/>
                </a:solidFill>
                <a:latin typeface="Public Sans Bold"/>
                <a:ea typeface="Public Sans Bold"/>
                <a:cs typeface="Public Sans Bold"/>
                <a:sym typeface="Public Sans Bold"/>
              </a:rPr>
              <a:t>Nhược điểm: Dễ kẹt ở cực trị địa phương.</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1261390" y="3233467"/>
            <a:ext cx="8421264" cy="533438"/>
          </a:xfrm>
          <a:prstGeom prst="rect">
            <a:avLst/>
          </a:prstGeom>
        </p:spPr>
        <p:txBody>
          <a:bodyPr anchor="t" rtlCol="false" tIns="0" lIns="0" bIns="0" rIns="0">
            <a:spAutoFit/>
          </a:bodyPr>
          <a:lstStyle/>
          <a:p>
            <a:pPr algn="ctr">
              <a:lnSpc>
                <a:spcPts val="4360"/>
              </a:lnSpc>
              <a:spcBef>
                <a:spcPct val="0"/>
              </a:spcBef>
            </a:pPr>
            <a:r>
              <a:rPr lang="en-US" b="true" sz="3114">
                <a:solidFill>
                  <a:srgbClr val="333333"/>
                </a:solidFill>
                <a:latin typeface="Public Sans Bold"/>
                <a:ea typeface="Public Sans Bold"/>
                <a:cs typeface="Public Sans Bold"/>
                <a:sym typeface="Public Sans Bold"/>
              </a:rPr>
              <a:t>4.2 Steepest Hill Climb with Random Restart</a:t>
            </a:r>
          </a:p>
        </p:txBody>
      </p:sp>
      <p:sp>
        <p:nvSpPr>
          <p:cNvPr name="TextBox 6" id="6"/>
          <p:cNvSpPr txBox="true"/>
          <p:nvPr/>
        </p:nvSpPr>
        <p:spPr>
          <a:xfrm rot="0">
            <a:off x="1261390" y="2018468"/>
            <a:ext cx="5553351" cy="929249"/>
          </a:xfrm>
          <a:prstGeom prst="rect">
            <a:avLst/>
          </a:prstGeom>
        </p:spPr>
        <p:txBody>
          <a:bodyPr anchor="t" rtlCol="false" tIns="0" lIns="0" bIns="0" rIns="0">
            <a:spAutoFit/>
          </a:bodyPr>
          <a:lstStyle/>
          <a:p>
            <a:pPr algn="ctr">
              <a:lnSpc>
                <a:spcPts val="7613"/>
              </a:lnSpc>
              <a:spcBef>
                <a:spcPct val="0"/>
              </a:spcBef>
            </a:pPr>
            <a:r>
              <a:rPr lang="en-US" b="true" sz="5438">
                <a:solidFill>
                  <a:srgbClr val="333333"/>
                </a:solidFill>
                <a:latin typeface="Public Sans Bold"/>
                <a:ea typeface="Public Sans Bold"/>
                <a:cs typeface="Public Sans Bold"/>
                <a:sym typeface="Public Sans Bold"/>
              </a:rPr>
              <a:t>4.Các Thuật toán</a:t>
            </a:r>
          </a:p>
        </p:txBody>
      </p:sp>
      <p:sp>
        <p:nvSpPr>
          <p:cNvPr name="TextBox 7" id="7"/>
          <p:cNvSpPr txBox="true"/>
          <p:nvPr/>
        </p:nvSpPr>
        <p:spPr>
          <a:xfrm rot="0">
            <a:off x="1261390" y="4700454"/>
            <a:ext cx="11458072" cy="2103326"/>
          </a:xfrm>
          <a:prstGeom prst="rect">
            <a:avLst/>
          </a:prstGeom>
        </p:spPr>
        <p:txBody>
          <a:bodyPr anchor="t" rtlCol="false" tIns="0" lIns="0" bIns="0" rIns="0">
            <a:spAutoFit/>
          </a:bodyPr>
          <a:lstStyle/>
          <a:p>
            <a:pPr algn="l">
              <a:lnSpc>
                <a:spcPts val="4200"/>
              </a:lnSpc>
              <a:spcBef>
                <a:spcPct val="0"/>
              </a:spcBef>
            </a:pPr>
            <a:r>
              <a:rPr lang="en-US" b="true" sz="3000">
                <a:solidFill>
                  <a:srgbClr val="333333"/>
                </a:solidFill>
                <a:latin typeface="Public Sans Bold"/>
                <a:ea typeface="Public Sans Bold"/>
                <a:cs typeface="Public Sans Bold"/>
                <a:sym typeface="Public Sans Bold"/>
              </a:rPr>
              <a:t>Cách làm: Chạy Hill Climb nhiều lần từ điểm khởi tạo khác nhau.</a:t>
            </a:r>
          </a:p>
          <a:p>
            <a:pPr algn="l">
              <a:lnSpc>
                <a:spcPts val="4200"/>
              </a:lnSpc>
              <a:spcBef>
                <a:spcPct val="0"/>
              </a:spcBef>
            </a:pPr>
            <a:r>
              <a:rPr lang="en-US" b="true" sz="3000">
                <a:solidFill>
                  <a:srgbClr val="333333"/>
                </a:solidFill>
                <a:latin typeface="Public Sans Bold"/>
                <a:ea typeface="Public Sans Bold"/>
                <a:cs typeface="Public Sans Bold"/>
                <a:sym typeface="Public Sans Bold"/>
              </a:rPr>
              <a:t>Giữ lại tour tốt nhất trong các lần chạy.</a:t>
            </a:r>
          </a:p>
          <a:p>
            <a:pPr algn="l">
              <a:lnSpc>
                <a:spcPts val="4200"/>
              </a:lnSpc>
              <a:spcBef>
                <a:spcPct val="0"/>
              </a:spcBef>
            </a:pPr>
            <a:r>
              <a:rPr lang="en-US" b="true" sz="3000">
                <a:solidFill>
                  <a:srgbClr val="333333"/>
                </a:solidFill>
                <a:latin typeface="Public Sans Bold"/>
                <a:ea typeface="Public Sans Bold"/>
                <a:cs typeface="Public Sans Bold"/>
                <a:sym typeface="Public Sans Bold"/>
              </a:rPr>
              <a:t>Ưu điểm: Giảm khả năng mắc kẹt cục bộ.</a:t>
            </a:r>
          </a:p>
          <a:p>
            <a:pPr algn="l">
              <a:lnSpc>
                <a:spcPts val="4200"/>
              </a:lnSpc>
              <a:spcBef>
                <a:spcPct val="0"/>
              </a:spcBef>
            </a:pPr>
            <a:r>
              <a:rPr lang="en-US" b="true" sz="3000">
                <a:solidFill>
                  <a:srgbClr val="333333"/>
                </a:solidFill>
                <a:latin typeface="Public Sans Bold"/>
                <a:ea typeface="Public Sans Bold"/>
                <a:cs typeface="Public Sans Bold"/>
                <a:sym typeface="Public Sans Bold"/>
              </a:rPr>
              <a:t>Nhược điểm: Tốn nhiều thời gian hơn.</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1398864" y="3233467"/>
            <a:ext cx="5278402" cy="533438"/>
          </a:xfrm>
          <a:prstGeom prst="rect">
            <a:avLst/>
          </a:prstGeom>
        </p:spPr>
        <p:txBody>
          <a:bodyPr anchor="t" rtlCol="false" tIns="0" lIns="0" bIns="0" rIns="0">
            <a:spAutoFit/>
          </a:bodyPr>
          <a:lstStyle/>
          <a:p>
            <a:pPr algn="ctr">
              <a:lnSpc>
                <a:spcPts val="4360"/>
              </a:lnSpc>
              <a:spcBef>
                <a:spcPct val="0"/>
              </a:spcBef>
            </a:pPr>
            <a:r>
              <a:rPr lang="en-US" b="true" sz="3114">
                <a:solidFill>
                  <a:srgbClr val="333333"/>
                </a:solidFill>
                <a:latin typeface="Public Sans Bold"/>
                <a:ea typeface="Public Sans Bold"/>
                <a:cs typeface="Public Sans Bold"/>
                <a:sym typeface="Public Sans Bold"/>
              </a:rPr>
              <a:t>4.3 Stochastic Hill Climbing</a:t>
            </a:r>
          </a:p>
        </p:txBody>
      </p:sp>
      <p:sp>
        <p:nvSpPr>
          <p:cNvPr name="TextBox 6" id="6"/>
          <p:cNvSpPr txBox="true"/>
          <p:nvPr/>
        </p:nvSpPr>
        <p:spPr>
          <a:xfrm rot="0">
            <a:off x="1261390" y="2018468"/>
            <a:ext cx="5553351" cy="929249"/>
          </a:xfrm>
          <a:prstGeom prst="rect">
            <a:avLst/>
          </a:prstGeom>
        </p:spPr>
        <p:txBody>
          <a:bodyPr anchor="t" rtlCol="false" tIns="0" lIns="0" bIns="0" rIns="0">
            <a:spAutoFit/>
          </a:bodyPr>
          <a:lstStyle/>
          <a:p>
            <a:pPr algn="ctr">
              <a:lnSpc>
                <a:spcPts val="7613"/>
              </a:lnSpc>
              <a:spcBef>
                <a:spcPct val="0"/>
              </a:spcBef>
            </a:pPr>
            <a:r>
              <a:rPr lang="en-US" b="true" sz="5438">
                <a:solidFill>
                  <a:srgbClr val="333333"/>
                </a:solidFill>
                <a:latin typeface="Public Sans Bold"/>
                <a:ea typeface="Public Sans Bold"/>
                <a:cs typeface="Public Sans Bold"/>
                <a:sym typeface="Public Sans Bold"/>
              </a:rPr>
              <a:t>4.Các Thuật toán</a:t>
            </a:r>
          </a:p>
        </p:txBody>
      </p:sp>
      <p:sp>
        <p:nvSpPr>
          <p:cNvPr name="TextBox 7" id="7"/>
          <p:cNvSpPr txBox="true"/>
          <p:nvPr/>
        </p:nvSpPr>
        <p:spPr>
          <a:xfrm rot="0">
            <a:off x="1261390" y="4700454"/>
            <a:ext cx="14642723" cy="2103326"/>
          </a:xfrm>
          <a:prstGeom prst="rect">
            <a:avLst/>
          </a:prstGeom>
        </p:spPr>
        <p:txBody>
          <a:bodyPr anchor="t" rtlCol="false" tIns="0" lIns="0" bIns="0" rIns="0">
            <a:spAutoFit/>
          </a:bodyPr>
          <a:lstStyle/>
          <a:p>
            <a:pPr algn="l" marL="647765" indent="-323883" lvl="1">
              <a:lnSpc>
                <a:spcPts val="4200"/>
              </a:lnSpc>
              <a:spcBef>
                <a:spcPct val="0"/>
              </a:spcBef>
              <a:buFont typeface="Arial"/>
              <a:buChar char="•"/>
            </a:pPr>
            <a:r>
              <a:rPr lang="en-US" b="true" sz="3000">
                <a:solidFill>
                  <a:srgbClr val="333333"/>
                </a:solidFill>
                <a:latin typeface="Public Sans Bold"/>
                <a:ea typeface="Public Sans Bold"/>
                <a:cs typeface="Public Sans Bold"/>
                <a:sym typeface="Public Sans Bold"/>
              </a:rPr>
              <a:t>Ý</a:t>
            </a:r>
            <a:r>
              <a:rPr lang="en-US" b="true" sz="3000">
                <a:solidFill>
                  <a:srgbClr val="333333"/>
                </a:solidFill>
                <a:latin typeface="Public Sans Bold"/>
                <a:ea typeface="Public Sans Bold"/>
                <a:cs typeface="Public Sans Bold"/>
                <a:sym typeface="Public Sans Bold"/>
              </a:rPr>
              <a:t> tưởng: Chọn ngẫu nhiên một láng giềng tốt hơn, không nhất thiết là tốt nhất.</a:t>
            </a:r>
          </a:p>
          <a:p>
            <a:pPr algn="l" marL="647765" indent="-323883" lvl="1">
              <a:lnSpc>
                <a:spcPts val="4200"/>
              </a:lnSpc>
              <a:spcBef>
                <a:spcPct val="0"/>
              </a:spcBef>
              <a:buFont typeface="Arial"/>
              <a:buChar char="•"/>
            </a:pPr>
            <a:r>
              <a:rPr lang="en-US" b="true" sz="3000">
                <a:solidFill>
                  <a:srgbClr val="333333"/>
                </a:solidFill>
                <a:latin typeface="Public Sans Bold"/>
                <a:ea typeface="Public Sans Bold"/>
                <a:cs typeface="Public Sans Bold"/>
                <a:sym typeface="Public Sans Bold"/>
              </a:rPr>
              <a:t>Ưu điểm: Tránh kẹt ở cực trị địa phương nhỏ.</a:t>
            </a:r>
          </a:p>
          <a:p>
            <a:pPr algn="l" marL="647765" indent="-323883" lvl="1">
              <a:lnSpc>
                <a:spcPts val="4200"/>
              </a:lnSpc>
              <a:spcBef>
                <a:spcPct val="0"/>
              </a:spcBef>
              <a:buFont typeface="Arial"/>
              <a:buChar char="•"/>
            </a:pPr>
            <a:r>
              <a:rPr lang="en-US" b="true" sz="3000">
                <a:solidFill>
                  <a:srgbClr val="333333"/>
                </a:solidFill>
                <a:latin typeface="Public Sans Bold"/>
                <a:ea typeface="Public Sans Bold"/>
                <a:cs typeface="Public Sans Bold"/>
                <a:sym typeface="Public Sans Bold"/>
              </a:rPr>
              <a:t>Nhược điểm: Có thể hội tụ chậm, không ổn định.</a:t>
            </a:r>
          </a:p>
          <a:p>
            <a:pPr algn="l">
              <a:lnSpc>
                <a:spcPts val="4200"/>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1248427" y="3233467"/>
            <a:ext cx="5579276" cy="533438"/>
          </a:xfrm>
          <a:prstGeom prst="rect">
            <a:avLst/>
          </a:prstGeom>
        </p:spPr>
        <p:txBody>
          <a:bodyPr anchor="t" rtlCol="false" tIns="0" lIns="0" bIns="0" rIns="0">
            <a:spAutoFit/>
          </a:bodyPr>
          <a:lstStyle/>
          <a:p>
            <a:pPr algn="ctr">
              <a:lnSpc>
                <a:spcPts val="4360"/>
              </a:lnSpc>
              <a:spcBef>
                <a:spcPct val="0"/>
              </a:spcBef>
            </a:pPr>
            <a:r>
              <a:rPr lang="en-US" b="true" sz="3114">
                <a:solidFill>
                  <a:srgbClr val="333333"/>
                </a:solidFill>
                <a:latin typeface="Public Sans Bold"/>
                <a:ea typeface="Public Sans Bold"/>
                <a:cs typeface="Public Sans Bold"/>
                <a:sym typeface="Public Sans Bold"/>
              </a:rPr>
              <a:t>4.4 First-Choice Hill Climbing</a:t>
            </a:r>
          </a:p>
        </p:txBody>
      </p:sp>
      <p:sp>
        <p:nvSpPr>
          <p:cNvPr name="TextBox 6" id="6"/>
          <p:cNvSpPr txBox="true"/>
          <p:nvPr/>
        </p:nvSpPr>
        <p:spPr>
          <a:xfrm rot="0">
            <a:off x="1261390" y="2018468"/>
            <a:ext cx="5553351" cy="929249"/>
          </a:xfrm>
          <a:prstGeom prst="rect">
            <a:avLst/>
          </a:prstGeom>
        </p:spPr>
        <p:txBody>
          <a:bodyPr anchor="t" rtlCol="false" tIns="0" lIns="0" bIns="0" rIns="0">
            <a:spAutoFit/>
          </a:bodyPr>
          <a:lstStyle/>
          <a:p>
            <a:pPr algn="ctr">
              <a:lnSpc>
                <a:spcPts val="7613"/>
              </a:lnSpc>
              <a:spcBef>
                <a:spcPct val="0"/>
              </a:spcBef>
            </a:pPr>
            <a:r>
              <a:rPr lang="en-US" b="true" sz="5438">
                <a:solidFill>
                  <a:srgbClr val="333333"/>
                </a:solidFill>
                <a:latin typeface="Public Sans Bold"/>
                <a:ea typeface="Public Sans Bold"/>
                <a:cs typeface="Public Sans Bold"/>
                <a:sym typeface="Public Sans Bold"/>
              </a:rPr>
              <a:t>4.Các Thuật toán</a:t>
            </a:r>
          </a:p>
        </p:txBody>
      </p:sp>
      <p:sp>
        <p:nvSpPr>
          <p:cNvPr name="TextBox 7" id="7"/>
          <p:cNvSpPr txBox="true"/>
          <p:nvPr/>
        </p:nvSpPr>
        <p:spPr>
          <a:xfrm rot="0">
            <a:off x="1248427" y="4634722"/>
            <a:ext cx="13369696" cy="2103326"/>
          </a:xfrm>
          <a:prstGeom prst="rect">
            <a:avLst/>
          </a:prstGeom>
        </p:spPr>
        <p:txBody>
          <a:bodyPr anchor="t" rtlCol="false" tIns="0" lIns="0" bIns="0" rIns="0">
            <a:spAutoFit/>
          </a:bodyPr>
          <a:lstStyle/>
          <a:p>
            <a:pPr algn="l" marL="647765" indent="-323883" lvl="1">
              <a:lnSpc>
                <a:spcPts val="4200"/>
              </a:lnSpc>
              <a:spcBef>
                <a:spcPct val="0"/>
              </a:spcBef>
              <a:buFont typeface="Arial"/>
              <a:buChar char="•"/>
            </a:pPr>
            <a:r>
              <a:rPr lang="en-US" b="true" sz="3000">
                <a:solidFill>
                  <a:srgbClr val="333333"/>
                </a:solidFill>
                <a:latin typeface="Public Sans Bold"/>
                <a:ea typeface="Public Sans Bold"/>
                <a:cs typeface="Public Sans Bold"/>
                <a:sym typeface="Public Sans Bold"/>
              </a:rPr>
              <a:t>Cách</a:t>
            </a:r>
            <a:r>
              <a:rPr lang="en-US" b="true" sz="3000">
                <a:solidFill>
                  <a:srgbClr val="333333"/>
                </a:solidFill>
                <a:latin typeface="Public Sans Bold"/>
                <a:ea typeface="Public Sans Bold"/>
                <a:cs typeface="Public Sans Bold"/>
                <a:sym typeface="Public Sans Bold"/>
              </a:rPr>
              <a:t> làm: Sinh ngẫu nhiên một láng giềng → nếu tốt hơn thì nhận ngay.</a:t>
            </a:r>
          </a:p>
          <a:p>
            <a:pPr algn="l" marL="647765" indent="-323883" lvl="1">
              <a:lnSpc>
                <a:spcPts val="4200"/>
              </a:lnSpc>
              <a:spcBef>
                <a:spcPct val="0"/>
              </a:spcBef>
              <a:buFont typeface="Arial"/>
              <a:buChar char="•"/>
            </a:pPr>
            <a:r>
              <a:rPr lang="en-US" b="true" sz="3000">
                <a:solidFill>
                  <a:srgbClr val="333333"/>
                </a:solidFill>
                <a:latin typeface="Public Sans Bold"/>
                <a:ea typeface="Public Sans Bold"/>
                <a:cs typeface="Public Sans Bold"/>
                <a:sym typeface="Public Sans Bold"/>
              </a:rPr>
              <a:t>Ưu điểm: Nhanh, không cần duyệt hết láng giềng.</a:t>
            </a:r>
          </a:p>
          <a:p>
            <a:pPr algn="l" marL="647765" indent="-323883" lvl="1">
              <a:lnSpc>
                <a:spcPts val="4200"/>
              </a:lnSpc>
              <a:spcBef>
                <a:spcPct val="0"/>
              </a:spcBef>
              <a:buFont typeface="Arial"/>
              <a:buChar char="•"/>
            </a:pPr>
            <a:r>
              <a:rPr lang="en-US" b="true" sz="3000">
                <a:solidFill>
                  <a:srgbClr val="333333"/>
                </a:solidFill>
                <a:latin typeface="Public Sans Bold"/>
                <a:ea typeface="Public Sans Bold"/>
                <a:cs typeface="Public Sans Bold"/>
                <a:sym typeface="Public Sans Bold"/>
              </a:rPr>
              <a:t>Nhược điểm: Có thể bỏ qua nghiệm tốt hơn.</a:t>
            </a:r>
          </a:p>
          <a:p>
            <a:pPr algn="l">
              <a:lnSpc>
                <a:spcPts val="4200"/>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1261390" y="3233467"/>
            <a:ext cx="4837227" cy="533438"/>
          </a:xfrm>
          <a:prstGeom prst="rect">
            <a:avLst/>
          </a:prstGeom>
        </p:spPr>
        <p:txBody>
          <a:bodyPr anchor="t" rtlCol="false" tIns="0" lIns="0" bIns="0" rIns="0">
            <a:spAutoFit/>
          </a:bodyPr>
          <a:lstStyle/>
          <a:p>
            <a:pPr algn="ctr">
              <a:lnSpc>
                <a:spcPts val="4360"/>
              </a:lnSpc>
              <a:spcBef>
                <a:spcPct val="0"/>
              </a:spcBef>
            </a:pPr>
            <a:r>
              <a:rPr lang="en-US" b="true" sz="3114">
                <a:solidFill>
                  <a:srgbClr val="333333"/>
                </a:solidFill>
                <a:latin typeface="Public Sans Bold"/>
                <a:ea typeface="Public Sans Bold"/>
                <a:cs typeface="Public Sans Bold"/>
                <a:sym typeface="Public Sans Bold"/>
              </a:rPr>
              <a:t>4.5   Simulated Annealing</a:t>
            </a:r>
          </a:p>
        </p:txBody>
      </p:sp>
      <p:sp>
        <p:nvSpPr>
          <p:cNvPr name="TextBox 6" id="6"/>
          <p:cNvSpPr txBox="true"/>
          <p:nvPr/>
        </p:nvSpPr>
        <p:spPr>
          <a:xfrm rot="0">
            <a:off x="1261390" y="2018468"/>
            <a:ext cx="5553351" cy="929249"/>
          </a:xfrm>
          <a:prstGeom prst="rect">
            <a:avLst/>
          </a:prstGeom>
        </p:spPr>
        <p:txBody>
          <a:bodyPr anchor="t" rtlCol="false" tIns="0" lIns="0" bIns="0" rIns="0">
            <a:spAutoFit/>
          </a:bodyPr>
          <a:lstStyle/>
          <a:p>
            <a:pPr algn="ctr">
              <a:lnSpc>
                <a:spcPts val="7613"/>
              </a:lnSpc>
              <a:spcBef>
                <a:spcPct val="0"/>
              </a:spcBef>
            </a:pPr>
            <a:r>
              <a:rPr lang="en-US" b="true" sz="5438">
                <a:solidFill>
                  <a:srgbClr val="333333"/>
                </a:solidFill>
                <a:latin typeface="Public Sans Bold"/>
                <a:ea typeface="Public Sans Bold"/>
                <a:cs typeface="Public Sans Bold"/>
                <a:sym typeface="Public Sans Bold"/>
              </a:rPr>
              <a:t>4.Các Thuật toán</a:t>
            </a:r>
          </a:p>
        </p:txBody>
      </p:sp>
      <p:sp>
        <p:nvSpPr>
          <p:cNvPr name="TextBox 7" id="7"/>
          <p:cNvSpPr txBox="true"/>
          <p:nvPr/>
        </p:nvSpPr>
        <p:spPr>
          <a:xfrm rot="0">
            <a:off x="1248427" y="4634722"/>
            <a:ext cx="13484960" cy="3154993"/>
          </a:xfrm>
          <a:prstGeom prst="rect">
            <a:avLst/>
          </a:prstGeom>
        </p:spPr>
        <p:txBody>
          <a:bodyPr anchor="t" rtlCol="false" tIns="0" lIns="0" bIns="0" rIns="0">
            <a:spAutoFit/>
          </a:bodyPr>
          <a:lstStyle/>
          <a:p>
            <a:pPr algn="l" marL="647765" indent="-323883" lvl="1">
              <a:lnSpc>
                <a:spcPts val="4200"/>
              </a:lnSpc>
              <a:spcBef>
                <a:spcPct val="0"/>
              </a:spcBef>
              <a:buFont typeface="Arial"/>
              <a:buChar char="•"/>
            </a:pPr>
            <a:r>
              <a:rPr lang="en-US" b="true" sz="3000">
                <a:solidFill>
                  <a:srgbClr val="333333"/>
                </a:solidFill>
                <a:latin typeface="Public Sans Bold"/>
                <a:ea typeface="Public Sans Bold"/>
                <a:cs typeface="Public Sans Bold"/>
                <a:sym typeface="Public Sans Bold"/>
              </a:rPr>
              <a:t>Nguyên</a:t>
            </a:r>
            <a:r>
              <a:rPr lang="en-US" b="true" sz="3000">
                <a:solidFill>
                  <a:srgbClr val="333333"/>
                </a:solidFill>
                <a:latin typeface="Public Sans Bold"/>
                <a:ea typeface="Public Sans Bold"/>
                <a:cs typeface="Public Sans Bold"/>
                <a:sym typeface="Public Sans Bold"/>
              </a:rPr>
              <a:t> lý: Mô phỏng quá trình “tôi luyện kim loại”.</a:t>
            </a:r>
          </a:p>
          <a:p>
            <a:pPr algn="l" marL="647765" indent="-323883" lvl="1">
              <a:lnSpc>
                <a:spcPts val="4200"/>
              </a:lnSpc>
              <a:spcBef>
                <a:spcPct val="0"/>
              </a:spcBef>
              <a:buFont typeface="Arial"/>
              <a:buChar char="•"/>
            </a:pPr>
            <a:r>
              <a:rPr lang="en-US" b="true" sz="3000">
                <a:solidFill>
                  <a:srgbClr val="333333"/>
                </a:solidFill>
                <a:latin typeface="Public Sans Bold"/>
                <a:ea typeface="Public Sans Bold"/>
                <a:cs typeface="Public Sans Bold"/>
                <a:sym typeface="Public Sans Bold"/>
              </a:rPr>
              <a:t>Cho phép chấp nhận nghiệm xấu với xác suất phụ thuộc vào “nhiệt độ” T.</a:t>
            </a:r>
          </a:p>
          <a:p>
            <a:pPr algn="l" marL="647765" indent="-323883" lvl="1">
              <a:lnSpc>
                <a:spcPts val="4200"/>
              </a:lnSpc>
              <a:spcBef>
                <a:spcPct val="0"/>
              </a:spcBef>
              <a:buFont typeface="Arial"/>
              <a:buChar char="•"/>
            </a:pPr>
            <a:r>
              <a:rPr lang="en-US" b="true" sz="3000">
                <a:solidFill>
                  <a:srgbClr val="333333"/>
                </a:solidFill>
                <a:latin typeface="Public Sans Bold"/>
                <a:ea typeface="Public Sans Bold"/>
                <a:cs typeface="Public Sans Bold"/>
                <a:sym typeface="Public Sans Bold"/>
              </a:rPr>
              <a:t>Khi T giảm, thuật toán hội tụ dần về nghiệm tốt.</a:t>
            </a:r>
          </a:p>
          <a:p>
            <a:pPr algn="l" marL="647765" indent="-323883" lvl="1">
              <a:lnSpc>
                <a:spcPts val="4200"/>
              </a:lnSpc>
              <a:spcBef>
                <a:spcPct val="0"/>
              </a:spcBef>
              <a:buFont typeface="Arial"/>
              <a:buChar char="•"/>
            </a:pPr>
            <a:r>
              <a:rPr lang="en-US" b="true" sz="3000">
                <a:solidFill>
                  <a:srgbClr val="333333"/>
                </a:solidFill>
                <a:latin typeface="Public Sans Bold"/>
                <a:ea typeface="Public Sans Bold"/>
                <a:cs typeface="Public Sans Bold"/>
                <a:sym typeface="Public Sans Bold"/>
              </a:rPr>
              <a:t>Ưu điểm: Cân bằng giữa tìm kiếm cục bộ và toàn cục.</a:t>
            </a:r>
          </a:p>
          <a:p>
            <a:pPr algn="l" marL="647765" indent="-323883" lvl="1">
              <a:lnSpc>
                <a:spcPts val="4200"/>
              </a:lnSpc>
              <a:spcBef>
                <a:spcPct val="0"/>
              </a:spcBef>
              <a:buFont typeface="Arial"/>
              <a:buChar char="•"/>
            </a:pPr>
            <a:r>
              <a:rPr lang="en-US" b="true" sz="3000">
                <a:solidFill>
                  <a:srgbClr val="333333"/>
                </a:solidFill>
                <a:latin typeface="Public Sans Bold"/>
                <a:ea typeface="Public Sans Bold"/>
                <a:cs typeface="Public Sans Bold"/>
                <a:sym typeface="Public Sans Bold"/>
              </a:rPr>
              <a:t>Nhược điểm: Cần điều chỉnh tham số T hợp lý.</a:t>
            </a:r>
          </a:p>
          <a:p>
            <a:pPr algn="l">
              <a:lnSpc>
                <a:spcPts val="4200"/>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1028700" y="2018468"/>
            <a:ext cx="7243464" cy="929249"/>
          </a:xfrm>
          <a:prstGeom prst="rect">
            <a:avLst/>
          </a:prstGeom>
        </p:spPr>
        <p:txBody>
          <a:bodyPr anchor="t" rtlCol="false" tIns="0" lIns="0" bIns="0" rIns="0">
            <a:spAutoFit/>
          </a:bodyPr>
          <a:lstStyle/>
          <a:p>
            <a:pPr algn="ctr">
              <a:lnSpc>
                <a:spcPts val="7613"/>
              </a:lnSpc>
              <a:spcBef>
                <a:spcPct val="0"/>
              </a:spcBef>
            </a:pPr>
            <a:r>
              <a:rPr lang="en-US" b="true" sz="5438">
                <a:solidFill>
                  <a:srgbClr val="333333"/>
                </a:solidFill>
                <a:latin typeface="Public Sans Bold"/>
                <a:ea typeface="Public Sans Bold"/>
                <a:cs typeface="Public Sans Bold"/>
                <a:sym typeface="Public Sans Bold"/>
              </a:rPr>
              <a:t>5.Cài đặt thực nghiệm</a:t>
            </a:r>
          </a:p>
        </p:txBody>
      </p:sp>
      <p:sp>
        <p:nvSpPr>
          <p:cNvPr name="TextBox 6" id="6"/>
          <p:cNvSpPr txBox="true"/>
          <p:nvPr/>
        </p:nvSpPr>
        <p:spPr>
          <a:xfrm rot="0">
            <a:off x="1028700" y="3614467"/>
            <a:ext cx="9833404" cy="2770224"/>
          </a:xfrm>
          <a:prstGeom prst="rect">
            <a:avLst/>
          </a:prstGeom>
        </p:spPr>
        <p:txBody>
          <a:bodyPr anchor="t" rtlCol="false" tIns="0" lIns="0" bIns="0" rIns="0">
            <a:spAutoFit/>
          </a:bodyPr>
          <a:lstStyle/>
          <a:p>
            <a:pPr algn="l">
              <a:lnSpc>
                <a:spcPts val="4448"/>
              </a:lnSpc>
              <a:spcBef>
                <a:spcPct val="0"/>
              </a:spcBef>
            </a:pPr>
            <a:r>
              <a:rPr lang="en-US" b="true" sz="3177">
                <a:solidFill>
                  <a:srgbClr val="333333"/>
                </a:solidFill>
                <a:latin typeface="Public Sans Bold"/>
                <a:ea typeface="Public Sans Bold"/>
                <a:cs typeface="Public Sans Bold"/>
                <a:sym typeface="Public Sans Bold"/>
              </a:rPr>
              <a:t>Số lượng thành phố: 10, 20, 30</a:t>
            </a:r>
          </a:p>
          <a:p>
            <a:pPr algn="l">
              <a:lnSpc>
                <a:spcPts val="4448"/>
              </a:lnSpc>
              <a:spcBef>
                <a:spcPct val="0"/>
              </a:spcBef>
            </a:pPr>
            <a:r>
              <a:rPr lang="en-US" b="true" sz="3177">
                <a:solidFill>
                  <a:srgbClr val="333333"/>
                </a:solidFill>
                <a:latin typeface="Public Sans Bold"/>
                <a:ea typeface="Public Sans Bold"/>
                <a:cs typeface="Public Sans Bold"/>
                <a:sym typeface="Public Sans Bold"/>
              </a:rPr>
              <a:t>Mỗi thuật toán chạy nhiều lần với dữ liệu ngẫu nhiên</a:t>
            </a:r>
          </a:p>
          <a:p>
            <a:pPr algn="l">
              <a:lnSpc>
                <a:spcPts val="4448"/>
              </a:lnSpc>
              <a:spcBef>
                <a:spcPct val="0"/>
              </a:spcBef>
            </a:pPr>
            <a:r>
              <a:rPr lang="en-US" b="true" sz="3177">
                <a:solidFill>
                  <a:srgbClr val="333333"/>
                </a:solidFill>
                <a:latin typeface="Public Sans Bold"/>
                <a:ea typeface="Public Sans Bold"/>
                <a:cs typeface="Public Sans Bold"/>
                <a:sym typeface="Public Sans Bold"/>
              </a:rPr>
              <a:t>Đo lường:</a:t>
            </a:r>
          </a:p>
          <a:p>
            <a:pPr algn="l">
              <a:lnSpc>
                <a:spcPts val="4448"/>
              </a:lnSpc>
              <a:spcBef>
                <a:spcPct val="0"/>
              </a:spcBef>
            </a:pPr>
            <a:r>
              <a:rPr lang="en-US" b="true" sz="3177">
                <a:solidFill>
                  <a:srgbClr val="333333"/>
                </a:solidFill>
                <a:latin typeface="Public Sans Bold"/>
                <a:ea typeface="Public Sans Bold"/>
                <a:cs typeface="Public Sans Bold"/>
                <a:sym typeface="Public Sans Bold"/>
              </a:rPr>
              <a:t>Độ dài tour (chất lượng nghiệm)</a:t>
            </a:r>
          </a:p>
          <a:p>
            <a:pPr algn="l">
              <a:lnSpc>
                <a:spcPts val="4448"/>
              </a:lnSpc>
              <a:spcBef>
                <a:spcPct val="0"/>
              </a:spcBef>
            </a:pPr>
            <a:r>
              <a:rPr lang="en-US" b="true" sz="3177">
                <a:solidFill>
                  <a:srgbClr val="333333"/>
                </a:solidFill>
                <a:latin typeface="Public Sans Bold"/>
                <a:ea typeface="Public Sans Bold"/>
                <a:cs typeface="Public Sans Bold"/>
                <a:sym typeface="Public Sans Bold"/>
              </a:rPr>
              <a:t>Thời gian thực thi</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2991955" y="3512297"/>
            <a:ext cx="9230527" cy="5746003"/>
          </a:xfrm>
          <a:custGeom>
            <a:avLst/>
            <a:gdLst/>
            <a:ahLst/>
            <a:cxnLst/>
            <a:rect r="r" b="b" t="t" l="l"/>
            <a:pathLst>
              <a:path h="5746003" w="9230527">
                <a:moveTo>
                  <a:pt x="0" y="0"/>
                </a:moveTo>
                <a:lnTo>
                  <a:pt x="9230527" y="0"/>
                </a:lnTo>
                <a:lnTo>
                  <a:pt x="9230527" y="5746003"/>
                </a:lnTo>
                <a:lnTo>
                  <a:pt x="0" y="5746003"/>
                </a:lnTo>
                <a:lnTo>
                  <a:pt x="0" y="0"/>
                </a:lnTo>
                <a:close/>
              </a:path>
            </a:pathLst>
          </a:custGeom>
          <a:blipFill>
            <a:blip r:embed="rId2"/>
            <a:stretch>
              <a:fillRect l="0" t="0" r="0" b="0"/>
            </a:stretch>
          </a:blipFill>
        </p:spPr>
      </p:sp>
      <p:sp>
        <p:nvSpPr>
          <p:cNvPr name="TextBox 4" id="4"/>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5" id="5"/>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6" id="6"/>
          <p:cNvSpPr txBox="true"/>
          <p:nvPr/>
        </p:nvSpPr>
        <p:spPr>
          <a:xfrm rot="0">
            <a:off x="933306" y="2018468"/>
            <a:ext cx="7434251" cy="929249"/>
          </a:xfrm>
          <a:prstGeom prst="rect">
            <a:avLst/>
          </a:prstGeom>
        </p:spPr>
        <p:txBody>
          <a:bodyPr anchor="t" rtlCol="false" tIns="0" lIns="0" bIns="0" rIns="0">
            <a:spAutoFit/>
          </a:bodyPr>
          <a:lstStyle/>
          <a:p>
            <a:pPr algn="ctr">
              <a:lnSpc>
                <a:spcPts val="7613"/>
              </a:lnSpc>
              <a:spcBef>
                <a:spcPct val="0"/>
              </a:spcBef>
            </a:pPr>
            <a:r>
              <a:rPr lang="en-US" b="true" sz="5438">
                <a:solidFill>
                  <a:srgbClr val="333333"/>
                </a:solidFill>
                <a:latin typeface="Public Sans Bold"/>
                <a:ea typeface="Public Sans Bold"/>
                <a:cs typeface="Public Sans Bold"/>
                <a:sym typeface="Public Sans Bold"/>
              </a:rPr>
              <a:t>5.Kết quả thực nghiệm</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2211588" y="3300142"/>
            <a:ext cx="11301259" cy="5763642"/>
          </a:xfrm>
          <a:custGeom>
            <a:avLst/>
            <a:gdLst/>
            <a:ahLst/>
            <a:cxnLst/>
            <a:rect r="r" b="b" t="t" l="l"/>
            <a:pathLst>
              <a:path h="5763642" w="11301259">
                <a:moveTo>
                  <a:pt x="0" y="0"/>
                </a:moveTo>
                <a:lnTo>
                  <a:pt x="11301259" y="0"/>
                </a:lnTo>
                <a:lnTo>
                  <a:pt x="11301259" y="5763642"/>
                </a:lnTo>
                <a:lnTo>
                  <a:pt x="0" y="5763642"/>
                </a:lnTo>
                <a:lnTo>
                  <a:pt x="0" y="0"/>
                </a:lnTo>
                <a:close/>
              </a:path>
            </a:pathLst>
          </a:custGeom>
          <a:blipFill>
            <a:blip r:embed="rId2"/>
            <a:stretch>
              <a:fillRect l="0" t="0" r="0" b="0"/>
            </a:stretch>
          </a:blipFill>
        </p:spPr>
      </p:sp>
      <p:sp>
        <p:nvSpPr>
          <p:cNvPr name="TextBox 4" id="4"/>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5" id="5"/>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6" id="6"/>
          <p:cNvSpPr txBox="true"/>
          <p:nvPr/>
        </p:nvSpPr>
        <p:spPr>
          <a:xfrm rot="0">
            <a:off x="933306" y="2018468"/>
            <a:ext cx="7434251" cy="929249"/>
          </a:xfrm>
          <a:prstGeom prst="rect">
            <a:avLst/>
          </a:prstGeom>
        </p:spPr>
        <p:txBody>
          <a:bodyPr anchor="t" rtlCol="false" tIns="0" lIns="0" bIns="0" rIns="0">
            <a:spAutoFit/>
          </a:bodyPr>
          <a:lstStyle/>
          <a:p>
            <a:pPr algn="ctr">
              <a:lnSpc>
                <a:spcPts val="7613"/>
              </a:lnSpc>
              <a:spcBef>
                <a:spcPct val="0"/>
              </a:spcBef>
            </a:pPr>
            <a:r>
              <a:rPr lang="en-US" b="true" sz="5438">
                <a:solidFill>
                  <a:srgbClr val="333333"/>
                </a:solidFill>
                <a:latin typeface="Public Sans Bold"/>
                <a:ea typeface="Public Sans Bold"/>
                <a:cs typeface="Public Sans Bold"/>
                <a:sym typeface="Public Sans Bold"/>
              </a:rPr>
              <a:t>5.Kết quả thực nghiệm</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570708" y="4286129"/>
            <a:ext cx="7796850" cy="3976393"/>
          </a:xfrm>
          <a:custGeom>
            <a:avLst/>
            <a:gdLst/>
            <a:ahLst/>
            <a:cxnLst/>
            <a:rect r="r" b="b" t="t" l="l"/>
            <a:pathLst>
              <a:path h="3976393" w="7796850">
                <a:moveTo>
                  <a:pt x="0" y="0"/>
                </a:moveTo>
                <a:lnTo>
                  <a:pt x="7796849" y="0"/>
                </a:lnTo>
                <a:lnTo>
                  <a:pt x="7796849" y="3976393"/>
                </a:lnTo>
                <a:lnTo>
                  <a:pt x="0" y="3976393"/>
                </a:lnTo>
                <a:lnTo>
                  <a:pt x="0" y="0"/>
                </a:lnTo>
                <a:close/>
              </a:path>
            </a:pathLst>
          </a:custGeom>
          <a:blipFill>
            <a:blip r:embed="rId2"/>
            <a:stretch>
              <a:fillRect l="0" t="0" r="0" b="0"/>
            </a:stretch>
          </a:blipFill>
        </p:spPr>
      </p:sp>
      <p:sp>
        <p:nvSpPr>
          <p:cNvPr name="TextBox 4" id="4"/>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5" id="5"/>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6" id="6"/>
          <p:cNvSpPr txBox="true"/>
          <p:nvPr/>
        </p:nvSpPr>
        <p:spPr>
          <a:xfrm rot="0">
            <a:off x="933306" y="2018468"/>
            <a:ext cx="7434251" cy="929249"/>
          </a:xfrm>
          <a:prstGeom prst="rect">
            <a:avLst/>
          </a:prstGeom>
        </p:spPr>
        <p:txBody>
          <a:bodyPr anchor="t" rtlCol="false" tIns="0" lIns="0" bIns="0" rIns="0">
            <a:spAutoFit/>
          </a:bodyPr>
          <a:lstStyle/>
          <a:p>
            <a:pPr algn="ctr">
              <a:lnSpc>
                <a:spcPts val="7613"/>
              </a:lnSpc>
              <a:spcBef>
                <a:spcPct val="0"/>
              </a:spcBef>
            </a:pPr>
            <a:r>
              <a:rPr lang="en-US" b="true" sz="5438">
                <a:solidFill>
                  <a:srgbClr val="333333"/>
                </a:solidFill>
                <a:latin typeface="Public Sans Bold"/>
                <a:ea typeface="Public Sans Bold"/>
                <a:cs typeface="Public Sans Bold"/>
                <a:sym typeface="Public Sans Bold"/>
              </a:rPr>
              <a:t>5.Kết quả thực nghiệm</a:t>
            </a:r>
          </a:p>
        </p:txBody>
      </p:sp>
      <p:sp>
        <p:nvSpPr>
          <p:cNvPr name="Freeform 7" id="7"/>
          <p:cNvSpPr/>
          <p:nvPr/>
        </p:nvSpPr>
        <p:spPr>
          <a:xfrm flipH="false" flipV="false" rot="0">
            <a:off x="8759817" y="4493087"/>
            <a:ext cx="9047562" cy="3769435"/>
          </a:xfrm>
          <a:custGeom>
            <a:avLst/>
            <a:gdLst/>
            <a:ahLst/>
            <a:cxnLst/>
            <a:rect r="r" b="b" t="t" l="l"/>
            <a:pathLst>
              <a:path h="3769435" w="9047562">
                <a:moveTo>
                  <a:pt x="0" y="0"/>
                </a:moveTo>
                <a:lnTo>
                  <a:pt x="9047562" y="0"/>
                </a:lnTo>
                <a:lnTo>
                  <a:pt x="9047562" y="3769435"/>
                </a:lnTo>
                <a:lnTo>
                  <a:pt x="0" y="3769435"/>
                </a:lnTo>
                <a:lnTo>
                  <a:pt x="0" y="0"/>
                </a:lnTo>
                <a:close/>
              </a:path>
            </a:pathLst>
          </a:custGeom>
          <a:blipFill>
            <a:blip r:embed="rId3"/>
            <a:stretch>
              <a:fillRect l="-2904" t="0" r="-2904" b="0"/>
            </a:stretch>
          </a:blipFill>
        </p:spPr>
      </p:sp>
    </p:spTree>
  </p:cSld>
  <p:clrMapOvr>
    <a:masterClrMapping/>
  </p:clrMapOvr>
</p:sld>
</file>

<file path=ppt/slides/slide25.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1028700" y="2018468"/>
            <a:ext cx="7813669" cy="929249"/>
          </a:xfrm>
          <a:prstGeom prst="rect">
            <a:avLst/>
          </a:prstGeom>
        </p:spPr>
        <p:txBody>
          <a:bodyPr anchor="t" rtlCol="false" tIns="0" lIns="0" bIns="0" rIns="0">
            <a:spAutoFit/>
          </a:bodyPr>
          <a:lstStyle/>
          <a:p>
            <a:pPr algn="ctr">
              <a:lnSpc>
                <a:spcPts val="7613"/>
              </a:lnSpc>
              <a:spcBef>
                <a:spcPct val="0"/>
              </a:spcBef>
            </a:pPr>
            <a:r>
              <a:rPr lang="en-US" b="true" sz="5438">
                <a:solidFill>
                  <a:srgbClr val="333333"/>
                </a:solidFill>
                <a:latin typeface="Public Sans Bold"/>
                <a:ea typeface="Public Sans Bold"/>
                <a:cs typeface="Public Sans Bold"/>
                <a:sym typeface="Public Sans Bold"/>
              </a:rPr>
              <a:t>6. Nhận xét và phân tích</a:t>
            </a:r>
          </a:p>
        </p:txBody>
      </p:sp>
      <p:sp>
        <p:nvSpPr>
          <p:cNvPr name="TextBox 6" id="6"/>
          <p:cNvSpPr txBox="true"/>
          <p:nvPr/>
        </p:nvSpPr>
        <p:spPr>
          <a:xfrm rot="0">
            <a:off x="1346050" y="3136900"/>
            <a:ext cx="13767396" cy="4705673"/>
          </a:xfrm>
          <a:prstGeom prst="rect">
            <a:avLst/>
          </a:prstGeom>
        </p:spPr>
        <p:txBody>
          <a:bodyPr anchor="t" rtlCol="false" tIns="0" lIns="0" bIns="0" rIns="0">
            <a:spAutoFit/>
          </a:bodyPr>
          <a:lstStyle/>
          <a:p>
            <a:pPr algn="l" marL="644955" indent="-322478" lvl="1">
              <a:lnSpc>
                <a:spcPts val="4182"/>
              </a:lnSpc>
              <a:buFont typeface="Arial"/>
              <a:buChar char="•"/>
            </a:pPr>
            <a:r>
              <a:rPr lang="en-US" b="true" sz="2987">
                <a:solidFill>
                  <a:srgbClr val="333333"/>
                </a:solidFill>
                <a:latin typeface="Public Sans Bold"/>
                <a:ea typeface="Public Sans Bold"/>
                <a:cs typeface="Public Sans Bold"/>
                <a:sym typeface="Public Sans Bold"/>
              </a:rPr>
              <a:t>C</a:t>
            </a:r>
            <a:r>
              <a:rPr lang="en-US" b="true" sz="2987">
                <a:solidFill>
                  <a:srgbClr val="333333"/>
                </a:solidFill>
                <a:latin typeface="Public Sans Bold"/>
                <a:ea typeface="Public Sans Bold"/>
                <a:cs typeface="Public Sans Bold"/>
                <a:sym typeface="Public Sans Bold"/>
              </a:rPr>
              <a:t>hất lượng nghiệm:</a:t>
            </a:r>
          </a:p>
          <a:p>
            <a:pPr algn="l">
              <a:lnSpc>
                <a:spcPts val="4182"/>
              </a:lnSpc>
              <a:spcBef>
                <a:spcPct val="0"/>
              </a:spcBef>
            </a:pPr>
            <a:r>
              <a:rPr lang="en-US" b="true" sz="2987">
                <a:solidFill>
                  <a:srgbClr val="333333"/>
                </a:solidFill>
                <a:latin typeface="Public Sans Bold"/>
                <a:ea typeface="Public Sans Bold"/>
                <a:cs typeface="Public Sans Bold"/>
                <a:sym typeface="Public Sans Bold"/>
              </a:rPr>
              <a:t>Với ít thành phố (10–20): Các thuật toán đều cho kết quả gần nhau (~2.8–4.0).</a:t>
            </a:r>
          </a:p>
          <a:p>
            <a:pPr algn="l">
              <a:lnSpc>
                <a:spcPts val="4182"/>
              </a:lnSpc>
              <a:spcBef>
                <a:spcPct val="0"/>
              </a:spcBef>
            </a:pPr>
            <a:r>
              <a:rPr lang="en-US" b="true" sz="2987">
                <a:solidFill>
                  <a:srgbClr val="333333"/>
                </a:solidFill>
                <a:latin typeface="Public Sans Bold"/>
                <a:ea typeface="Public Sans Bold"/>
                <a:cs typeface="Public Sans Bold"/>
                <a:sym typeface="Public Sans Bold"/>
              </a:rPr>
              <a:t>Khi 30 thành phố:</a:t>
            </a:r>
          </a:p>
          <a:p>
            <a:pPr algn="l">
              <a:lnSpc>
                <a:spcPts val="4182"/>
              </a:lnSpc>
              <a:spcBef>
                <a:spcPct val="0"/>
              </a:spcBef>
            </a:pPr>
            <a:r>
              <a:rPr lang="en-US" b="true" sz="2987">
                <a:solidFill>
                  <a:srgbClr val="333333"/>
                </a:solidFill>
                <a:latin typeface="Public Sans Bold"/>
                <a:ea typeface="Public Sans Bold"/>
                <a:cs typeface="Public Sans Bold"/>
                <a:sym typeface="Public Sans Bold"/>
              </a:rPr>
              <a:t>Simulated Annealing &amp; Random Restart tốt nhất (~5.2–5.6).</a:t>
            </a:r>
          </a:p>
          <a:p>
            <a:pPr algn="l">
              <a:lnSpc>
                <a:spcPts val="4182"/>
              </a:lnSpc>
              <a:spcBef>
                <a:spcPct val="0"/>
              </a:spcBef>
            </a:pPr>
            <a:r>
              <a:rPr lang="en-US" b="true" sz="2987">
                <a:solidFill>
                  <a:srgbClr val="333333"/>
                </a:solidFill>
                <a:latin typeface="Public Sans Bold"/>
                <a:ea typeface="Public Sans Bold"/>
                <a:cs typeface="Public Sans Bold"/>
                <a:sym typeface="Public Sans Bold"/>
              </a:rPr>
              <a:t>Stochastic HC kém ổn định.</a:t>
            </a:r>
          </a:p>
          <a:p>
            <a:pPr algn="l" marL="644955" indent="-322478" lvl="1">
              <a:lnSpc>
                <a:spcPts val="4182"/>
              </a:lnSpc>
              <a:buFont typeface="Arial"/>
              <a:buChar char="•"/>
            </a:pPr>
            <a:r>
              <a:rPr lang="en-US" b="true" sz="2987">
                <a:solidFill>
                  <a:srgbClr val="333333"/>
                </a:solidFill>
                <a:latin typeface="Public Sans Bold"/>
                <a:ea typeface="Public Sans Bold"/>
                <a:cs typeface="Public Sans Bold"/>
                <a:sym typeface="Public Sans Bold"/>
              </a:rPr>
              <a:t> Thời gian:</a:t>
            </a:r>
          </a:p>
          <a:p>
            <a:pPr algn="l">
              <a:lnSpc>
                <a:spcPts val="4182"/>
              </a:lnSpc>
              <a:spcBef>
                <a:spcPct val="0"/>
              </a:spcBef>
            </a:pPr>
            <a:r>
              <a:rPr lang="en-US" b="true" sz="2987">
                <a:solidFill>
                  <a:srgbClr val="333333"/>
                </a:solidFill>
                <a:latin typeface="Public Sans Bold"/>
                <a:ea typeface="Public Sans Bold"/>
                <a:cs typeface="Public Sans Bold"/>
                <a:sym typeface="Public Sans Bold"/>
              </a:rPr>
              <a:t>Steepest HC: nhanh nhất (1–250 ms).</a:t>
            </a:r>
          </a:p>
          <a:p>
            <a:pPr algn="l">
              <a:lnSpc>
                <a:spcPts val="4182"/>
              </a:lnSpc>
              <a:spcBef>
                <a:spcPct val="0"/>
              </a:spcBef>
            </a:pPr>
            <a:r>
              <a:rPr lang="en-US" b="true" sz="2987">
                <a:solidFill>
                  <a:srgbClr val="333333"/>
                </a:solidFill>
                <a:latin typeface="Public Sans Bold"/>
                <a:ea typeface="Public Sans Bold"/>
                <a:cs typeface="Public Sans Bold"/>
                <a:sym typeface="Public Sans Bold"/>
              </a:rPr>
              <a:t>Random Restart: chậm nhất (~1.9 giây với 30 TP).</a:t>
            </a:r>
          </a:p>
          <a:p>
            <a:pPr algn="l">
              <a:lnSpc>
                <a:spcPts val="4182"/>
              </a:lnSpc>
              <a:spcBef>
                <a:spcPct val="0"/>
              </a:spcBef>
            </a:pPr>
            <a:r>
              <a:rPr lang="en-US" b="true" sz="2987">
                <a:solidFill>
                  <a:srgbClr val="333333"/>
                </a:solidFill>
                <a:latin typeface="Public Sans Bold"/>
                <a:ea typeface="Public Sans Bold"/>
                <a:cs typeface="Public Sans Bold"/>
                <a:sym typeface="Public Sans Bold"/>
              </a:rPr>
              <a:t>Simulated Annealing: trung bình, hiệu quả.</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User Demographics</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1109605" y="1970184"/>
            <a:ext cx="7813669" cy="929249"/>
          </a:xfrm>
          <a:prstGeom prst="rect">
            <a:avLst/>
          </a:prstGeom>
        </p:spPr>
        <p:txBody>
          <a:bodyPr anchor="t" rtlCol="false" tIns="0" lIns="0" bIns="0" rIns="0">
            <a:spAutoFit/>
          </a:bodyPr>
          <a:lstStyle/>
          <a:p>
            <a:pPr algn="ctr">
              <a:lnSpc>
                <a:spcPts val="7613"/>
              </a:lnSpc>
              <a:spcBef>
                <a:spcPct val="0"/>
              </a:spcBef>
            </a:pPr>
            <a:r>
              <a:rPr lang="en-US" b="true" sz="5438">
                <a:solidFill>
                  <a:srgbClr val="333333"/>
                </a:solidFill>
                <a:latin typeface="Public Sans Bold"/>
                <a:ea typeface="Public Sans Bold"/>
                <a:cs typeface="Public Sans Bold"/>
                <a:sym typeface="Public Sans Bold"/>
              </a:rPr>
              <a:t>6. Nhận xét và phân tích</a:t>
            </a:r>
          </a:p>
        </p:txBody>
      </p:sp>
      <p:sp>
        <p:nvSpPr>
          <p:cNvPr name="TextBox 6" id="6"/>
          <p:cNvSpPr txBox="true"/>
          <p:nvPr/>
        </p:nvSpPr>
        <p:spPr>
          <a:xfrm rot="0">
            <a:off x="1109605" y="3544107"/>
            <a:ext cx="15154445" cy="3132112"/>
          </a:xfrm>
          <a:prstGeom prst="rect">
            <a:avLst/>
          </a:prstGeom>
        </p:spPr>
        <p:txBody>
          <a:bodyPr anchor="t" rtlCol="false" tIns="0" lIns="0" bIns="0" rIns="0">
            <a:spAutoFit/>
          </a:bodyPr>
          <a:lstStyle/>
          <a:p>
            <a:pPr algn="l" marL="644955" indent="-322478" lvl="1">
              <a:lnSpc>
                <a:spcPts val="4182"/>
              </a:lnSpc>
              <a:spcBef>
                <a:spcPct val="0"/>
              </a:spcBef>
              <a:buFont typeface="Arial"/>
              <a:buChar char="•"/>
            </a:pPr>
            <a:r>
              <a:rPr lang="en-US" b="true" sz="2987">
                <a:solidFill>
                  <a:srgbClr val="333333"/>
                </a:solidFill>
                <a:latin typeface="Public Sans Bold"/>
                <a:ea typeface="Public Sans Bold"/>
                <a:cs typeface="Public Sans Bold"/>
                <a:sym typeface="Public Sans Bold"/>
              </a:rPr>
              <a:t>Steepes</a:t>
            </a:r>
            <a:r>
              <a:rPr lang="en-US" b="true" sz="2987">
                <a:solidFill>
                  <a:srgbClr val="333333"/>
                </a:solidFill>
                <a:latin typeface="Public Sans Bold"/>
                <a:ea typeface="Public Sans Bold"/>
                <a:cs typeface="Public Sans Bold"/>
                <a:sym typeface="Public Sans Bold"/>
              </a:rPr>
              <a:t>t Hill Climb: nhanh, phù hợp bài toán nhỏ.</a:t>
            </a:r>
          </a:p>
          <a:p>
            <a:pPr algn="l" marL="644955" indent="-322478" lvl="1">
              <a:lnSpc>
                <a:spcPts val="4182"/>
              </a:lnSpc>
              <a:spcBef>
                <a:spcPct val="0"/>
              </a:spcBef>
              <a:buFont typeface="Arial"/>
              <a:buChar char="•"/>
            </a:pPr>
            <a:r>
              <a:rPr lang="en-US" b="true" sz="2987">
                <a:solidFill>
                  <a:srgbClr val="333333"/>
                </a:solidFill>
                <a:latin typeface="Public Sans Bold"/>
                <a:ea typeface="Public Sans Bold"/>
                <a:cs typeface="Public Sans Bold"/>
                <a:sym typeface="Public Sans Bold"/>
              </a:rPr>
              <a:t>Random Restart: cải thiện nghiệm nhưng chậm.</a:t>
            </a:r>
          </a:p>
          <a:p>
            <a:pPr algn="l" marL="644955" indent="-322478" lvl="1">
              <a:lnSpc>
                <a:spcPts val="4182"/>
              </a:lnSpc>
              <a:spcBef>
                <a:spcPct val="0"/>
              </a:spcBef>
              <a:buFont typeface="Arial"/>
              <a:buChar char="•"/>
            </a:pPr>
            <a:r>
              <a:rPr lang="en-US" b="true" sz="2987">
                <a:solidFill>
                  <a:srgbClr val="333333"/>
                </a:solidFill>
                <a:latin typeface="Public Sans Bold"/>
                <a:ea typeface="Public Sans Bold"/>
                <a:cs typeface="Public Sans Bold"/>
                <a:sym typeface="Public Sans Bold"/>
              </a:rPr>
              <a:t>Simulated Annealing: cân bằng tốt giữa tốc độ và chất lượng.</a:t>
            </a:r>
          </a:p>
          <a:p>
            <a:pPr algn="l" marL="644955" indent="-322478" lvl="1">
              <a:lnSpc>
                <a:spcPts val="4182"/>
              </a:lnSpc>
              <a:spcBef>
                <a:spcPct val="0"/>
              </a:spcBef>
              <a:buFont typeface="Arial"/>
              <a:buChar char="•"/>
            </a:pPr>
            <a:r>
              <a:rPr lang="en-US" b="true" sz="2987">
                <a:solidFill>
                  <a:srgbClr val="333333"/>
                </a:solidFill>
                <a:latin typeface="Public Sans Bold"/>
                <a:ea typeface="Public Sans Bold"/>
                <a:cs typeface="Public Sans Bold"/>
                <a:sym typeface="Public Sans Bold"/>
              </a:rPr>
              <a:t>Stochastic / First-Choice HC: hiệu quả trong trường hợp lớn, ít tính toán.</a:t>
            </a:r>
          </a:p>
          <a:p>
            <a:pPr algn="l" marL="644955" indent="-322478" lvl="1">
              <a:lnSpc>
                <a:spcPts val="4182"/>
              </a:lnSpc>
              <a:spcBef>
                <a:spcPct val="0"/>
              </a:spcBef>
              <a:buFont typeface="Arial"/>
              <a:buChar char="•"/>
            </a:pPr>
            <a:r>
              <a:rPr lang="en-US" b="true" sz="2987">
                <a:solidFill>
                  <a:srgbClr val="333333"/>
                </a:solidFill>
                <a:latin typeface="Public Sans Bold"/>
                <a:ea typeface="Public Sans Bold"/>
                <a:cs typeface="Public Sans Bold"/>
                <a:sym typeface="Public Sans Bold"/>
              </a:rPr>
              <a:t>Khi số thành phố tăng, các thuật toán có yếu tố ngẫu nhiên hoạt động ổn định hơn.</a:t>
            </a:r>
          </a:p>
          <a:p>
            <a:pPr algn="l">
              <a:lnSpc>
                <a:spcPts val="4182"/>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AutoShape 3" id="3"/>
          <p:cNvSpPr/>
          <p:nvPr/>
        </p:nvSpPr>
        <p:spPr>
          <a:xfrm>
            <a:off x="9144000" y="3995541"/>
            <a:ext cx="3559327" cy="0"/>
          </a:xfrm>
          <a:prstGeom prst="line">
            <a:avLst/>
          </a:prstGeom>
          <a:ln cap="flat" w="47625">
            <a:solidFill>
              <a:srgbClr val="333333"/>
            </a:solidFill>
            <a:prstDash val="solid"/>
            <a:headEnd type="none" len="sm" w="sm"/>
            <a:tailEnd type="arrow" len="sm" w="med"/>
          </a:ln>
        </p:spPr>
      </p:sp>
      <p:sp>
        <p:nvSpPr>
          <p:cNvPr name="Freeform 4" id="4"/>
          <p:cNvSpPr/>
          <p:nvPr/>
        </p:nvSpPr>
        <p:spPr>
          <a:xfrm flipH="false" flipV="false" rot="0">
            <a:off x="10665989" y="4371779"/>
            <a:ext cx="3112986" cy="4948398"/>
          </a:xfrm>
          <a:custGeom>
            <a:avLst/>
            <a:gdLst/>
            <a:ahLst/>
            <a:cxnLst/>
            <a:rect r="r" b="b" t="t" l="l"/>
            <a:pathLst>
              <a:path h="4948398" w="3112986">
                <a:moveTo>
                  <a:pt x="0" y="0"/>
                </a:moveTo>
                <a:lnTo>
                  <a:pt x="3112986" y="0"/>
                </a:lnTo>
                <a:lnTo>
                  <a:pt x="3112986" y="4948398"/>
                </a:lnTo>
                <a:lnTo>
                  <a:pt x="0" y="4948398"/>
                </a:lnTo>
                <a:lnTo>
                  <a:pt x="0" y="0"/>
                </a:lnTo>
                <a:close/>
              </a:path>
            </a:pathLst>
          </a:custGeom>
          <a:blipFill>
            <a:blip r:embed="rId2"/>
            <a:stretch>
              <a:fillRect l="0" t="0" r="-1025" b="0"/>
            </a:stretch>
          </a:blipFill>
        </p:spPr>
      </p:sp>
      <p:sp>
        <p:nvSpPr>
          <p:cNvPr name="TextBox 5" id="5"/>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Welcome Message (CEO)</a:t>
            </a:r>
          </a:p>
        </p:txBody>
      </p:sp>
      <p:sp>
        <p:nvSpPr>
          <p:cNvPr name="TextBox 6" id="6"/>
          <p:cNvSpPr txBox="true"/>
          <p:nvPr/>
        </p:nvSpPr>
        <p:spPr>
          <a:xfrm rot="0">
            <a:off x="1028700" y="2349021"/>
            <a:ext cx="15942175" cy="603667"/>
          </a:xfrm>
          <a:prstGeom prst="rect">
            <a:avLst/>
          </a:prstGeom>
        </p:spPr>
        <p:txBody>
          <a:bodyPr anchor="t" rtlCol="false" tIns="0" lIns="0" bIns="0" rIns="0">
            <a:spAutoFit/>
          </a:bodyPr>
          <a:lstStyle/>
          <a:p>
            <a:pPr algn="l">
              <a:lnSpc>
                <a:spcPts val="4775"/>
              </a:lnSpc>
            </a:pPr>
            <a:r>
              <a:rPr lang="en-US" b="true" sz="3979" i="true" spc="-195">
                <a:solidFill>
                  <a:srgbClr val="333333"/>
                </a:solidFill>
                <a:latin typeface="Noto Serif Display Semi-Bold Italics"/>
                <a:ea typeface="Noto Serif Display Semi-Bold Italics"/>
                <a:cs typeface="Noto Serif Display Semi-Bold Italics"/>
                <a:sym typeface="Noto Serif Display Semi-Bold Italics"/>
              </a:rPr>
              <a:t>Phần III .Ứng dụng Simple Hill Climbing cho bài toán Mê Cung</a:t>
            </a:r>
          </a:p>
        </p:txBody>
      </p:sp>
      <p:sp>
        <p:nvSpPr>
          <p:cNvPr name="TextBox 7" id="7"/>
          <p:cNvSpPr txBox="true"/>
          <p:nvPr/>
        </p:nvSpPr>
        <p:spPr>
          <a:xfrm rot="0">
            <a:off x="1400756" y="5248275"/>
            <a:ext cx="8207431" cy="3498850"/>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333333"/>
                </a:solidFill>
                <a:latin typeface="Public Sans"/>
                <a:ea typeface="Public Sans"/>
                <a:cs typeface="Public Sans"/>
                <a:sym typeface="Public Sans"/>
              </a:rPr>
              <a:t>Tìm đường đi từ S (Start) đến G (Goal) trong lưới 2D.</a:t>
            </a:r>
          </a:p>
          <a:p>
            <a:pPr algn="just" marL="539749" indent="-269875" lvl="1">
              <a:lnSpc>
                <a:spcPts val="3499"/>
              </a:lnSpc>
              <a:buFont typeface="Arial"/>
              <a:buChar char="•"/>
            </a:pPr>
            <a:r>
              <a:rPr lang="en-US" sz="2499">
                <a:solidFill>
                  <a:srgbClr val="333333"/>
                </a:solidFill>
                <a:latin typeface="Public Sans"/>
                <a:ea typeface="Public Sans"/>
                <a:cs typeface="Public Sans"/>
                <a:sym typeface="Public Sans"/>
              </a:rPr>
              <a:t>Ô có thể là:</a:t>
            </a:r>
          </a:p>
          <a:p>
            <a:pPr algn="just" marL="1079499" indent="-359833" lvl="2">
              <a:lnSpc>
                <a:spcPts val="3499"/>
              </a:lnSpc>
              <a:buFont typeface="Arial"/>
              <a:buChar char="⚬"/>
            </a:pPr>
            <a:r>
              <a:rPr lang="en-US" sz="2499">
                <a:solidFill>
                  <a:srgbClr val="333333"/>
                </a:solidFill>
                <a:latin typeface="Public Sans"/>
                <a:ea typeface="Public Sans"/>
                <a:cs typeface="Public Sans"/>
                <a:sym typeface="Public Sans"/>
              </a:rPr>
              <a:t>X: tường</a:t>
            </a:r>
          </a:p>
          <a:p>
            <a:pPr algn="just" marL="1079499" indent="-359833" lvl="2">
              <a:lnSpc>
                <a:spcPts val="3499"/>
              </a:lnSpc>
              <a:buFont typeface="Arial"/>
              <a:buChar char="⚬"/>
            </a:pPr>
            <a:r>
              <a:rPr lang="en-US" sz="2499">
                <a:solidFill>
                  <a:srgbClr val="333333"/>
                </a:solidFill>
                <a:latin typeface="Public Sans"/>
                <a:ea typeface="Public Sans"/>
                <a:cs typeface="Public Sans"/>
                <a:sym typeface="Public Sans"/>
              </a:rPr>
              <a:t>   </a:t>
            </a:r>
            <a:r>
              <a:rPr lang="en-US" sz="2499">
                <a:solidFill>
                  <a:srgbClr val="333333"/>
                </a:solidFill>
                <a:latin typeface="Public Sans"/>
                <a:ea typeface="Public Sans"/>
                <a:cs typeface="Public Sans"/>
                <a:sym typeface="Public Sans"/>
              </a:rPr>
              <a:t> : ô trống</a:t>
            </a:r>
          </a:p>
          <a:p>
            <a:pPr algn="just" marL="1079499" indent="-359833" lvl="2">
              <a:lnSpc>
                <a:spcPts val="3499"/>
              </a:lnSpc>
              <a:buFont typeface="Arial"/>
              <a:buChar char="⚬"/>
            </a:pPr>
            <a:r>
              <a:rPr lang="en-US" sz="2499">
                <a:solidFill>
                  <a:srgbClr val="333333"/>
                </a:solidFill>
                <a:latin typeface="Public Sans"/>
                <a:ea typeface="Public Sans"/>
                <a:cs typeface="Public Sans"/>
                <a:sym typeface="Public Sans"/>
              </a:rPr>
              <a:t>S: điểm bắt đầu</a:t>
            </a:r>
          </a:p>
          <a:p>
            <a:pPr algn="just" marL="1079499" indent="-359833" lvl="2">
              <a:lnSpc>
                <a:spcPts val="3499"/>
              </a:lnSpc>
              <a:buFont typeface="Arial"/>
              <a:buChar char="⚬"/>
            </a:pPr>
            <a:r>
              <a:rPr lang="en-US" sz="2499">
                <a:solidFill>
                  <a:srgbClr val="333333"/>
                </a:solidFill>
                <a:latin typeface="Public Sans"/>
                <a:ea typeface="Public Sans"/>
                <a:cs typeface="Public Sans"/>
                <a:sym typeface="Public Sans"/>
              </a:rPr>
              <a:t>G: điểm đích</a:t>
            </a:r>
          </a:p>
          <a:p>
            <a:pPr algn="just" marL="539749" indent="-269875" lvl="1">
              <a:lnSpc>
                <a:spcPts val="3499"/>
              </a:lnSpc>
              <a:buFont typeface="Arial"/>
              <a:buChar char="•"/>
            </a:pPr>
            <a:r>
              <a:rPr lang="en-US" sz="2499">
                <a:solidFill>
                  <a:srgbClr val="333333"/>
                </a:solidFill>
                <a:latin typeface="Public Sans"/>
                <a:ea typeface="Public Sans"/>
                <a:cs typeface="Public Sans"/>
                <a:sym typeface="Public Sans"/>
              </a:rPr>
              <a:t>Mục tiêu: tìm chuỗi bước hợp lệ để đi từ S → G.</a:t>
            </a:r>
          </a:p>
          <a:p>
            <a:pPr algn="just">
              <a:lnSpc>
                <a:spcPts val="3499"/>
              </a:lnSpc>
            </a:pPr>
          </a:p>
        </p:txBody>
      </p:sp>
      <p:sp>
        <p:nvSpPr>
          <p:cNvPr name="TextBox 8" id="8"/>
          <p:cNvSpPr txBox="true"/>
          <p:nvPr/>
        </p:nvSpPr>
        <p:spPr>
          <a:xfrm rot="0">
            <a:off x="1400756" y="4424044"/>
            <a:ext cx="4664761" cy="613411"/>
          </a:xfrm>
          <a:prstGeom prst="rect">
            <a:avLst/>
          </a:prstGeom>
        </p:spPr>
        <p:txBody>
          <a:bodyPr anchor="t" rtlCol="false" tIns="0" lIns="0" bIns="0" rIns="0">
            <a:spAutoFit/>
          </a:bodyPr>
          <a:lstStyle/>
          <a:p>
            <a:pPr algn="just">
              <a:lnSpc>
                <a:spcPts val="5039"/>
              </a:lnSpc>
            </a:pPr>
            <a:r>
              <a:rPr lang="en-US" b="true" sz="3599" i="true">
                <a:solidFill>
                  <a:srgbClr val="333333"/>
                </a:solidFill>
                <a:latin typeface="Noto Serif Display ExtraCondensed Bold Italics"/>
                <a:ea typeface="Noto Serif Display ExtraCondensed Bold Italics"/>
                <a:cs typeface="Noto Serif Display ExtraCondensed Bold Italics"/>
                <a:sym typeface="Noto Serif Display ExtraCondensed Bold Italics"/>
              </a:rPr>
              <a:t>1.Giới thiệu bài toán</a:t>
            </a:r>
          </a:p>
        </p:txBody>
      </p:sp>
      <p:sp>
        <p:nvSpPr>
          <p:cNvPr name="TextBox 9" id="9"/>
          <p:cNvSpPr txBox="true"/>
          <p:nvPr/>
        </p:nvSpPr>
        <p:spPr>
          <a:xfrm rot="0">
            <a:off x="12222482" y="882650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Rimberio Co.</a:t>
            </a:r>
          </a:p>
        </p:txBody>
      </p:sp>
      <p:sp>
        <p:nvSpPr>
          <p:cNvPr name="TextBox 10" id="10"/>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11" id="11"/>
          <p:cNvSpPr txBox="true"/>
          <p:nvPr/>
        </p:nvSpPr>
        <p:spPr>
          <a:xfrm rot="0">
            <a:off x="870343" y="3520596"/>
            <a:ext cx="7714903" cy="666750"/>
          </a:xfrm>
          <a:prstGeom prst="rect">
            <a:avLst/>
          </a:prstGeom>
        </p:spPr>
        <p:txBody>
          <a:bodyPr anchor="t" rtlCol="false" tIns="0" lIns="0" bIns="0" rIns="0">
            <a:spAutoFit/>
          </a:bodyPr>
          <a:lstStyle/>
          <a:p>
            <a:pPr algn="l">
              <a:lnSpc>
                <a:spcPts val="5256"/>
              </a:lnSpc>
            </a:pPr>
            <a:r>
              <a:rPr lang="en-US" b="true" sz="4380" i="true" spc="-214">
                <a:solidFill>
                  <a:srgbClr val="333333"/>
                </a:solidFill>
                <a:latin typeface="Noto Serif Display Semi-Bold Italics"/>
                <a:ea typeface="Noto Serif Display Semi-Bold Italics"/>
                <a:cs typeface="Noto Serif Display Semi-Bold Italics"/>
                <a:sym typeface="Noto Serif Display Semi-Bold Italics"/>
              </a:rPr>
              <a:t>I. Bài toán và cơ sở lý thuyết </a:t>
            </a: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Marketing Strategy</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2979653" y="2571750"/>
            <a:ext cx="12328693" cy="762000"/>
          </a:xfrm>
          <a:prstGeom prst="rect">
            <a:avLst/>
          </a:prstGeom>
        </p:spPr>
        <p:txBody>
          <a:bodyPr anchor="t" rtlCol="false" tIns="0" lIns="0" bIns="0" rIns="0">
            <a:spAutoFit/>
          </a:bodyPr>
          <a:lstStyle/>
          <a:p>
            <a:pPr algn="ctr">
              <a:lnSpc>
                <a:spcPts val="6000"/>
              </a:lnSpc>
            </a:pPr>
            <a:r>
              <a:rPr lang="en-US" b="true" sz="5000" i="true" spc="-245">
                <a:solidFill>
                  <a:srgbClr val="333333"/>
                </a:solidFill>
                <a:latin typeface="Noto Serif Display Semi-Bold Italics"/>
                <a:ea typeface="Noto Serif Display Semi-Bold Italics"/>
                <a:cs typeface="Noto Serif Display Semi-Bold Italics"/>
                <a:sym typeface="Noto Serif Display Semi-Bold Italics"/>
              </a:rPr>
              <a:t>2. Cơ sở lý thuyết về Simple Hill Climbing</a:t>
            </a:r>
          </a:p>
        </p:txBody>
      </p:sp>
      <p:grpSp>
        <p:nvGrpSpPr>
          <p:cNvPr name="Group 6" id="6"/>
          <p:cNvGrpSpPr/>
          <p:nvPr/>
        </p:nvGrpSpPr>
        <p:grpSpPr>
          <a:xfrm rot="0">
            <a:off x="1028700" y="4983143"/>
            <a:ext cx="7314595" cy="3684069"/>
            <a:chOff x="0" y="0"/>
            <a:chExt cx="6503969" cy="3275790"/>
          </a:xfrm>
        </p:grpSpPr>
        <p:sp>
          <p:nvSpPr>
            <p:cNvPr name="Freeform 7" id="7"/>
            <p:cNvSpPr/>
            <p:nvPr/>
          </p:nvSpPr>
          <p:spPr>
            <a:xfrm flipH="false" flipV="false" rot="0">
              <a:off x="0" y="0"/>
              <a:ext cx="6503969" cy="3275790"/>
            </a:xfrm>
            <a:custGeom>
              <a:avLst/>
              <a:gdLst/>
              <a:ahLst/>
              <a:cxnLst/>
              <a:rect r="r" b="b" t="t" l="l"/>
              <a:pathLst>
                <a:path h="3275790" w="6503969">
                  <a:moveTo>
                    <a:pt x="6379509" y="59690"/>
                  </a:moveTo>
                  <a:cubicBezTo>
                    <a:pt x="6415069" y="59690"/>
                    <a:pt x="6444279" y="88900"/>
                    <a:pt x="6444279" y="124460"/>
                  </a:cubicBezTo>
                  <a:lnTo>
                    <a:pt x="6444279" y="3151330"/>
                  </a:lnTo>
                  <a:cubicBezTo>
                    <a:pt x="6444279" y="3186890"/>
                    <a:pt x="6415069" y="3216100"/>
                    <a:pt x="6379509" y="3216100"/>
                  </a:cubicBezTo>
                  <a:lnTo>
                    <a:pt x="124460" y="3216100"/>
                  </a:lnTo>
                  <a:cubicBezTo>
                    <a:pt x="88900" y="3216100"/>
                    <a:pt x="59690" y="3186890"/>
                    <a:pt x="59690" y="3151330"/>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3151330"/>
                  </a:lnTo>
                  <a:cubicBezTo>
                    <a:pt x="0" y="3219910"/>
                    <a:pt x="55880" y="3275790"/>
                    <a:pt x="124460" y="3275790"/>
                  </a:cubicBezTo>
                  <a:lnTo>
                    <a:pt x="6379509" y="3275790"/>
                  </a:lnTo>
                  <a:cubicBezTo>
                    <a:pt x="6448089" y="3275790"/>
                    <a:pt x="6503969" y="3219910"/>
                    <a:pt x="6503969" y="3151330"/>
                  </a:cubicBezTo>
                  <a:lnTo>
                    <a:pt x="6503969" y="124460"/>
                  </a:lnTo>
                  <a:cubicBezTo>
                    <a:pt x="6503969" y="55880"/>
                    <a:pt x="6448089" y="0"/>
                    <a:pt x="6379509" y="0"/>
                  </a:cubicBezTo>
                  <a:close/>
                </a:path>
              </a:pathLst>
            </a:custGeom>
            <a:solidFill>
              <a:srgbClr val="333333"/>
            </a:solidFill>
          </p:spPr>
        </p:sp>
      </p:grpSp>
      <p:grpSp>
        <p:nvGrpSpPr>
          <p:cNvPr name="Group 8" id="8"/>
          <p:cNvGrpSpPr/>
          <p:nvPr/>
        </p:nvGrpSpPr>
        <p:grpSpPr>
          <a:xfrm rot="0">
            <a:off x="9944705" y="4983143"/>
            <a:ext cx="7314595" cy="3684069"/>
            <a:chOff x="0" y="0"/>
            <a:chExt cx="6503969" cy="3275790"/>
          </a:xfrm>
        </p:grpSpPr>
        <p:sp>
          <p:nvSpPr>
            <p:cNvPr name="Freeform 9" id="9"/>
            <p:cNvSpPr/>
            <p:nvPr/>
          </p:nvSpPr>
          <p:spPr>
            <a:xfrm flipH="false" flipV="false" rot="0">
              <a:off x="0" y="0"/>
              <a:ext cx="6503969" cy="3275790"/>
            </a:xfrm>
            <a:custGeom>
              <a:avLst/>
              <a:gdLst/>
              <a:ahLst/>
              <a:cxnLst/>
              <a:rect r="r" b="b" t="t" l="l"/>
              <a:pathLst>
                <a:path h="3275790" w="6503969">
                  <a:moveTo>
                    <a:pt x="6379509" y="59690"/>
                  </a:moveTo>
                  <a:cubicBezTo>
                    <a:pt x="6415069" y="59690"/>
                    <a:pt x="6444279" y="88900"/>
                    <a:pt x="6444279" y="124460"/>
                  </a:cubicBezTo>
                  <a:lnTo>
                    <a:pt x="6444279" y="3151330"/>
                  </a:lnTo>
                  <a:cubicBezTo>
                    <a:pt x="6444279" y="3186890"/>
                    <a:pt x="6415069" y="3216100"/>
                    <a:pt x="6379509" y="3216100"/>
                  </a:cubicBezTo>
                  <a:lnTo>
                    <a:pt x="124460" y="3216100"/>
                  </a:lnTo>
                  <a:cubicBezTo>
                    <a:pt x="88900" y="3216100"/>
                    <a:pt x="59690" y="3186890"/>
                    <a:pt x="59690" y="3151330"/>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3151330"/>
                  </a:lnTo>
                  <a:cubicBezTo>
                    <a:pt x="0" y="3219910"/>
                    <a:pt x="55880" y="3275790"/>
                    <a:pt x="124460" y="3275790"/>
                  </a:cubicBezTo>
                  <a:lnTo>
                    <a:pt x="6379509" y="3275790"/>
                  </a:lnTo>
                  <a:cubicBezTo>
                    <a:pt x="6448089" y="3275790"/>
                    <a:pt x="6503969" y="3219910"/>
                    <a:pt x="6503969" y="3151330"/>
                  </a:cubicBezTo>
                  <a:lnTo>
                    <a:pt x="6503969" y="124460"/>
                  </a:lnTo>
                  <a:cubicBezTo>
                    <a:pt x="6503969" y="55880"/>
                    <a:pt x="6448089" y="0"/>
                    <a:pt x="6379509" y="0"/>
                  </a:cubicBezTo>
                  <a:close/>
                </a:path>
              </a:pathLst>
            </a:custGeom>
            <a:solidFill>
              <a:srgbClr val="333333"/>
            </a:solidFill>
          </p:spPr>
        </p:sp>
      </p:grpSp>
      <p:grpSp>
        <p:nvGrpSpPr>
          <p:cNvPr name="Group 10" id="10"/>
          <p:cNvGrpSpPr/>
          <p:nvPr/>
        </p:nvGrpSpPr>
        <p:grpSpPr>
          <a:xfrm rot="0">
            <a:off x="1241916" y="3857625"/>
            <a:ext cx="3993857" cy="773093"/>
            <a:chOff x="0" y="0"/>
            <a:chExt cx="3411676" cy="660400"/>
          </a:xfrm>
        </p:grpSpPr>
        <p:sp>
          <p:nvSpPr>
            <p:cNvPr name="Freeform 11" id="11"/>
            <p:cNvSpPr/>
            <p:nvPr/>
          </p:nvSpPr>
          <p:spPr>
            <a:xfrm flipH="false" flipV="false" rot="0">
              <a:off x="0" y="0"/>
              <a:ext cx="3411676" cy="660400"/>
            </a:xfrm>
            <a:custGeom>
              <a:avLst/>
              <a:gdLst/>
              <a:ahLst/>
              <a:cxnLst/>
              <a:rect r="r" b="b" t="t" l="l"/>
              <a:pathLst>
                <a:path h="660400" w="3411676">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333333"/>
            </a:solidFill>
          </p:spPr>
        </p:sp>
      </p:grpSp>
      <p:grpSp>
        <p:nvGrpSpPr>
          <p:cNvPr name="Group 12" id="12"/>
          <p:cNvGrpSpPr/>
          <p:nvPr/>
        </p:nvGrpSpPr>
        <p:grpSpPr>
          <a:xfrm rot="0">
            <a:off x="9873633" y="3857625"/>
            <a:ext cx="3993857" cy="773093"/>
            <a:chOff x="0" y="0"/>
            <a:chExt cx="3411676" cy="660400"/>
          </a:xfrm>
        </p:grpSpPr>
        <p:sp>
          <p:nvSpPr>
            <p:cNvPr name="Freeform 13" id="13"/>
            <p:cNvSpPr/>
            <p:nvPr/>
          </p:nvSpPr>
          <p:spPr>
            <a:xfrm flipH="false" flipV="false" rot="0">
              <a:off x="0" y="0"/>
              <a:ext cx="3411676" cy="660400"/>
            </a:xfrm>
            <a:custGeom>
              <a:avLst/>
              <a:gdLst/>
              <a:ahLst/>
              <a:cxnLst/>
              <a:rect r="r" b="b" t="t" l="l"/>
              <a:pathLst>
                <a:path h="660400" w="3411676">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333333"/>
            </a:solidFill>
          </p:spPr>
        </p:sp>
      </p:grpSp>
      <p:sp>
        <p:nvSpPr>
          <p:cNvPr name="TextBox 14" id="14"/>
          <p:cNvSpPr txBox="true"/>
          <p:nvPr/>
        </p:nvSpPr>
        <p:spPr>
          <a:xfrm rot="0">
            <a:off x="1241916" y="3964781"/>
            <a:ext cx="3851713" cy="381000"/>
          </a:xfrm>
          <a:prstGeom prst="rect">
            <a:avLst/>
          </a:prstGeom>
        </p:spPr>
        <p:txBody>
          <a:bodyPr anchor="t" rtlCol="false" tIns="0" lIns="0" bIns="0" rIns="0">
            <a:spAutoFit/>
          </a:bodyPr>
          <a:lstStyle/>
          <a:p>
            <a:pPr algn="ctr">
              <a:lnSpc>
                <a:spcPts val="2999"/>
              </a:lnSpc>
            </a:pPr>
            <a:r>
              <a:rPr lang="en-US" b="true" sz="2499">
                <a:solidFill>
                  <a:srgbClr val="F5F5F4"/>
                </a:solidFill>
                <a:latin typeface="Public Sans Bold"/>
                <a:ea typeface="Public Sans Bold"/>
                <a:cs typeface="Public Sans Bold"/>
                <a:sym typeface="Public Sans Bold"/>
              </a:rPr>
              <a:t>Nguyên lý hoạt động</a:t>
            </a:r>
          </a:p>
        </p:txBody>
      </p:sp>
      <p:sp>
        <p:nvSpPr>
          <p:cNvPr name="TextBox 15" id="15"/>
          <p:cNvSpPr txBox="true"/>
          <p:nvPr/>
        </p:nvSpPr>
        <p:spPr>
          <a:xfrm rot="0">
            <a:off x="9944705" y="3964781"/>
            <a:ext cx="3851713" cy="381000"/>
          </a:xfrm>
          <a:prstGeom prst="rect">
            <a:avLst/>
          </a:prstGeom>
        </p:spPr>
        <p:txBody>
          <a:bodyPr anchor="t" rtlCol="false" tIns="0" lIns="0" bIns="0" rIns="0">
            <a:spAutoFit/>
          </a:bodyPr>
          <a:lstStyle/>
          <a:p>
            <a:pPr algn="ctr">
              <a:lnSpc>
                <a:spcPts val="2999"/>
              </a:lnSpc>
            </a:pPr>
            <a:r>
              <a:rPr lang="en-US" b="true" sz="2499">
                <a:solidFill>
                  <a:srgbClr val="F5F5F4"/>
                </a:solidFill>
                <a:latin typeface="Public Sans Bold"/>
                <a:ea typeface="Public Sans Bold"/>
                <a:cs typeface="Public Sans Bold"/>
                <a:sym typeface="Public Sans Bold"/>
              </a:rPr>
              <a:t>Hàm Heuristic</a:t>
            </a:r>
          </a:p>
        </p:txBody>
      </p:sp>
      <p:sp>
        <p:nvSpPr>
          <p:cNvPr name="TextBox 16" id="16"/>
          <p:cNvSpPr txBox="true"/>
          <p:nvPr/>
        </p:nvSpPr>
        <p:spPr>
          <a:xfrm rot="0">
            <a:off x="1849343" y="5210959"/>
            <a:ext cx="5673308" cy="3724275"/>
          </a:xfrm>
          <a:prstGeom prst="rect">
            <a:avLst/>
          </a:prstGeom>
        </p:spPr>
        <p:txBody>
          <a:bodyPr anchor="t" rtlCol="false" tIns="0" lIns="0" bIns="0" rIns="0">
            <a:spAutoFit/>
          </a:bodyPr>
          <a:lstStyle/>
          <a:p>
            <a:pPr algn="l" marL="535433" indent="-267716" lvl="1">
              <a:lnSpc>
                <a:spcPts val="2976"/>
              </a:lnSpc>
              <a:buFont typeface="Arial"/>
              <a:buChar char="•"/>
            </a:pPr>
            <a:r>
              <a:rPr lang="en-US" sz="2480">
                <a:solidFill>
                  <a:srgbClr val="333333"/>
                </a:solidFill>
                <a:latin typeface="Public Sans"/>
                <a:ea typeface="Public Sans"/>
                <a:cs typeface="Public Sans"/>
                <a:sym typeface="Public Sans"/>
              </a:rPr>
              <a:t>Simple Hill Climbing là thuật toán tìm kiếm cục bộ (local search).</a:t>
            </a:r>
          </a:p>
          <a:p>
            <a:pPr algn="l" marL="535433" indent="-267716" lvl="1">
              <a:lnSpc>
                <a:spcPts val="2976"/>
              </a:lnSpc>
              <a:buFont typeface="Arial"/>
              <a:buChar char="•"/>
            </a:pPr>
            <a:r>
              <a:rPr lang="en-US" sz="2480">
                <a:solidFill>
                  <a:srgbClr val="333333"/>
                </a:solidFill>
                <a:latin typeface="Public Sans"/>
                <a:ea typeface="Public Sans"/>
                <a:cs typeface="Public Sans"/>
                <a:sym typeface="Public Sans"/>
              </a:rPr>
              <a:t>Ý tưởng chính:</a:t>
            </a:r>
          </a:p>
          <a:p>
            <a:pPr algn="l" marL="1070865" indent="-356955" lvl="2">
              <a:lnSpc>
                <a:spcPts val="2976"/>
              </a:lnSpc>
              <a:buFont typeface="Arial"/>
              <a:buChar char="⚬"/>
            </a:pPr>
            <a:r>
              <a:rPr lang="en-US" sz="2480">
                <a:solidFill>
                  <a:srgbClr val="333333"/>
                </a:solidFill>
                <a:latin typeface="Public Sans"/>
                <a:ea typeface="Public Sans"/>
                <a:cs typeface="Public Sans"/>
                <a:sym typeface="Public Sans"/>
              </a:rPr>
              <a:t>Luôn chọn hàng xóm tốt nhất theo hàm heuristic.</a:t>
            </a:r>
          </a:p>
          <a:p>
            <a:pPr algn="l" marL="1070865" indent="-356955" lvl="2">
              <a:lnSpc>
                <a:spcPts val="2976"/>
              </a:lnSpc>
              <a:buFont typeface="Arial"/>
              <a:buChar char="⚬"/>
            </a:pPr>
            <a:r>
              <a:rPr lang="en-US" sz="2480">
                <a:solidFill>
                  <a:srgbClr val="333333"/>
                </a:solidFill>
                <a:latin typeface="Public Sans"/>
                <a:ea typeface="Public Sans"/>
                <a:cs typeface="Public Sans"/>
                <a:sym typeface="Public Sans"/>
              </a:rPr>
              <a:t>Nếu không có hướng tốt hơn → dừng lại.</a:t>
            </a:r>
          </a:p>
          <a:p>
            <a:pPr algn="l" marL="535433" indent="-267716" lvl="1">
              <a:lnSpc>
                <a:spcPts val="2976"/>
              </a:lnSpc>
              <a:buFont typeface="Arial"/>
              <a:buChar char="•"/>
            </a:pPr>
            <a:r>
              <a:rPr lang="en-US" sz="2480">
                <a:solidFill>
                  <a:srgbClr val="333333"/>
                </a:solidFill>
                <a:latin typeface="Public Sans"/>
                <a:ea typeface="Public Sans"/>
                <a:cs typeface="Public Sans"/>
                <a:sym typeface="Public Sans"/>
              </a:rPr>
              <a:t>Đặc điểm: tham lam (greedy), đơn giản, không quay lui.</a:t>
            </a:r>
          </a:p>
          <a:p>
            <a:pPr algn="l">
              <a:lnSpc>
                <a:spcPts val="2976"/>
              </a:lnSpc>
            </a:pPr>
          </a:p>
        </p:txBody>
      </p:sp>
      <p:sp>
        <p:nvSpPr>
          <p:cNvPr name="TextBox 17" id="17"/>
          <p:cNvSpPr txBox="true"/>
          <p:nvPr/>
        </p:nvSpPr>
        <p:spPr>
          <a:xfrm rot="0">
            <a:off x="10219145" y="5637512"/>
            <a:ext cx="6765715" cy="2229819"/>
          </a:xfrm>
          <a:prstGeom prst="rect">
            <a:avLst/>
          </a:prstGeom>
        </p:spPr>
        <p:txBody>
          <a:bodyPr anchor="t" rtlCol="false" tIns="0" lIns="0" bIns="0" rIns="0">
            <a:spAutoFit/>
          </a:bodyPr>
          <a:lstStyle/>
          <a:p>
            <a:pPr algn="l">
              <a:lnSpc>
                <a:spcPts val="2978"/>
              </a:lnSpc>
            </a:pPr>
            <a:r>
              <a:rPr lang="en-US" sz="2482">
                <a:solidFill>
                  <a:srgbClr val="333333"/>
                </a:solidFill>
                <a:latin typeface="Public Sans"/>
                <a:ea typeface="Public Sans"/>
                <a:cs typeface="Public Sans"/>
                <a:sym typeface="Public Sans"/>
              </a:rPr>
              <a:t>Dùng khoảng cách Manhattan:</a:t>
            </a:r>
          </a:p>
          <a:p>
            <a:pPr algn="l">
              <a:lnSpc>
                <a:spcPts val="2978"/>
              </a:lnSpc>
            </a:pPr>
            <a:r>
              <a:rPr lang="en-US" sz="2482">
                <a:solidFill>
                  <a:srgbClr val="333333"/>
                </a:solidFill>
                <a:latin typeface="Public Sans"/>
                <a:ea typeface="Public Sans"/>
                <a:cs typeface="Public Sans"/>
                <a:sym typeface="Public Sans"/>
              </a:rPr>
              <a:t>          </a:t>
            </a:r>
            <a:r>
              <a:rPr lang="en-US" sz="2482" i="true">
                <a:solidFill>
                  <a:srgbClr val="333333"/>
                </a:solidFill>
                <a:latin typeface="Public Sans Italics"/>
                <a:ea typeface="Public Sans Italics"/>
                <a:cs typeface="Public Sans Italics"/>
                <a:sym typeface="Public Sans Italics"/>
              </a:rPr>
              <a:t>h(x,y)=|x-xG|+|y-yG|</a:t>
            </a:r>
          </a:p>
          <a:p>
            <a:pPr algn="l" marL="535886" indent="-267943" lvl="1">
              <a:lnSpc>
                <a:spcPts val="2978"/>
              </a:lnSpc>
              <a:buFont typeface="Arial"/>
              <a:buChar char="•"/>
            </a:pPr>
            <a:r>
              <a:rPr lang="en-US" sz="2482" i="true">
                <a:solidFill>
                  <a:srgbClr val="333333"/>
                </a:solidFill>
                <a:latin typeface="Public Sans Italics"/>
                <a:ea typeface="Public Sans Italics"/>
                <a:cs typeface="Public Sans Italics"/>
                <a:sym typeface="Public Sans Italics"/>
              </a:rPr>
              <a:t>Mục tiêu: giảm dần h(x,y)→ đạt 0 (đến G).</a:t>
            </a:r>
          </a:p>
          <a:p>
            <a:pPr algn="l" marL="535886" indent="-267943" lvl="1">
              <a:lnSpc>
                <a:spcPts val="2978"/>
              </a:lnSpc>
              <a:buFont typeface="Arial"/>
              <a:buChar char="•"/>
            </a:pPr>
            <a:r>
              <a:rPr lang="en-US" sz="2482" i="true">
                <a:solidFill>
                  <a:srgbClr val="333333"/>
                </a:solidFill>
                <a:latin typeface="Public Sans Italics"/>
                <a:ea typeface="Public Sans Italics"/>
                <a:cs typeface="Public Sans Italics"/>
                <a:sym typeface="Public Sans Italics"/>
              </a:rPr>
              <a:t>Ưu điểm: dễ tính, nhanh.</a:t>
            </a:r>
          </a:p>
          <a:p>
            <a:pPr algn="l" marL="535886" indent="-267943" lvl="1">
              <a:lnSpc>
                <a:spcPts val="2978"/>
              </a:lnSpc>
              <a:buFont typeface="Arial"/>
              <a:buChar char="•"/>
            </a:pPr>
            <a:r>
              <a:rPr lang="en-US" sz="2482" i="true">
                <a:solidFill>
                  <a:srgbClr val="333333"/>
                </a:solidFill>
                <a:latin typeface="Public Sans Italics"/>
                <a:ea typeface="Public Sans Italics"/>
                <a:cs typeface="Public Sans Italics"/>
                <a:sym typeface="Public Sans Italics"/>
              </a:rPr>
              <a:t>Hạn chế: không xét đến tường chắn.</a:t>
            </a:r>
          </a:p>
          <a:p>
            <a:pPr algn="l">
              <a:lnSpc>
                <a:spcPts val="2978"/>
              </a:lnSpc>
            </a:pPr>
          </a:p>
        </p:txBody>
      </p:sp>
      <p:sp>
        <p:nvSpPr>
          <p:cNvPr name="TextBox 18" id="18"/>
          <p:cNvSpPr txBox="true"/>
          <p:nvPr/>
        </p:nvSpPr>
        <p:spPr>
          <a:xfrm rot="0">
            <a:off x="1028700" y="882650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May 2023</a:t>
            </a:r>
          </a:p>
        </p:txBody>
      </p:sp>
      <p:sp>
        <p:nvSpPr>
          <p:cNvPr name="TextBox 19" id="19"/>
          <p:cNvSpPr txBox="true"/>
          <p:nvPr/>
        </p:nvSpPr>
        <p:spPr>
          <a:xfrm rot="0">
            <a:off x="12222482" y="882650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Rimberio Co.</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Financial Numbers Chart</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1445548" y="2142293"/>
            <a:ext cx="15550634" cy="742950"/>
          </a:xfrm>
          <a:prstGeom prst="rect">
            <a:avLst/>
          </a:prstGeom>
        </p:spPr>
        <p:txBody>
          <a:bodyPr anchor="t" rtlCol="false" tIns="0" lIns="0" bIns="0" rIns="0">
            <a:spAutoFit/>
          </a:bodyPr>
          <a:lstStyle/>
          <a:p>
            <a:pPr algn="l">
              <a:lnSpc>
                <a:spcPts val="5992"/>
              </a:lnSpc>
            </a:pPr>
            <a:r>
              <a:rPr lang="en-US" b="true" sz="4993" i="true" spc="-244">
                <a:solidFill>
                  <a:srgbClr val="333333"/>
                </a:solidFill>
                <a:latin typeface="Noto Serif Display Semi-Bold Italics"/>
                <a:ea typeface="Noto Serif Display Semi-Bold Italics"/>
                <a:cs typeface="Noto Serif Display Semi-Bold Italics"/>
                <a:sym typeface="Noto Serif Display Semi-Bold Italics"/>
              </a:rPr>
              <a:t>II. Simple Hill Climbing trong bài toán Maze </a:t>
            </a:r>
          </a:p>
        </p:txBody>
      </p:sp>
      <p:sp>
        <p:nvSpPr>
          <p:cNvPr name="TextBox 6" id="6"/>
          <p:cNvSpPr txBox="true"/>
          <p:nvPr/>
        </p:nvSpPr>
        <p:spPr>
          <a:xfrm rot="0">
            <a:off x="4647695" y="4111376"/>
            <a:ext cx="12280152" cy="5765270"/>
          </a:xfrm>
          <a:prstGeom prst="rect">
            <a:avLst/>
          </a:prstGeom>
        </p:spPr>
        <p:txBody>
          <a:bodyPr anchor="t" rtlCol="false" tIns="0" lIns="0" bIns="0" rIns="0">
            <a:spAutoFit/>
          </a:bodyPr>
          <a:lstStyle/>
          <a:p>
            <a:pPr algn="l" marL="634405" indent="-317203" lvl="1">
              <a:lnSpc>
                <a:spcPts val="3526"/>
              </a:lnSpc>
              <a:buAutoNum type="arabicPeriod" startAt="1"/>
            </a:pPr>
            <a:r>
              <a:rPr lang="en-US" sz="2938">
                <a:solidFill>
                  <a:srgbClr val="333333"/>
                </a:solidFill>
                <a:latin typeface="Public Sans"/>
                <a:ea typeface="Public Sans"/>
                <a:cs typeface="Public Sans"/>
                <a:sym typeface="Public Sans"/>
              </a:rPr>
              <a:t>Xác định trạng thái hiện tại (S)</a:t>
            </a:r>
          </a:p>
          <a:p>
            <a:pPr algn="l" marL="1268810" indent="-422937" lvl="2">
              <a:lnSpc>
                <a:spcPts val="3526"/>
              </a:lnSpc>
              <a:buFont typeface="Arial"/>
              <a:buChar char="⚬"/>
            </a:pPr>
            <a:r>
              <a:rPr lang="en-US" sz="2938">
                <a:solidFill>
                  <a:srgbClr val="333333"/>
                </a:solidFill>
                <a:latin typeface="Public Sans"/>
                <a:ea typeface="Public Sans"/>
                <a:cs typeface="Public Sans"/>
                <a:sym typeface="Public Sans"/>
              </a:rPr>
              <a:t>Tác tử bắt đầu tại điểm xuất phát S.</a:t>
            </a:r>
          </a:p>
          <a:p>
            <a:pPr algn="l" marL="634405" indent="-317203" lvl="1">
              <a:lnSpc>
                <a:spcPts val="3526"/>
              </a:lnSpc>
              <a:buAutoNum type="arabicPeriod" startAt="1"/>
            </a:pPr>
            <a:r>
              <a:rPr lang="en-US" sz="2938">
                <a:solidFill>
                  <a:srgbClr val="333333"/>
                </a:solidFill>
                <a:latin typeface="Public Sans"/>
                <a:ea typeface="Public Sans"/>
                <a:cs typeface="Public Sans"/>
                <a:sym typeface="Public Sans"/>
              </a:rPr>
              <a:t>Tạo danh sách các hàng xóm hợp lệ</a:t>
            </a:r>
          </a:p>
          <a:p>
            <a:pPr algn="l" marL="1268810" indent="-422937" lvl="2">
              <a:lnSpc>
                <a:spcPts val="3526"/>
              </a:lnSpc>
              <a:buFont typeface="Arial"/>
              <a:buChar char="⚬"/>
            </a:pPr>
            <a:r>
              <a:rPr lang="en-US" sz="2938">
                <a:solidFill>
                  <a:srgbClr val="333333"/>
                </a:solidFill>
                <a:latin typeface="Public Sans"/>
                <a:ea typeface="Public Sans"/>
                <a:cs typeface="Public Sans"/>
                <a:sym typeface="Public Sans"/>
              </a:rPr>
              <a:t>4 hướng: lên, xuống, trái, phải (bỏ qua tường X).</a:t>
            </a:r>
          </a:p>
          <a:p>
            <a:pPr algn="l" marL="634405" indent="-317203" lvl="1">
              <a:lnSpc>
                <a:spcPts val="3526"/>
              </a:lnSpc>
              <a:buAutoNum type="arabicPeriod" startAt="1"/>
            </a:pPr>
            <a:r>
              <a:rPr lang="en-US" sz="2938">
                <a:solidFill>
                  <a:srgbClr val="333333"/>
                </a:solidFill>
                <a:latin typeface="Public Sans"/>
                <a:ea typeface="Public Sans"/>
                <a:cs typeface="Public Sans"/>
                <a:sym typeface="Public Sans"/>
              </a:rPr>
              <a:t>Tính giá trị heuristic cho từng hàng xó</a:t>
            </a:r>
            <a:r>
              <a:rPr lang="en-US" sz="2938">
                <a:solidFill>
                  <a:srgbClr val="333333"/>
                </a:solidFill>
                <a:latin typeface="Public Sans"/>
                <a:ea typeface="Public Sans"/>
                <a:cs typeface="Public Sans"/>
                <a:sym typeface="Public Sans"/>
              </a:rPr>
              <a:t>m</a:t>
            </a:r>
          </a:p>
          <a:p>
            <a:pPr algn="l" marL="1268810" indent="-422937" lvl="2">
              <a:lnSpc>
                <a:spcPts val="3526"/>
              </a:lnSpc>
              <a:buFont typeface="Arial"/>
              <a:buChar char="⚬"/>
            </a:pPr>
            <a:r>
              <a:rPr lang="en-US" sz="2938" i="true">
                <a:solidFill>
                  <a:srgbClr val="333333"/>
                </a:solidFill>
                <a:latin typeface="Public Sans Italics"/>
                <a:ea typeface="Public Sans Italics"/>
                <a:cs typeface="Public Sans Italics"/>
                <a:sym typeface="Public Sans Italics"/>
              </a:rPr>
              <a:t>h(x,y)=|x-xG|+|y-yG|</a:t>
            </a:r>
          </a:p>
          <a:p>
            <a:pPr algn="l" marL="634405" indent="-317203" lvl="1">
              <a:lnSpc>
                <a:spcPts val="3526"/>
              </a:lnSpc>
              <a:buAutoNum type="arabicPeriod" startAt="1"/>
            </a:pPr>
            <a:r>
              <a:rPr lang="en-US" sz="2938" i="true">
                <a:solidFill>
                  <a:srgbClr val="333333"/>
                </a:solidFill>
                <a:latin typeface="Public Sans Italics"/>
                <a:ea typeface="Public Sans Italics"/>
                <a:cs typeface="Public Sans Italics"/>
                <a:sym typeface="Public Sans Italics"/>
              </a:rPr>
              <a:t>So sánh với trạng thái hiện tại</a:t>
            </a:r>
          </a:p>
          <a:p>
            <a:pPr algn="l" marL="1268810" indent="-422937" lvl="2">
              <a:lnSpc>
                <a:spcPts val="3526"/>
              </a:lnSpc>
              <a:buFont typeface="Arial"/>
              <a:buChar char="⚬"/>
            </a:pPr>
            <a:r>
              <a:rPr lang="en-US" sz="2938" i="true">
                <a:solidFill>
                  <a:srgbClr val="333333"/>
                </a:solidFill>
                <a:latin typeface="Public Sans Italics"/>
                <a:ea typeface="Public Sans Italics"/>
                <a:cs typeface="Public Sans Italics"/>
                <a:sym typeface="Public Sans Italics"/>
              </a:rPr>
              <a:t>Nếu có hàng xóm có h nhỏ hơn → di chuyển đến đó.</a:t>
            </a:r>
          </a:p>
          <a:p>
            <a:pPr algn="l" marL="1268810" indent="-422937" lvl="2">
              <a:lnSpc>
                <a:spcPts val="3526"/>
              </a:lnSpc>
              <a:buFont typeface="Arial"/>
              <a:buChar char="⚬"/>
            </a:pPr>
            <a:r>
              <a:rPr lang="en-US" sz="2938" i="true">
                <a:solidFill>
                  <a:srgbClr val="333333"/>
                </a:solidFill>
                <a:latin typeface="Public Sans Italics"/>
                <a:ea typeface="Public Sans Italics"/>
                <a:cs typeface="Public Sans Italics"/>
                <a:sym typeface="Public Sans Italics"/>
              </a:rPr>
              <a:t>Nếu không có hàng xóm tốt hơn → dừng lại (đạt cực đại cục bộ).</a:t>
            </a:r>
          </a:p>
          <a:p>
            <a:pPr algn="l" marL="634405" indent="-317203" lvl="1">
              <a:lnSpc>
                <a:spcPts val="3526"/>
              </a:lnSpc>
              <a:buAutoNum type="arabicPeriod" startAt="1"/>
            </a:pPr>
            <a:r>
              <a:rPr lang="en-US" sz="2938" i="true">
                <a:solidFill>
                  <a:srgbClr val="333333"/>
                </a:solidFill>
                <a:latin typeface="Public Sans Italics"/>
                <a:ea typeface="Public Sans Italics"/>
                <a:cs typeface="Public Sans Italics"/>
                <a:sym typeface="Public Sans Italics"/>
              </a:rPr>
              <a:t>Lặp lại cho đến khi:</a:t>
            </a:r>
          </a:p>
          <a:p>
            <a:pPr algn="l" marL="1268810" indent="-422937" lvl="2">
              <a:lnSpc>
                <a:spcPts val="3526"/>
              </a:lnSpc>
              <a:buFont typeface="Arial"/>
              <a:buChar char="⚬"/>
            </a:pPr>
            <a:r>
              <a:rPr lang="en-US" sz="2938" i="true">
                <a:solidFill>
                  <a:srgbClr val="333333"/>
                </a:solidFill>
                <a:latin typeface="Public Sans Italics"/>
                <a:ea typeface="Public Sans Italics"/>
                <a:cs typeface="Public Sans Italics"/>
                <a:sym typeface="Public Sans Italics"/>
              </a:rPr>
              <a:t>Đạt đích G (h = 0), hoặc</a:t>
            </a:r>
          </a:p>
          <a:p>
            <a:pPr algn="l" marL="1268810" indent="-422937" lvl="2">
              <a:lnSpc>
                <a:spcPts val="3526"/>
              </a:lnSpc>
              <a:buFont typeface="Arial"/>
              <a:buChar char="⚬"/>
            </a:pPr>
            <a:r>
              <a:rPr lang="en-US" sz="2938" i="true">
                <a:solidFill>
                  <a:srgbClr val="333333"/>
                </a:solidFill>
                <a:latin typeface="Public Sans Italics"/>
                <a:ea typeface="Public Sans Italics"/>
                <a:cs typeface="Public Sans Italics"/>
                <a:sym typeface="Public Sans Italics"/>
              </a:rPr>
              <a:t>Không còn hướng cải thiện được.</a:t>
            </a:r>
          </a:p>
          <a:p>
            <a:pPr algn="l">
              <a:lnSpc>
                <a:spcPts val="3526"/>
              </a:lnSpc>
            </a:pPr>
          </a:p>
        </p:txBody>
      </p:sp>
      <p:sp>
        <p:nvSpPr>
          <p:cNvPr name="TextBox 7" id="7"/>
          <p:cNvSpPr txBox="true"/>
          <p:nvPr/>
        </p:nvSpPr>
        <p:spPr>
          <a:xfrm rot="0">
            <a:off x="1445548" y="3187451"/>
            <a:ext cx="15550634" cy="590550"/>
          </a:xfrm>
          <a:prstGeom prst="rect">
            <a:avLst/>
          </a:prstGeom>
        </p:spPr>
        <p:txBody>
          <a:bodyPr anchor="t" rtlCol="false" tIns="0" lIns="0" bIns="0" rIns="0">
            <a:spAutoFit/>
          </a:bodyPr>
          <a:lstStyle/>
          <a:p>
            <a:pPr algn="l">
              <a:lnSpc>
                <a:spcPts val="4672"/>
              </a:lnSpc>
            </a:pPr>
            <a:r>
              <a:rPr lang="en-US" b="true" sz="3893" i="true" spc="-190">
                <a:solidFill>
                  <a:srgbClr val="333333"/>
                </a:solidFill>
                <a:latin typeface="Noto Serif Display Semi-Bold Italics"/>
                <a:ea typeface="Noto Serif Display Semi-Bold Italics"/>
                <a:cs typeface="Noto Serif Display Semi-Bold Italics"/>
                <a:sym typeface="Noto Serif Display Semi-Bold Italics"/>
              </a:rPr>
              <a:t>1. Cách hoạt động cụ thể</a:t>
            </a:r>
          </a:p>
        </p:txBody>
      </p:sp>
      <p:sp>
        <p:nvSpPr>
          <p:cNvPr name="TextBox 8" id="8"/>
          <p:cNvSpPr txBox="true"/>
          <p:nvPr/>
        </p:nvSpPr>
        <p:spPr>
          <a:xfrm rot="0">
            <a:off x="2246543" y="4082801"/>
            <a:ext cx="2601132" cy="1028700"/>
          </a:xfrm>
          <a:prstGeom prst="rect">
            <a:avLst/>
          </a:prstGeom>
        </p:spPr>
        <p:txBody>
          <a:bodyPr anchor="t" rtlCol="false" tIns="0" lIns="0" bIns="0" rIns="0">
            <a:spAutoFit/>
          </a:bodyPr>
          <a:lstStyle/>
          <a:p>
            <a:pPr algn="l">
              <a:lnSpc>
                <a:spcPts val="4072"/>
              </a:lnSpc>
            </a:pPr>
            <a:r>
              <a:rPr lang="en-US" b="true" sz="3393" i="true" spc="-166">
                <a:solidFill>
                  <a:srgbClr val="333333"/>
                </a:solidFill>
                <a:latin typeface="Noto Serif Display Semi-Bold Italics"/>
                <a:ea typeface="Noto Serif Display Semi-Bold Italics"/>
                <a:cs typeface="Noto Serif Display Semi-Bold Italics"/>
                <a:sym typeface="Noto Serif Display Semi-Bold Italics"/>
              </a:rPr>
              <a:t>Quy trình thuật toán</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grpSp>
        <p:nvGrpSpPr>
          <p:cNvPr name="Group 3" id="3"/>
          <p:cNvGrpSpPr/>
          <p:nvPr/>
        </p:nvGrpSpPr>
        <p:grpSpPr>
          <a:xfrm rot="0">
            <a:off x="874173" y="4259243"/>
            <a:ext cx="7314595" cy="4321431"/>
            <a:chOff x="0" y="0"/>
            <a:chExt cx="6503969" cy="3842517"/>
          </a:xfrm>
        </p:grpSpPr>
        <p:sp>
          <p:nvSpPr>
            <p:cNvPr name="Freeform 4" id="4"/>
            <p:cNvSpPr/>
            <p:nvPr/>
          </p:nvSpPr>
          <p:spPr>
            <a:xfrm flipH="false" flipV="false" rot="0">
              <a:off x="0" y="0"/>
              <a:ext cx="6503969" cy="3842517"/>
            </a:xfrm>
            <a:custGeom>
              <a:avLst/>
              <a:gdLst/>
              <a:ahLst/>
              <a:cxnLst/>
              <a:rect r="r" b="b" t="t" l="l"/>
              <a:pathLst>
                <a:path h="3842517" w="6503969">
                  <a:moveTo>
                    <a:pt x="6379509" y="59690"/>
                  </a:moveTo>
                  <a:cubicBezTo>
                    <a:pt x="6415069" y="59690"/>
                    <a:pt x="6444279" y="88900"/>
                    <a:pt x="6444279" y="124460"/>
                  </a:cubicBezTo>
                  <a:lnTo>
                    <a:pt x="6444279" y="3718057"/>
                  </a:lnTo>
                  <a:cubicBezTo>
                    <a:pt x="6444279" y="3753617"/>
                    <a:pt x="6415069" y="3782827"/>
                    <a:pt x="6379509" y="3782827"/>
                  </a:cubicBezTo>
                  <a:lnTo>
                    <a:pt x="124460" y="3782827"/>
                  </a:lnTo>
                  <a:cubicBezTo>
                    <a:pt x="88900" y="3782827"/>
                    <a:pt x="59690" y="3753617"/>
                    <a:pt x="59690" y="3718057"/>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3718057"/>
                  </a:lnTo>
                  <a:cubicBezTo>
                    <a:pt x="0" y="3786637"/>
                    <a:pt x="55880" y="3842517"/>
                    <a:pt x="124460" y="3842517"/>
                  </a:cubicBezTo>
                  <a:lnTo>
                    <a:pt x="6379509" y="3842517"/>
                  </a:lnTo>
                  <a:cubicBezTo>
                    <a:pt x="6448089" y="3842517"/>
                    <a:pt x="6503969" y="3786637"/>
                    <a:pt x="6503969" y="3718057"/>
                  </a:cubicBezTo>
                  <a:lnTo>
                    <a:pt x="6503969" y="124460"/>
                  </a:lnTo>
                  <a:cubicBezTo>
                    <a:pt x="6503969" y="55880"/>
                    <a:pt x="6448089" y="0"/>
                    <a:pt x="6379509" y="0"/>
                  </a:cubicBezTo>
                  <a:close/>
                </a:path>
              </a:pathLst>
            </a:custGeom>
            <a:solidFill>
              <a:srgbClr val="333333"/>
            </a:solidFill>
          </p:spPr>
        </p:sp>
      </p:grpSp>
      <p:grpSp>
        <p:nvGrpSpPr>
          <p:cNvPr name="Group 5" id="5"/>
          <p:cNvGrpSpPr/>
          <p:nvPr/>
        </p:nvGrpSpPr>
        <p:grpSpPr>
          <a:xfrm rot="0">
            <a:off x="9750289" y="4357390"/>
            <a:ext cx="7314595" cy="4223285"/>
            <a:chOff x="0" y="0"/>
            <a:chExt cx="6503969" cy="3755247"/>
          </a:xfrm>
        </p:grpSpPr>
        <p:sp>
          <p:nvSpPr>
            <p:cNvPr name="Freeform 6" id="6"/>
            <p:cNvSpPr/>
            <p:nvPr/>
          </p:nvSpPr>
          <p:spPr>
            <a:xfrm flipH="false" flipV="false" rot="0">
              <a:off x="0" y="0"/>
              <a:ext cx="6503969" cy="3755248"/>
            </a:xfrm>
            <a:custGeom>
              <a:avLst/>
              <a:gdLst/>
              <a:ahLst/>
              <a:cxnLst/>
              <a:rect r="r" b="b" t="t" l="l"/>
              <a:pathLst>
                <a:path h="3755248" w="6503969">
                  <a:moveTo>
                    <a:pt x="6379509" y="59690"/>
                  </a:moveTo>
                  <a:cubicBezTo>
                    <a:pt x="6415069" y="59690"/>
                    <a:pt x="6444279" y="88900"/>
                    <a:pt x="6444279" y="124460"/>
                  </a:cubicBezTo>
                  <a:lnTo>
                    <a:pt x="6444279" y="3630788"/>
                  </a:lnTo>
                  <a:cubicBezTo>
                    <a:pt x="6444279" y="3666348"/>
                    <a:pt x="6415069" y="3695557"/>
                    <a:pt x="6379509" y="3695557"/>
                  </a:cubicBezTo>
                  <a:lnTo>
                    <a:pt x="124460" y="3695557"/>
                  </a:lnTo>
                  <a:cubicBezTo>
                    <a:pt x="88900" y="3695557"/>
                    <a:pt x="59690" y="3666348"/>
                    <a:pt x="59690" y="3630788"/>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3630788"/>
                  </a:lnTo>
                  <a:cubicBezTo>
                    <a:pt x="0" y="3699368"/>
                    <a:pt x="55880" y="3755248"/>
                    <a:pt x="124460" y="3755248"/>
                  </a:cubicBezTo>
                  <a:lnTo>
                    <a:pt x="6379509" y="3755248"/>
                  </a:lnTo>
                  <a:cubicBezTo>
                    <a:pt x="6448089" y="3755248"/>
                    <a:pt x="6503969" y="3699368"/>
                    <a:pt x="6503969" y="3630788"/>
                  </a:cubicBezTo>
                  <a:lnTo>
                    <a:pt x="6503969" y="124460"/>
                  </a:lnTo>
                  <a:cubicBezTo>
                    <a:pt x="6503969" y="55880"/>
                    <a:pt x="6448089" y="0"/>
                    <a:pt x="6379509" y="0"/>
                  </a:cubicBezTo>
                  <a:close/>
                </a:path>
              </a:pathLst>
            </a:custGeom>
            <a:solidFill>
              <a:srgbClr val="333333"/>
            </a:solidFill>
          </p:spPr>
        </p:sp>
      </p:grpSp>
      <p:grpSp>
        <p:nvGrpSpPr>
          <p:cNvPr name="Group 7" id="7"/>
          <p:cNvGrpSpPr/>
          <p:nvPr/>
        </p:nvGrpSpPr>
        <p:grpSpPr>
          <a:xfrm rot="0">
            <a:off x="874173" y="3333750"/>
            <a:ext cx="3993857" cy="773093"/>
            <a:chOff x="0" y="0"/>
            <a:chExt cx="3411676" cy="660400"/>
          </a:xfrm>
        </p:grpSpPr>
        <p:sp>
          <p:nvSpPr>
            <p:cNvPr name="Freeform 8" id="8"/>
            <p:cNvSpPr/>
            <p:nvPr/>
          </p:nvSpPr>
          <p:spPr>
            <a:xfrm flipH="false" flipV="false" rot="0">
              <a:off x="0" y="0"/>
              <a:ext cx="3411676" cy="660400"/>
            </a:xfrm>
            <a:custGeom>
              <a:avLst/>
              <a:gdLst/>
              <a:ahLst/>
              <a:cxnLst/>
              <a:rect r="r" b="b" t="t" l="l"/>
              <a:pathLst>
                <a:path h="660400" w="3411676">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333333"/>
            </a:solidFill>
          </p:spPr>
        </p:sp>
      </p:grpSp>
      <p:grpSp>
        <p:nvGrpSpPr>
          <p:cNvPr name="Group 9" id="9"/>
          <p:cNvGrpSpPr/>
          <p:nvPr/>
        </p:nvGrpSpPr>
        <p:grpSpPr>
          <a:xfrm rot="0">
            <a:off x="9750289" y="3333750"/>
            <a:ext cx="3993857" cy="773093"/>
            <a:chOff x="0" y="0"/>
            <a:chExt cx="3411676" cy="660400"/>
          </a:xfrm>
        </p:grpSpPr>
        <p:sp>
          <p:nvSpPr>
            <p:cNvPr name="Freeform 10" id="10"/>
            <p:cNvSpPr/>
            <p:nvPr/>
          </p:nvSpPr>
          <p:spPr>
            <a:xfrm flipH="false" flipV="false" rot="0">
              <a:off x="0" y="0"/>
              <a:ext cx="3411676" cy="660400"/>
            </a:xfrm>
            <a:custGeom>
              <a:avLst/>
              <a:gdLst/>
              <a:ahLst/>
              <a:cxnLst/>
              <a:rect r="r" b="b" t="t" l="l"/>
              <a:pathLst>
                <a:path h="660400" w="3411676">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333333"/>
            </a:solidFill>
          </p:spPr>
        </p:sp>
      </p:grpSp>
      <p:sp>
        <p:nvSpPr>
          <p:cNvPr name="Freeform 11" id="11"/>
          <p:cNvSpPr/>
          <p:nvPr/>
        </p:nvSpPr>
        <p:spPr>
          <a:xfrm flipH="false" flipV="false" rot="0">
            <a:off x="11043840" y="4459268"/>
            <a:ext cx="1917519" cy="1628376"/>
          </a:xfrm>
          <a:custGeom>
            <a:avLst/>
            <a:gdLst/>
            <a:ahLst/>
            <a:cxnLst/>
            <a:rect r="r" b="b" t="t" l="l"/>
            <a:pathLst>
              <a:path h="1628376" w="1917519">
                <a:moveTo>
                  <a:pt x="0" y="0"/>
                </a:moveTo>
                <a:lnTo>
                  <a:pt x="1917519" y="0"/>
                </a:lnTo>
                <a:lnTo>
                  <a:pt x="1917519" y="1628376"/>
                </a:lnTo>
                <a:lnTo>
                  <a:pt x="0" y="1628376"/>
                </a:lnTo>
                <a:lnTo>
                  <a:pt x="0" y="0"/>
                </a:lnTo>
                <a:close/>
              </a:path>
            </a:pathLst>
          </a:custGeom>
          <a:blipFill>
            <a:blip r:embed="rId2"/>
            <a:stretch>
              <a:fillRect l="0" t="-5779" r="0" b="-5779"/>
            </a:stretch>
          </a:blipFill>
        </p:spPr>
      </p:sp>
      <p:sp>
        <p:nvSpPr>
          <p:cNvPr name="TextBox 12" id="12"/>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Marketing Strategy</a:t>
            </a:r>
          </a:p>
        </p:txBody>
      </p:sp>
      <p:sp>
        <p:nvSpPr>
          <p:cNvPr name="TextBox 13" id="13"/>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14" id="14"/>
          <p:cNvSpPr txBox="true"/>
          <p:nvPr/>
        </p:nvSpPr>
        <p:spPr>
          <a:xfrm rot="0">
            <a:off x="2024421" y="2324100"/>
            <a:ext cx="12328693" cy="762000"/>
          </a:xfrm>
          <a:prstGeom prst="rect">
            <a:avLst/>
          </a:prstGeom>
        </p:spPr>
        <p:txBody>
          <a:bodyPr anchor="t" rtlCol="false" tIns="0" lIns="0" bIns="0" rIns="0">
            <a:spAutoFit/>
          </a:bodyPr>
          <a:lstStyle/>
          <a:p>
            <a:pPr algn="ctr">
              <a:lnSpc>
                <a:spcPts val="6000"/>
              </a:lnSpc>
            </a:pPr>
            <a:r>
              <a:rPr lang="en-US" b="true" sz="5000" i="true" spc="-245">
                <a:solidFill>
                  <a:srgbClr val="333333"/>
                </a:solidFill>
                <a:latin typeface="Noto Serif Display Semi-Bold Italics"/>
                <a:ea typeface="Noto Serif Display Semi-Bold Italics"/>
                <a:cs typeface="Noto Serif Display Semi-Bold Italics"/>
                <a:sym typeface="Noto Serif Display Semi-Bold Italics"/>
              </a:rPr>
              <a:t>2. Vai trò của heuristic</a:t>
            </a:r>
          </a:p>
        </p:txBody>
      </p:sp>
      <p:sp>
        <p:nvSpPr>
          <p:cNvPr name="TextBox 15" id="15"/>
          <p:cNvSpPr txBox="true"/>
          <p:nvPr/>
        </p:nvSpPr>
        <p:spPr>
          <a:xfrm rot="0">
            <a:off x="874173" y="3477409"/>
            <a:ext cx="3851713" cy="381000"/>
          </a:xfrm>
          <a:prstGeom prst="rect">
            <a:avLst/>
          </a:prstGeom>
        </p:spPr>
        <p:txBody>
          <a:bodyPr anchor="t" rtlCol="false" tIns="0" lIns="0" bIns="0" rIns="0">
            <a:spAutoFit/>
          </a:bodyPr>
          <a:lstStyle/>
          <a:p>
            <a:pPr algn="ctr">
              <a:lnSpc>
                <a:spcPts val="2999"/>
              </a:lnSpc>
            </a:pPr>
            <a:r>
              <a:rPr lang="en-US" b="true" sz="2499">
                <a:solidFill>
                  <a:srgbClr val="F5F5F4"/>
                </a:solidFill>
                <a:latin typeface="Public Sans Bold"/>
                <a:ea typeface="Public Sans Bold"/>
                <a:cs typeface="Public Sans Bold"/>
                <a:sym typeface="Public Sans Bold"/>
              </a:rPr>
              <a:t>Vai trò của heuristic</a:t>
            </a:r>
          </a:p>
        </p:txBody>
      </p:sp>
      <p:sp>
        <p:nvSpPr>
          <p:cNvPr name="TextBox 16" id="16"/>
          <p:cNvSpPr txBox="true"/>
          <p:nvPr/>
        </p:nvSpPr>
        <p:spPr>
          <a:xfrm rot="0">
            <a:off x="9750289" y="3525034"/>
            <a:ext cx="3851713" cy="381000"/>
          </a:xfrm>
          <a:prstGeom prst="rect">
            <a:avLst/>
          </a:prstGeom>
        </p:spPr>
        <p:txBody>
          <a:bodyPr anchor="t" rtlCol="false" tIns="0" lIns="0" bIns="0" rIns="0">
            <a:spAutoFit/>
          </a:bodyPr>
          <a:lstStyle/>
          <a:p>
            <a:pPr algn="ctr">
              <a:lnSpc>
                <a:spcPts val="2999"/>
              </a:lnSpc>
            </a:pPr>
            <a:r>
              <a:rPr lang="en-US" b="true" sz="2499">
                <a:solidFill>
                  <a:srgbClr val="F5F5F4"/>
                </a:solidFill>
                <a:latin typeface="Public Sans Bold"/>
                <a:ea typeface="Public Sans Bold"/>
                <a:cs typeface="Public Sans Bold"/>
                <a:sym typeface="Public Sans Bold"/>
              </a:rPr>
              <a:t>Ví dụ</a:t>
            </a:r>
          </a:p>
        </p:txBody>
      </p:sp>
      <p:sp>
        <p:nvSpPr>
          <p:cNvPr name="TextBox 17" id="17"/>
          <p:cNvSpPr txBox="true"/>
          <p:nvPr/>
        </p:nvSpPr>
        <p:spPr>
          <a:xfrm rot="0">
            <a:off x="1694816" y="4484924"/>
            <a:ext cx="5673308" cy="4095750"/>
          </a:xfrm>
          <a:prstGeom prst="rect">
            <a:avLst/>
          </a:prstGeom>
        </p:spPr>
        <p:txBody>
          <a:bodyPr anchor="t" rtlCol="false" tIns="0" lIns="0" bIns="0" rIns="0">
            <a:spAutoFit/>
          </a:bodyPr>
          <a:lstStyle/>
          <a:p>
            <a:pPr algn="l" marL="535433" indent="-267716" lvl="1">
              <a:lnSpc>
                <a:spcPts val="2976"/>
              </a:lnSpc>
              <a:buFont typeface="Arial"/>
              <a:buChar char="•"/>
            </a:pPr>
            <a:r>
              <a:rPr lang="en-US" sz="2480">
                <a:solidFill>
                  <a:srgbClr val="333333"/>
                </a:solidFill>
                <a:latin typeface="Public Sans"/>
                <a:ea typeface="Public Sans"/>
                <a:cs typeface="Public Sans"/>
                <a:sym typeface="Public Sans"/>
              </a:rPr>
              <a:t>Heuristic giúp định hướng tìm kiếm.</a:t>
            </a:r>
          </a:p>
          <a:p>
            <a:pPr algn="l" marL="535433" indent="-267716" lvl="1">
              <a:lnSpc>
                <a:spcPts val="2976"/>
              </a:lnSpc>
              <a:buFont typeface="Arial"/>
              <a:buChar char="•"/>
            </a:pPr>
            <a:r>
              <a:rPr lang="en-US" sz="2480">
                <a:solidFill>
                  <a:srgbClr val="333333"/>
                </a:solidFill>
                <a:latin typeface="Public Sans"/>
                <a:ea typeface="Public Sans"/>
                <a:cs typeface="Public Sans"/>
                <a:sym typeface="Public Sans"/>
              </a:rPr>
              <a:t>Manhattan phù hợp với mê cung đơn giản.</a:t>
            </a:r>
          </a:p>
          <a:p>
            <a:pPr algn="l" marL="535433" indent="-267716" lvl="1">
              <a:lnSpc>
                <a:spcPts val="2976"/>
              </a:lnSpc>
              <a:buFont typeface="Arial"/>
              <a:buChar char="•"/>
            </a:pPr>
            <a:r>
              <a:rPr lang="en-US" sz="2480">
                <a:solidFill>
                  <a:srgbClr val="333333"/>
                </a:solidFill>
                <a:latin typeface="Public Sans"/>
                <a:ea typeface="Public Sans"/>
                <a:cs typeface="Public Sans"/>
                <a:sym typeface="Public Sans"/>
              </a:rPr>
              <a:t>Tro</a:t>
            </a:r>
            <a:r>
              <a:rPr lang="en-US" sz="2480">
                <a:solidFill>
                  <a:srgbClr val="333333"/>
                </a:solidFill>
                <a:latin typeface="Public Sans"/>
                <a:ea typeface="Public Sans"/>
                <a:cs typeface="Public Sans"/>
                <a:sym typeface="Public Sans"/>
              </a:rPr>
              <a:t>ng mê cung có nhiều tường chắn:</a:t>
            </a:r>
          </a:p>
          <a:p>
            <a:pPr algn="l" marL="1070865" indent="-356955" lvl="2">
              <a:lnSpc>
                <a:spcPts val="2976"/>
              </a:lnSpc>
              <a:buFont typeface="Arial"/>
              <a:buChar char="⚬"/>
            </a:pPr>
            <a:r>
              <a:rPr lang="en-US" sz="2480">
                <a:solidFill>
                  <a:srgbClr val="333333"/>
                </a:solidFill>
                <a:latin typeface="Public Sans"/>
                <a:ea typeface="Public Sans"/>
                <a:cs typeface="Public Sans"/>
                <a:sym typeface="Public Sans"/>
              </a:rPr>
              <a:t>Giá trị heuristic có thể đánh lừa thuật toán.</a:t>
            </a:r>
          </a:p>
          <a:p>
            <a:pPr algn="l" marL="1070865" indent="-356955" lvl="2">
              <a:lnSpc>
                <a:spcPts val="2976"/>
              </a:lnSpc>
              <a:buFont typeface="Arial"/>
              <a:buChar char="⚬"/>
            </a:pPr>
            <a:r>
              <a:rPr lang="en-US" sz="2480">
                <a:solidFill>
                  <a:srgbClr val="333333"/>
                </a:solidFill>
                <a:latin typeface="Public Sans"/>
                <a:ea typeface="Public Sans"/>
                <a:cs typeface="Public Sans"/>
                <a:sym typeface="Public Sans"/>
              </a:rPr>
              <a:t>H</a:t>
            </a:r>
            <a:r>
              <a:rPr lang="en-US" sz="2480">
                <a:solidFill>
                  <a:srgbClr val="333333"/>
                </a:solidFill>
                <a:latin typeface="Public Sans"/>
                <a:ea typeface="Public Sans"/>
                <a:cs typeface="Public Sans"/>
                <a:sym typeface="Public Sans"/>
              </a:rPr>
              <a:t>ill Climbing dễ dừng sớm sai vị trí.</a:t>
            </a:r>
          </a:p>
          <a:p>
            <a:pPr algn="l">
              <a:lnSpc>
                <a:spcPts val="2976"/>
              </a:lnSpc>
            </a:pPr>
          </a:p>
        </p:txBody>
      </p:sp>
      <p:sp>
        <p:nvSpPr>
          <p:cNvPr name="TextBox 18" id="18"/>
          <p:cNvSpPr txBox="true"/>
          <p:nvPr/>
        </p:nvSpPr>
        <p:spPr>
          <a:xfrm rot="0">
            <a:off x="1028700" y="882650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May 2023</a:t>
            </a:r>
          </a:p>
        </p:txBody>
      </p:sp>
      <p:sp>
        <p:nvSpPr>
          <p:cNvPr name="TextBox 19" id="19"/>
          <p:cNvSpPr txBox="true"/>
          <p:nvPr/>
        </p:nvSpPr>
        <p:spPr>
          <a:xfrm rot="0">
            <a:off x="12222482" y="882650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Rimberio Co.</a:t>
            </a:r>
          </a:p>
        </p:txBody>
      </p:sp>
      <p:sp>
        <p:nvSpPr>
          <p:cNvPr name="TextBox 20" id="20"/>
          <p:cNvSpPr txBox="true"/>
          <p:nvPr/>
        </p:nvSpPr>
        <p:spPr>
          <a:xfrm rot="0">
            <a:off x="9940183" y="6278144"/>
            <a:ext cx="6934807" cy="2198776"/>
          </a:xfrm>
          <a:prstGeom prst="rect">
            <a:avLst/>
          </a:prstGeom>
        </p:spPr>
        <p:txBody>
          <a:bodyPr anchor="t" rtlCol="false" tIns="0" lIns="0" bIns="0" rIns="0">
            <a:spAutoFit/>
          </a:bodyPr>
          <a:lstStyle/>
          <a:p>
            <a:pPr algn="l">
              <a:lnSpc>
                <a:spcPts val="2923"/>
              </a:lnSpc>
            </a:pPr>
            <a:r>
              <a:rPr lang="en-US" sz="2435">
                <a:solidFill>
                  <a:srgbClr val="333333"/>
                </a:solidFill>
                <a:latin typeface="Public Sans"/>
                <a:ea typeface="Public Sans"/>
                <a:cs typeface="Public Sans"/>
                <a:sym typeface="Public Sans"/>
              </a:rPr>
              <a:t>T</a:t>
            </a:r>
            <a:r>
              <a:rPr lang="en-US" sz="2435">
                <a:solidFill>
                  <a:srgbClr val="333333"/>
                </a:solidFill>
                <a:latin typeface="Public Sans"/>
                <a:ea typeface="Public Sans"/>
                <a:cs typeface="Public Sans"/>
                <a:sym typeface="Public Sans"/>
              </a:rPr>
              <a:t>rong ví dụ, khoảng cách Manhattan giữa S và G nhỏ, nhưng thực tế có tường chắn (X) ngăn giữa → Khi đó, </a:t>
            </a:r>
            <a:r>
              <a:rPr lang="en-US" sz="2435">
                <a:solidFill>
                  <a:srgbClr val="333333"/>
                </a:solidFill>
                <a:latin typeface="Public Sans"/>
                <a:ea typeface="Public Sans"/>
                <a:cs typeface="Public Sans"/>
                <a:sym typeface="Public Sans"/>
              </a:rPr>
              <a:t>H</a:t>
            </a:r>
            <a:r>
              <a:rPr lang="en-US" sz="2435">
                <a:solidFill>
                  <a:srgbClr val="333333"/>
                </a:solidFill>
                <a:latin typeface="Public Sans"/>
                <a:ea typeface="Public Sans"/>
                <a:cs typeface="Public Sans"/>
                <a:sym typeface="Public Sans"/>
              </a:rPr>
              <a:t>ill Climbing không thể đi đến đích (dừng sớm tại vị trí sai), vì không tìm được hàng xóm nào tốt hơn.</a:t>
            </a:r>
          </a:p>
          <a:p>
            <a:pPr algn="l">
              <a:lnSpc>
                <a:spcPts val="2923"/>
              </a:lnSpc>
            </a:pPr>
          </a:p>
        </p:txBody>
      </p:sp>
    </p:spTree>
  </p:cSld>
  <p:clrMapOvr>
    <a:masterClrMapping/>
  </p:clrMapOvr>
</p:sld>
</file>

<file path=ppt/slides/slide31.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grpSp>
        <p:nvGrpSpPr>
          <p:cNvPr name="Group 3" id="3"/>
          <p:cNvGrpSpPr/>
          <p:nvPr/>
        </p:nvGrpSpPr>
        <p:grpSpPr>
          <a:xfrm rot="0">
            <a:off x="874173" y="4936869"/>
            <a:ext cx="7314595" cy="3064551"/>
            <a:chOff x="0" y="0"/>
            <a:chExt cx="6503969" cy="2724928"/>
          </a:xfrm>
        </p:grpSpPr>
        <p:sp>
          <p:nvSpPr>
            <p:cNvPr name="Freeform 4" id="4"/>
            <p:cNvSpPr/>
            <p:nvPr/>
          </p:nvSpPr>
          <p:spPr>
            <a:xfrm flipH="false" flipV="false" rot="0">
              <a:off x="0" y="0"/>
              <a:ext cx="6503969" cy="2724928"/>
            </a:xfrm>
            <a:custGeom>
              <a:avLst/>
              <a:gdLst/>
              <a:ahLst/>
              <a:cxnLst/>
              <a:rect r="r" b="b" t="t" l="l"/>
              <a:pathLst>
                <a:path h="2724928" w="6503969">
                  <a:moveTo>
                    <a:pt x="6379509" y="59690"/>
                  </a:moveTo>
                  <a:cubicBezTo>
                    <a:pt x="6415069" y="59690"/>
                    <a:pt x="6444279" y="88900"/>
                    <a:pt x="6444279" y="124460"/>
                  </a:cubicBezTo>
                  <a:lnTo>
                    <a:pt x="6444279" y="2600468"/>
                  </a:lnTo>
                  <a:cubicBezTo>
                    <a:pt x="6444279" y="2636028"/>
                    <a:pt x="6415069" y="2665238"/>
                    <a:pt x="6379509" y="2665238"/>
                  </a:cubicBezTo>
                  <a:lnTo>
                    <a:pt x="124460" y="2665238"/>
                  </a:lnTo>
                  <a:cubicBezTo>
                    <a:pt x="88900" y="2665238"/>
                    <a:pt x="59690" y="2636028"/>
                    <a:pt x="59690" y="2600468"/>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2600468"/>
                  </a:lnTo>
                  <a:cubicBezTo>
                    <a:pt x="0" y="2669048"/>
                    <a:pt x="55880" y="2724928"/>
                    <a:pt x="124460" y="2724928"/>
                  </a:cubicBezTo>
                  <a:lnTo>
                    <a:pt x="6379509" y="2724928"/>
                  </a:lnTo>
                  <a:cubicBezTo>
                    <a:pt x="6448089" y="2724928"/>
                    <a:pt x="6503969" y="2669048"/>
                    <a:pt x="6503969" y="2600468"/>
                  </a:cubicBezTo>
                  <a:lnTo>
                    <a:pt x="6503969" y="124460"/>
                  </a:lnTo>
                  <a:cubicBezTo>
                    <a:pt x="6503969" y="55880"/>
                    <a:pt x="6448089" y="0"/>
                    <a:pt x="6379509" y="0"/>
                  </a:cubicBezTo>
                  <a:close/>
                </a:path>
              </a:pathLst>
            </a:custGeom>
            <a:solidFill>
              <a:srgbClr val="333333"/>
            </a:solidFill>
          </p:spPr>
        </p:sp>
      </p:grpSp>
      <p:grpSp>
        <p:nvGrpSpPr>
          <p:cNvPr name="Group 5" id="5"/>
          <p:cNvGrpSpPr/>
          <p:nvPr/>
        </p:nvGrpSpPr>
        <p:grpSpPr>
          <a:xfrm rot="0">
            <a:off x="9750289" y="4985942"/>
            <a:ext cx="7314595" cy="3015478"/>
            <a:chOff x="0" y="0"/>
            <a:chExt cx="6503969" cy="2681293"/>
          </a:xfrm>
        </p:grpSpPr>
        <p:sp>
          <p:nvSpPr>
            <p:cNvPr name="Freeform 6" id="6"/>
            <p:cNvSpPr/>
            <p:nvPr/>
          </p:nvSpPr>
          <p:spPr>
            <a:xfrm flipH="false" flipV="false" rot="0">
              <a:off x="0" y="0"/>
              <a:ext cx="6503969" cy="2681293"/>
            </a:xfrm>
            <a:custGeom>
              <a:avLst/>
              <a:gdLst/>
              <a:ahLst/>
              <a:cxnLst/>
              <a:rect r="r" b="b" t="t" l="l"/>
              <a:pathLst>
                <a:path h="2681293" w="6503969">
                  <a:moveTo>
                    <a:pt x="6379509" y="59690"/>
                  </a:moveTo>
                  <a:cubicBezTo>
                    <a:pt x="6415069" y="59690"/>
                    <a:pt x="6444279" y="88900"/>
                    <a:pt x="6444279" y="124460"/>
                  </a:cubicBezTo>
                  <a:lnTo>
                    <a:pt x="6444279" y="2556833"/>
                  </a:lnTo>
                  <a:cubicBezTo>
                    <a:pt x="6444279" y="2592393"/>
                    <a:pt x="6415069" y="2621603"/>
                    <a:pt x="6379509" y="2621603"/>
                  </a:cubicBezTo>
                  <a:lnTo>
                    <a:pt x="124460" y="2621603"/>
                  </a:lnTo>
                  <a:cubicBezTo>
                    <a:pt x="88900" y="2621603"/>
                    <a:pt x="59690" y="2592393"/>
                    <a:pt x="59690" y="2556833"/>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2556833"/>
                  </a:lnTo>
                  <a:cubicBezTo>
                    <a:pt x="0" y="2625413"/>
                    <a:pt x="55880" y="2681293"/>
                    <a:pt x="124460" y="2681293"/>
                  </a:cubicBezTo>
                  <a:lnTo>
                    <a:pt x="6379509" y="2681293"/>
                  </a:lnTo>
                  <a:cubicBezTo>
                    <a:pt x="6448089" y="2681293"/>
                    <a:pt x="6503969" y="2625413"/>
                    <a:pt x="6503969" y="2556833"/>
                  </a:cubicBezTo>
                  <a:lnTo>
                    <a:pt x="6503969" y="124460"/>
                  </a:lnTo>
                  <a:cubicBezTo>
                    <a:pt x="6503969" y="55880"/>
                    <a:pt x="6448089" y="0"/>
                    <a:pt x="6379509" y="0"/>
                  </a:cubicBezTo>
                  <a:close/>
                </a:path>
              </a:pathLst>
            </a:custGeom>
            <a:solidFill>
              <a:srgbClr val="333333"/>
            </a:solidFill>
          </p:spPr>
        </p:sp>
      </p:grpSp>
      <p:grpSp>
        <p:nvGrpSpPr>
          <p:cNvPr name="Group 7" id="7"/>
          <p:cNvGrpSpPr/>
          <p:nvPr/>
        </p:nvGrpSpPr>
        <p:grpSpPr>
          <a:xfrm rot="0">
            <a:off x="874173" y="3906034"/>
            <a:ext cx="4632790" cy="896772"/>
            <a:chOff x="0" y="0"/>
            <a:chExt cx="3411676" cy="660400"/>
          </a:xfrm>
        </p:grpSpPr>
        <p:sp>
          <p:nvSpPr>
            <p:cNvPr name="Freeform 8" id="8"/>
            <p:cNvSpPr/>
            <p:nvPr/>
          </p:nvSpPr>
          <p:spPr>
            <a:xfrm flipH="false" flipV="false" rot="0">
              <a:off x="0" y="0"/>
              <a:ext cx="3411676" cy="660400"/>
            </a:xfrm>
            <a:custGeom>
              <a:avLst/>
              <a:gdLst/>
              <a:ahLst/>
              <a:cxnLst/>
              <a:rect r="r" b="b" t="t" l="l"/>
              <a:pathLst>
                <a:path h="660400" w="3411676">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333333"/>
            </a:solidFill>
          </p:spPr>
        </p:sp>
      </p:grpSp>
      <p:sp>
        <p:nvSpPr>
          <p:cNvPr name="TextBox 9" id="9"/>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Marketing Strategy</a:t>
            </a:r>
          </a:p>
        </p:txBody>
      </p:sp>
      <p:sp>
        <p:nvSpPr>
          <p:cNvPr name="TextBox 10" id="10"/>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11" id="11"/>
          <p:cNvSpPr txBox="true"/>
          <p:nvPr/>
        </p:nvSpPr>
        <p:spPr>
          <a:xfrm rot="0">
            <a:off x="1028700" y="2219325"/>
            <a:ext cx="16230600" cy="638175"/>
          </a:xfrm>
          <a:prstGeom prst="rect">
            <a:avLst/>
          </a:prstGeom>
        </p:spPr>
        <p:txBody>
          <a:bodyPr anchor="t" rtlCol="false" tIns="0" lIns="0" bIns="0" rIns="0">
            <a:spAutoFit/>
          </a:bodyPr>
          <a:lstStyle/>
          <a:p>
            <a:pPr algn="ctr">
              <a:lnSpc>
                <a:spcPts val="5040"/>
              </a:lnSpc>
            </a:pPr>
            <a:r>
              <a:rPr lang="en-US" b="true" sz="4200" i="true" spc="-205">
                <a:solidFill>
                  <a:srgbClr val="333333"/>
                </a:solidFill>
                <a:latin typeface="Noto Serif Display Semi-Bold Italics"/>
                <a:ea typeface="Noto Serif Display Semi-Bold Italics"/>
                <a:cs typeface="Noto Serif Display Semi-Bold Italics"/>
                <a:sym typeface="Noto Serif Display Semi-Bold Italics"/>
              </a:rPr>
              <a:t>3. Cực đại cục bộ và điểm bằng phẳng trong Maze</a:t>
            </a:r>
          </a:p>
        </p:txBody>
      </p:sp>
      <p:sp>
        <p:nvSpPr>
          <p:cNvPr name="TextBox 12" id="12"/>
          <p:cNvSpPr txBox="true"/>
          <p:nvPr/>
        </p:nvSpPr>
        <p:spPr>
          <a:xfrm rot="0">
            <a:off x="874173" y="4001995"/>
            <a:ext cx="4424108" cy="695325"/>
          </a:xfrm>
          <a:prstGeom prst="rect">
            <a:avLst/>
          </a:prstGeom>
        </p:spPr>
        <p:txBody>
          <a:bodyPr anchor="t" rtlCol="false" tIns="0" lIns="0" bIns="0" rIns="0">
            <a:spAutoFit/>
          </a:bodyPr>
          <a:lstStyle/>
          <a:p>
            <a:pPr algn="ctr">
              <a:lnSpc>
                <a:spcPts val="2760"/>
              </a:lnSpc>
            </a:pPr>
            <a:r>
              <a:rPr lang="en-US" b="true" sz="2300">
                <a:solidFill>
                  <a:srgbClr val="F5F5F4"/>
                </a:solidFill>
                <a:latin typeface="Public Sans Bold"/>
                <a:ea typeface="Public Sans Bold"/>
                <a:cs typeface="Public Sans Bold"/>
                <a:sym typeface="Public Sans Bold"/>
              </a:rPr>
              <a:t>Cực đại cục bộ (local maximum):</a:t>
            </a:r>
          </a:p>
        </p:txBody>
      </p:sp>
      <p:sp>
        <p:nvSpPr>
          <p:cNvPr name="TextBox 13" id="13"/>
          <p:cNvSpPr txBox="true"/>
          <p:nvPr/>
        </p:nvSpPr>
        <p:spPr>
          <a:xfrm rot="0">
            <a:off x="1379999" y="5694284"/>
            <a:ext cx="5771513" cy="1530671"/>
          </a:xfrm>
          <a:prstGeom prst="rect">
            <a:avLst/>
          </a:prstGeom>
        </p:spPr>
        <p:txBody>
          <a:bodyPr anchor="t" rtlCol="false" tIns="0" lIns="0" bIns="0" rIns="0">
            <a:spAutoFit/>
          </a:bodyPr>
          <a:lstStyle/>
          <a:p>
            <a:pPr algn="l">
              <a:lnSpc>
                <a:spcPts val="3027"/>
              </a:lnSpc>
            </a:pPr>
            <a:r>
              <a:rPr lang="en-US" sz="2522">
                <a:solidFill>
                  <a:srgbClr val="333333"/>
                </a:solidFill>
                <a:latin typeface="Public Sans"/>
                <a:ea typeface="Public Sans"/>
                <a:cs typeface="Public Sans"/>
                <a:sym typeface="Public Sans"/>
              </a:rPr>
              <a:t>Là trạng thái mà tất cả hàng xóm đều có giá trị heuristic lớn hơn hoặc bằng trạng thái hiện tại → tác tử dừng lại dù chưa đến đích.</a:t>
            </a:r>
          </a:p>
        </p:txBody>
      </p:sp>
      <p:sp>
        <p:nvSpPr>
          <p:cNvPr name="TextBox 14" id="14"/>
          <p:cNvSpPr txBox="true"/>
          <p:nvPr/>
        </p:nvSpPr>
        <p:spPr>
          <a:xfrm rot="0">
            <a:off x="874173" y="8639175"/>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May 2023</a:t>
            </a:r>
          </a:p>
        </p:txBody>
      </p:sp>
      <p:sp>
        <p:nvSpPr>
          <p:cNvPr name="TextBox 15" id="15"/>
          <p:cNvSpPr txBox="true"/>
          <p:nvPr/>
        </p:nvSpPr>
        <p:spPr>
          <a:xfrm rot="0">
            <a:off x="12222482" y="876342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Rimberio Co.</a:t>
            </a:r>
          </a:p>
        </p:txBody>
      </p:sp>
      <p:sp>
        <p:nvSpPr>
          <p:cNvPr name="TextBox 16" id="16"/>
          <p:cNvSpPr txBox="true"/>
          <p:nvPr/>
        </p:nvSpPr>
        <p:spPr>
          <a:xfrm rot="0">
            <a:off x="10476872" y="5831506"/>
            <a:ext cx="5425047" cy="1162050"/>
          </a:xfrm>
          <a:prstGeom prst="rect">
            <a:avLst/>
          </a:prstGeom>
        </p:spPr>
        <p:txBody>
          <a:bodyPr anchor="t" rtlCol="false" tIns="0" lIns="0" bIns="0" rIns="0">
            <a:spAutoFit/>
          </a:bodyPr>
          <a:lstStyle/>
          <a:p>
            <a:pPr algn="l">
              <a:lnSpc>
                <a:spcPts val="3024"/>
              </a:lnSpc>
            </a:pPr>
            <a:r>
              <a:rPr lang="en-US" sz="2520">
                <a:solidFill>
                  <a:srgbClr val="333333"/>
                </a:solidFill>
                <a:latin typeface="Public Sans"/>
                <a:ea typeface="Public Sans"/>
                <a:cs typeface="Public Sans"/>
                <a:sym typeface="Public Sans"/>
              </a:rPr>
              <a:t>Là</a:t>
            </a:r>
            <a:r>
              <a:rPr lang="en-US" sz="2520">
                <a:solidFill>
                  <a:srgbClr val="333333"/>
                </a:solidFill>
                <a:latin typeface="Public Sans"/>
                <a:ea typeface="Public Sans"/>
                <a:cs typeface="Public Sans"/>
                <a:sym typeface="Public Sans"/>
              </a:rPr>
              <a:t> vùng có nhiều ô có cùng giá trị heuristic, khiến thuật toán không thể phân biệt hướng tốt hơn.</a:t>
            </a:r>
          </a:p>
        </p:txBody>
      </p:sp>
      <p:grpSp>
        <p:nvGrpSpPr>
          <p:cNvPr name="Group 17" id="17"/>
          <p:cNvGrpSpPr/>
          <p:nvPr/>
        </p:nvGrpSpPr>
        <p:grpSpPr>
          <a:xfrm rot="0">
            <a:off x="9750289" y="3906034"/>
            <a:ext cx="4632790" cy="896772"/>
            <a:chOff x="0" y="0"/>
            <a:chExt cx="3411676" cy="660400"/>
          </a:xfrm>
        </p:grpSpPr>
        <p:sp>
          <p:nvSpPr>
            <p:cNvPr name="Freeform 18" id="18"/>
            <p:cNvSpPr/>
            <p:nvPr/>
          </p:nvSpPr>
          <p:spPr>
            <a:xfrm flipH="false" flipV="false" rot="0">
              <a:off x="0" y="0"/>
              <a:ext cx="3411676" cy="660400"/>
            </a:xfrm>
            <a:custGeom>
              <a:avLst/>
              <a:gdLst/>
              <a:ahLst/>
              <a:cxnLst/>
              <a:rect r="r" b="b" t="t" l="l"/>
              <a:pathLst>
                <a:path h="660400" w="3411676">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333333"/>
            </a:solidFill>
          </p:spPr>
        </p:sp>
      </p:grpSp>
      <p:sp>
        <p:nvSpPr>
          <p:cNvPr name="TextBox 19" id="19"/>
          <p:cNvSpPr txBox="true"/>
          <p:nvPr/>
        </p:nvSpPr>
        <p:spPr>
          <a:xfrm rot="0">
            <a:off x="10140828" y="4173445"/>
            <a:ext cx="3851713" cy="352425"/>
          </a:xfrm>
          <a:prstGeom prst="rect">
            <a:avLst/>
          </a:prstGeom>
        </p:spPr>
        <p:txBody>
          <a:bodyPr anchor="t" rtlCol="false" tIns="0" lIns="0" bIns="0" rIns="0">
            <a:spAutoFit/>
          </a:bodyPr>
          <a:lstStyle/>
          <a:p>
            <a:pPr algn="ctr">
              <a:lnSpc>
                <a:spcPts val="2760"/>
              </a:lnSpc>
            </a:pPr>
            <a:r>
              <a:rPr lang="en-US" b="true" sz="2300">
                <a:solidFill>
                  <a:srgbClr val="F5F5F4"/>
                </a:solidFill>
                <a:latin typeface="Public Sans Bold"/>
                <a:ea typeface="Public Sans Bold"/>
                <a:cs typeface="Public Sans Bold"/>
                <a:sym typeface="Public Sans Bold"/>
              </a:rPr>
              <a:t>Điểm bằng phẳng (plateau):</a:t>
            </a:r>
          </a:p>
        </p:txBody>
      </p:sp>
      <p:sp>
        <p:nvSpPr>
          <p:cNvPr name="TextBox 20" id="20"/>
          <p:cNvSpPr txBox="true"/>
          <p:nvPr/>
        </p:nvSpPr>
        <p:spPr>
          <a:xfrm rot="0">
            <a:off x="1379999" y="3124592"/>
            <a:ext cx="4976569" cy="514350"/>
          </a:xfrm>
          <a:prstGeom prst="rect">
            <a:avLst/>
          </a:prstGeom>
        </p:spPr>
        <p:txBody>
          <a:bodyPr anchor="t" rtlCol="false" tIns="0" lIns="0" bIns="0" rIns="0">
            <a:spAutoFit/>
          </a:bodyPr>
          <a:lstStyle/>
          <a:p>
            <a:pPr algn="l">
              <a:lnSpc>
                <a:spcPts val="4072"/>
              </a:lnSpc>
            </a:pPr>
            <a:r>
              <a:rPr lang="en-US" b="true" sz="3393" i="true" spc="-166">
                <a:solidFill>
                  <a:srgbClr val="333333"/>
                </a:solidFill>
                <a:latin typeface="Noto Serif Display Semi-Bold Italics"/>
                <a:ea typeface="Noto Serif Display Semi-Bold Italics"/>
                <a:cs typeface="Noto Serif Display Semi-Bold Italics"/>
                <a:sym typeface="Noto Serif Display Semi-Bold Italics"/>
              </a:rPr>
              <a:t>Cực đại cục bộ &amp; Plateau</a:t>
            </a:r>
          </a:p>
        </p:txBody>
      </p:sp>
      <p:sp>
        <p:nvSpPr>
          <p:cNvPr name="TextBox 21" id="21"/>
          <p:cNvSpPr txBox="true"/>
          <p:nvPr/>
        </p:nvSpPr>
        <p:spPr>
          <a:xfrm rot="0">
            <a:off x="2127499" y="8201025"/>
            <a:ext cx="14033003" cy="495300"/>
          </a:xfrm>
          <a:prstGeom prst="rect">
            <a:avLst/>
          </a:prstGeom>
        </p:spPr>
        <p:txBody>
          <a:bodyPr anchor="t" rtlCol="false" tIns="0" lIns="0" bIns="0" rIns="0">
            <a:spAutoFit/>
          </a:bodyPr>
          <a:lstStyle/>
          <a:p>
            <a:pPr algn="l">
              <a:lnSpc>
                <a:spcPts val="3855"/>
              </a:lnSpc>
            </a:pPr>
            <a:r>
              <a:rPr lang="en-US" sz="3212">
                <a:solidFill>
                  <a:srgbClr val="333333"/>
                </a:solidFill>
                <a:latin typeface="Public Sans"/>
                <a:ea typeface="Public Sans"/>
                <a:cs typeface="Public Sans"/>
                <a:sym typeface="Public Sans"/>
              </a:rPr>
              <a:t>Là nguyên nhân chính khiến thuật toán thất bại trong </a:t>
            </a:r>
            <a:r>
              <a:rPr lang="en-US" sz="3212">
                <a:solidFill>
                  <a:srgbClr val="333333"/>
                </a:solidFill>
                <a:latin typeface="Public Sans"/>
                <a:ea typeface="Public Sans"/>
                <a:cs typeface="Public Sans"/>
                <a:sym typeface="Public Sans"/>
              </a:rPr>
              <a:t>mê</a:t>
            </a:r>
            <a:r>
              <a:rPr lang="en-US" sz="3212">
                <a:solidFill>
                  <a:srgbClr val="333333"/>
                </a:solidFill>
                <a:latin typeface="Public Sans"/>
                <a:ea typeface="Public Sans"/>
                <a:cs typeface="Public Sans"/>
                <a:sym typeface="Public Sans"/>
              </a:rPr>
              <a:t> cung phức tạp.</a:t>
            </a: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grpSp>
        <p:nvGrpSpPr>
          <p:cNvPr name="Group 3" id="3"/>
          <p:cNvGrpSpPr/>
          <p:nvPr/>
        </p:nvGrpSpPr>
        <p:grpSpPr>
          <a:xfrm rot="0">
            <a:off x="874173" y="4259243"/>
            <a:ext cx="7314595" cy="4321431"/>
            <a:chOff x="0" y="0"/>
            <a:chExt cx="6503969" cy="3842517"/>
          </a:xfrm>
        </p:grpSpPr>
        <p:sp>
          <p:nvSpPr>
            <p:cNvPr name="Freeform 4" id="4"/>
            <p:cNvSpPr/>
            <p:nvPr/>
          </p:nvSpPr>
          <p:spPr>
            <a:xfrm flipH="false" flipV="false" rot="0">
              <a:off x="0" y="0"/>
              <a:ext cx="6503969" cy="3842517"/>
            </a:xfrm>
            <a:custGeom>
              <a:avLst/>
              <a:gdLst/>
              <a:ahLst/>
              <a:cxnLst/>
              <a:rect r="r" b="b" t="t" l="l"/>
              <a:pathLst>
                <a:path h="3842517" w="6503969">
                  <a:moveTo>
                    <a:pt x="6379509" y="59690"/>
                  </a:moveTo>
                  <a:cubicBezTo>
                    <a:pt x="6415069" y="59690"/>
                    <a:pt x="6444279" y="88900"/>
                    <a:pt x="6444279" y="124460"/>
                  </a:cubicBezTo>
                  <a:lnTo>
                    <a:pt x="6444279" y="3718057"/>
                  </a:lnTo>
                  <a:cubicBezTo>
                    <a:pt x="6444279" y="3753617"/>
                    <a:pt x="6415069" y="3782827"/>
                    <a:pt x="6379509" y="3782827"/>
                  </a:cubicBezTo>
                  <a:lnTo>
                    <a:pt x="124460" y="3782827"/>
                  </a:lnTo>
                  <a:cubicBezTo>
                    <a:pt x="88900" y="3782827"/>
                    <a:pt x="59690" y="3753617"/>
                    <a:pt x="59690" y="3718057"/>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3718057"/>
                  </a:lnTo>
                  <a:cubicBezTo>
                    <a:pt x="0" y="3786637"/>
                    <a:pt x="55880" y="3842517"/>
                    <a:pt x="124460" y="3842517"/>
                  </a:cubicBezTo>
                  <a:lnTo>
                    <a:pt x="6379509" y="3842517"/>
                  </a:lnTo>
                  <a:cubicBezTo>
                    <a:pt x="6448089" y="3842517"/>
                    <a:pt x="6503969" y="3786637"/>
                    <a:pt x="6503969" y="3718057"/>
                  </a:cubicBezTo>
                  <a:lnTo>
                    <a:pt x="6503969" y="124460"/>
                  </a:lnTo>
                  <a:cubicBezTo>
                    <a:pt x="6503969" y="55880"/>
                    <a:pt x="6448089" y="0"/>
                    <a:pt x="6379509" y="0"/>
                  </a:cubicBezTo>
                  <a:close/>
                </a:path>
              </a:pathLst>
            </a:custGeom>
            <a:solidFill>
              <a:srgbClr val="333333"/>
            </a:solidFill>
          </p:spPr>
        </p:sp>
      </p:grpSp>
      <p:grpSp>
        <p:nvGrpSpPr>
          <p:cNvPr name="Group 5" id="5"/>
          <p:cNvGrpSpPr/>
          <p:nvPr/>
        </p:nvGrpSpPr>
        <p:grpSpPr>
          <a:xfrm rot="0">
            <a:off x="9750289" y="4259243"/>
            <a:ext cx="7314595" cy="4321431"/>
            <a:chOff x="0" y="0"/>
            <a:chExt cx="6503969" cy="3842517"/>
          </a:xfrm>
        </p:grpSpPr>
        <p:sp>
          <p:nvSpPr>
            <p:cNvPr name="Freeform 6" id="6"/>
            <p:cNvSpPr/>
            <p:nvPr/>
          </p:nvSpPr>
          <p:spPr>
            <a:xfrm flipH="false" flipV="false" rot="0">
              <a:off x="0" y="0"/>
              <a:ext cx="6503969" cy="3842517"/>
            </a:xfrm>
            <a:custGeom>
              <a:avLst/>
              <a:gdLst/>
              <a:ahLst/>
              <a:cxnLst/>
              <a:rect r="r" b="b" t="t" l="l"/>
              <a:pathLst>
                <a:path h="3842517" w="6503969">
                  <a:moveTo>
                    <a:pt x="6379509" y="59690"/>
                  </a:moveTo>
                  <a:cubicBezTo>
                    <a:pt x="6415069" y="59690"/>
                    <a:pt x="6444279" y="88900"/>
                    <a:pt x="6444279" y="124460"/>
                  </a:cubicBezTo>
                  <a:lnTo>
                    <a:pt x="6444279" y="3718057"/>
                  </a:lnTo>
                  <a:cubicBezTo>
                    <a:pt x="6444279" y="3753617"/>
                    <a:pt x="6415069" y="3782827"/>
                    <a:pt x="6379509" y="3782827"/>
                  </a:cubicBezTo>
                  <a:lnTo>
                    <a:pt x="124460" y="3782827"/>
                  </a:lnTo>
                  <a:cubicBezTo>
                    <a:pt x="88900" y="3782827"/>
                    <a:pt x="59690" y="3753617"/>
                    <a:pt x="59690" y="3718057"/>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3718057"/>
                  </a:lnTo>
                  <a:cubicBezTo>
                    <a:pt x="0" y="3786637"/>
                    <a:pt x="55880" y="3842517"/>
                    <a:pt x="124460" y="3842517"/>
                  </a:cubicBezTo>
                  <a:lnTo>
                    <a:pt x="6379509" y="3842517"/>
                  </a:lnTo>
                  <a:cubicBezTo>
                    <a:pt x="6448089" y="3842517"/>
                    <a:pt x="6503969" y="3786637"/>
                    <a:pt x="6503969" y="3718057"/>
                  </a:cubicBezTo>
                  <a:lnTo>
                    <a:pt x="6503969" y="124460"/>
                  </a:lnTo>
                  <a:cubicBezTo>
                    <a:pt x="6503969" y="55880"/>
                    <a:pt x="6448089" y="0"/>
                    <a:pt x="6379509" y="0"/>
                  </a:cubicBezTo>
                  <a:close/>
                </a:path>
              </a:pathLst>
            </a:custGeom>
            <a:solidFill>
              <a:srgbClr val="333333"/>
            </a:solidFill>
          </p:spPr>
        </p:sp>
      </p:grpSp>
      <p:grpSp>
        <p:nvGrpSpPr>
          <p:cNvPr name="Group 7" id="7"/>
          <p:cNvGrpSpPr/>
          <p:nvPr/>
        </p:nvGrpSpPr>
        <p:grpSpPr>
          <a:xfrm rot="0">
            <a:off x="874173" y="3333750"/>
            <a:ext cx="3993857" cy="773093"/>
            <a:chOff x="0" y="0"/>
            <a:chExt cx="3411676" cy="660400"/>
          </a:xfrm>
        </p:grpSpPr>
        <p:sp>
          <p:nvSpPr>
            <p:cNvPr name="Freeform 8" id="8"/>
            <p:cNvSpPr/>
            <p:nvPr/>
          </p:nvSpPr>
          <p:spPr>
            <a:xfrm flipH="false" flipV="false" rot="0">
              <a:off x="0" y="0"/>
              <a:ext cx="3411676" cy="660400"/>
            </a:xfrm>
            <a:custGeom>
              <a:avLst/>
              <a:gdLst/>
              <a:ahLst/>
              <a:cxnLst/>
              <a:rect r="r" b="b" t="t" l="l"/>
              <a:pathLst>
                <a:path h="660400" w="3411676">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333333"/>
            </a:solidFill>
          </p:spPr>
        </p:sp>
      </p:grpSp>
      <p:grpSp>
        <p:nvGrpSpPr>
          <p:cNvPr name="Group 9" id="9"/>
          <p:cNvGrpSpPr/>
          <p:nvPr/>
        </p:nvGrpSpPr>
        <p:grpSpPr>
          <a:xfrm rot="0">
            <a:off x="9750289" y="3333750"/>
            <a:ext cx="3993857" cy="773093"/>
            <a:chOff x="0" y="0"/>
            <a:chExt cx="3411676" cy="660400"/>
          </a:xfrm>
        </p:grpSpPr>
        <p:sp>
          <p:nvSpPr>
            <p:cNvPr name="Freeform 10" id="10"/>
            <p:cNvSpPr/>
            <p:nvPr/>
          </p:nvSpPr>
          <p:spPr>
            <a:xfrm flipH="false" flipV="false" rot="0">
              <a:off x="0" y="0"/>
              <a:ext cx="3411676" cy="660400"/>
            </a:xfrm>
            <a:custGeom>
              <a:avLst/>
              <a:gdLst/>
              <a:ahLst/>
              <a:cxnLst/>
              <a:rect r="r" b="b" t="t" l="l"/>
              <a:pathLst>
                <a:path h="660400" w="3411676">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333333"/>
            </a:solidFill>
          </p:spPr>
        </p:sp>
      </p:grpSp>
      <p:sp>
        <p:nvSpPr>
          <p:cNvPr name="TextBox 11" id="11"/>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Marketing Strategy</a:t>
            </a:r>
          </a:p>
        </p:txBody>
      </p:sp>
      <p:sp>
        <p:nvSpPr>
          <p:cNvPr name="TextBox 12" id="12"/>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13" id="13"/>
          <p:cNvSpPr txBox="true"/>
          <p:nvPr/>
        </p:nvSpPr>
        <p:spPr>
          <a:xfrm rot="0">
            <a:off x="1028700" y="2257793"/>
            <a:ext cx="15846290" cy="647700"/>
          </a:xfrm>
          <a:prstGeom prst="rect">
            <a:avLst/>
          </a:prstGeom>
        </p:spPr>
        <p:txBody>
          <a:bodyPr anchor="t" rtlCol="false" tIns="0" lIns="0" bIns="0" rIns="0">
            <a:spAutoFit/>
          </a:bodyPr>
          <a:lstStyle/>
          <a:p>
            <a:pPr algn="ctr">
              <a:lnSpc>
                <a:spcPts val="5160"/>
              </a:lnSpc>
            </a:pPr>
            <a:r>
              <a:rPr lang="en-US" b="true" sz="4300" i="true" spc="-210">
                <a:solidFill>
                  <a:srgbClr val="333333"/>
                </a:solidFill>
                <a:latin typeface="Noto Serif Display Semi-Bold Italics"/>
                <a:ea typeface="Noto Serif Display Semi-Bold Italics"/>
                <a:cs typeface="Noto Serif Display Semi-Bold Italics"/>
                <a:sym typeface="Noto Serif Display Semi-Bold Italics"/>
              </a:rPr>
              <a:t>4. Ưu – Nhược điểm của Simple Hill Climbing trong bài toán Maze</a:t>
            </a:r>
          </a:p>
        </p:txBody>
      </p:sp>
      <p:sp>
        <p:nvSpPr>
          <p:cNvPr name="TextBox 14" id="14"/>
          <p:cNvSpPr txBox="true"/>
          <p:nvPr/>
        </p:nvSpPr>
        <p:spPr>
          <a:xfrm rot="0">
            <a:off x="874173" y="3477409"/>
            <a:ext cx="3851713" cy="381000"/>
          </a:xfrm>
          <a:prstGeom prst="rect">
            <a:avLst/>
          </a:prstGeom>
        </p:spPr>
        <p:txBody>
          <a:bodyPr anchor="t" rtlCol="false" tIns="0" lIns="0" bIns="0" rIns="0">
            <a:spAutoFit/>
          </a:bodyPr>
          <a:lstStyle/>
          <a:p>
            <a:pPr algn="ctr">
              <a:lnSpc>
                <a:spcPts val="2999"/>
              </a:lnSpc>
            </a:pPr>
            <a:r>
              <a:rPr lang="en-US" sz="2499">
                <a:solidFill>
                  <a:srgbClr val="F5F5F4"/>
                </a:solidFill>
                <a:latin typeface="Public Sans"/>
                <a:ea typeface="Public Sans"/>
                <a:cs typeface="Public Sans"/>
                <a:sym typeface="Public Sans"/>
              </a:rPr>
              <a:t>Ưu điểm</a:t>
            </a:r>
          </a:p>
        </p:txBody>
      </p:sp>
      <p:sp>
        <p:nvSpPr>
          <p:cNvPr name="TextBox 15" id="15"/>
          <p:cNvSpPr txBox="true"/>
          <p:nvPr/>
        </p:nvSpPr>
        <p:spPr>
          <a:xfrm rot="0">
            <a:off x="9750289" y="3525034"/>
            <a:ext cx="3851713" cy="381000"/>
          </a:xfrm>
          <a:prstGeom prst="rect">
            <a:avLst/>
          </a:prstGeom>
        </p:spPr>
        <p:txBody>
          <a:bodyPr anchor="t" rtlCol="false" tIns="0" lIns="0" bIns="0" rIns="0">
            <a:spAutoFit/>
          </a:bodyPr>
          <a:lstStyle/>
          <a:p>
            <a:pPr algn="ctr">
              <a:lnSpc>
                <a:spcPts val="2999"/>
              </a:lnSpc>
            </a:pPr>
            <a:r>
              <a:rPr lang="en-US" b="true" sz="2499">
                <a:solidFill>
                  <a:srgbClr val="F5F5F4"/>
                </a:solidFill>
                <a:latin typeface="Public Sans Bold"/>
                <a:ea typeface="Public Sans Bold"/>
                <a:cs typeface="Public Sans Bold"/>
                <a:sym typeface="Public Sans Bold"/>
              </a:rPr>
              <a:t>Nhược điểm</a:t>
            </a:r>
          </a:p>
        </p:txBody>
      </p:sp>
      <p:sp>
        <p:nvSpPr>
          <p:cNvPr name="TextBox 16" id="16"/>
          <p:cNvSpPr txBox="true"/>
          <p:nvPr/>
        </p:nvSpPr>
        <p:spPr>
          <a:xfrm rot="0">
            <a:off x="1236901" y="5668932"/>
            <a:ext cx="6589139" cy="1581150"/>
          </a:xfrm>
          <a:prstGeom prst="rect">
            <a:avLst/>
          </a:prstGeom>
        </p:spPr>
        <p:txBody>
          <a:bodyPr anchor="t" rtlCol="false" tIns="0" lIns="0" bIns="0" rIns="0">
            <a:spAutoFit/>
          </a:bodyPr>
          <a:lstStyle/>
          <a:p>
            <a:pPr algn="l" marL="561341" indent="-280670" lvl="1">
              <a:lnSpc>
                <a:spcPts val="3120"/>
              </a:lnSpc>
              <a:buFont typeface="Arial"/>
              <a:buChar char="•"/>
            </a:pPr>
            <a:r>
              <a:rPr lang="en-US" sz="2600">
                <a:solidFill>
                  <a:srgbClr val="333333"/>
                </a:solidFill>
                <a:latin typeface="Public Sans"/>
                <a:ea typeface="Public Sans"/>
                <a:cs typeface="Public Sans"/>
                <a:sym typeface="Public Sans"/>
              </a:rPr>
              <a:t>Dễ cài đặt, chạy nhanh, trực quan</a:t>
            </a:r>
          </a:p>
          <a:p>
            <a:pPr algn="l" marL="561341" indent="-280670" lvl="1">
              <a:lnSpc>
                <a:spcPts val="3120"/>
              </a:lnSpc>
              <a:buFont typeface="Arial"/>
              <a:buChar char="•"/>
            </a:pPr>
            <a:r>
              <a:rPr lang="en-US" sz="2600">
                <a:solidFill>
                  <a:srgbClr val="333333"/>
                </a:solidFill>
                <a:latin typeface="Public Sans"/>
                <a:ea typeface="Public Sans"/>
                <a:cs typeface="Public Sans"/>
                <a:sym typeface="Public Sans"/>
              </a:rPr>
              <a:t>Không cần lưu lịch sử trạng thái</a:t>
            </a:r>
          </a:p>
          <a:p>
            <a:pPr algn="l" marL="561341" indent="-280670" lvl="1">
              <a:lnSpc>
                <a:spcPts val="3120"/>
              </a:lnSpc>
              <a:buFont typeface="Arial"/>
              <a:buChar char="•"/>
            </a:pPr>
            <a:r>
              <a:rPr lang="en-US" sz="2600">
                <a:solidFill>
                  <a:srgbClr val="333333"/>
                </a:solidFill>
                <a:latin typeface="Public Sans"/>
                <a:ea typeface="Public Sans"/>
                <a:cs typeface="Public Sans"/>
                <a:sym typeface="Public Sans"/>
              </a:rPr>
              <a:t>Có thể trực quan hóa bằng animation</a:t>
            </a:r>
          </a:p>
          <a:p>
            <a:pPr algn="l">
              <a:lnSpc>
                <a:spcPts val="3120"/>
              </a:lnSpc>
            </a:pPr>
          </a:p>
        </p:txBody>
      </p:sp>
      <p:sp>
        <p:nvSpPr>
          <p:cNvPr name="TextBox 17" id="17"/>
          <p:cNvSpPr txBox="true"/>
          <p:nvPr/>
        </p:nvSpPr>
        <p:spPr>
          <a:xfrm rot="0">
            <a:off x="10113017" y="5278407"/>
            <a:ext cx="6589139" cy="2362200"/>
          </a:xfrm>
          <a:prstGeom prst="rect">
            <a:avLst/>
          </a:prstGeom>
        </p:spPr>
        <p:txBody>
          <a:bodyPr anchor="t" rtlCol="false" tIns="0" lIns="0" bIns="0" rIns="0">
            <a:spAutoFit/>
          </a:bodyPr>
          <a:lstStyle/>
          <a:p>
            <a:pPr algn="l" marL="561341" indent="-280670" lvl="1">
              <a:lnSpc>
                <a:spcPts val="3120"/>
              </a:lnSpc>
              <a:buFont typeface="Arial"/>
              <a:buChar char="•"/>
            </a:pPr>
            <a:r>
              <a:rPr lang="en-US" sz="2600">
                <a:solidFill>
                  <a:srgbClr val="333333"/>
                </a:solidFill>
                <a:latin typeface="Public Sans"/>
                <a:ea typeface="Public Sans"/>
                <a:cs typeface="Public Sans"/>
                <a:sym typeface="Public Sans"/>
              </a:rPr>
              <a:t>Dễ bị kẹt tại cực đại cục bộ hoặc plateau</a:t>
            </a:r>
          </a:p>
          <a:p>
            <a:pPr algn="l" marL="561341" indent="-280670" lvl="1">
              <a:lnSpc>
                <a:spcPts val="3120"/>
              </a:lnSpc>
              <a:buFont typeface="Arial"/>
              <a:buChar char="•"/>
            </a:pPr>
            <a:r>
              <a:rPr lang="en-US" sz="2600">
                <a:solidFill>
                  <a:srgbClr val="333333"/>
                </a:solidFill>
                <a:latin typeface="Public Sans"/>
                <a:ea typeface="Public Sans"/>
                <a:cs typeface="Public Sans"/>
                <a:sym typeface="Public Sans"/>
              </a:rPr>
              <a:t>Heuristic không phản ánh đúng khi có nhiều chướng ngại vật</a:t>
            </a:r>
          </a:p>
          <a:p>
            <a:pPr algn="l" marL="561341" indent="-280670" lvl="1">
              <a:lnSpc>
                <a:spcPts val="3120"/>
              </a:lnSpc>
              <a:buFont typeface="Arial"/>
              <a:buChar char="•"/>
            </a:pPr>
            <a:r>
              <a:rPr lang="en-US" sz="2600">
                <a:solidFill>
                  <a:srgbClr val="333333"/>
                </a:solidFill>
                <a:latin typeface="Public Sans"/>
                <a:ea typeface="Public Sans"/>
                <a:cs typeface="Public Sans"/>
                <a:sym typeface="Public Sans"/>
              </a:rPr>
              <a:t>Không đảm bảo luôn tìm được đường đến đích G</a:t>
            </a:r>
          </a:p>
        </p:txBody>
      </p:sp>
      <p:sp>
        <p:nvSpPr>
          <p:cNvPr name="TextBox 18" id="18"/>
          <p:cNvSpPr txBox="true"/>
          <p:nvPr/>
        </p:nvSpPr>
        <p:spPr>
          <a:xfrm rot="0">
            <a:off x="1028700" y="8763000"/>
            <a:ext cx="16230600" cy="828675"/>
          </a:xfrm>
          <a:prstGeom prst="rect">
            <a:avLst/>
          </a:prstGeom>
        </p:spPr>
        <p:txBody>
          <a:bodyPr anchor="t" rtlCol="false" tIns="0" lIns="0" bIns="0" rIns="0">
            <a:spAutoFit/>
          </a:bodyPr>
          <a:lstStyle/>
          <a:p>
            <a:pPr algn="ctr">
              <a:lnSpc>
                <a:spcPts val="3239"/>
              </a:lnSpc>
            </a:pPr>
            <a:r>
              <a:rPr lang="en-US" sz="2699">
                <a:solidFill>
                  <a:srgbClr val="333333"/>
                </a:solidFill>
                <a:latin typeface="Public Sans"/>
                <a:ea typeface="Public Sans"/>
                <a:cs typeface="Public Sans"/>
                <a:sym typeface="Public Sans"/>
              </a:rPr>
              <a:t>Simple Hill Climbing tuy nhanh và đơn giản nhưng dễ bị kẹt ở cực đại cục bộ, đặc biệt khi heuristic sai lệch do chướng ngại vật, khiến tác tử dừng lại trước khi đến đích.</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10844196" y="1766055"/>
            <a:ext cx="6729921" cy="8520945"/>
          </a:xfrm>
          <a:custGeom>
            <a:avLst/>
            <a:gdLst/>
            <a:ahLst/>
            <a:cxnLst/>
            <a:rect r="r" b="b" t="t" l="l"/>
            <a:pathLst>
              <a:path h="8520945" w="6729921">
                <a:moveTo>
                  <a:pt x="0" y="0"/>
                </a:moveTo>
                <a:lnTo>
                  <a:pt x="6729921" y="0"/>
                </a:lnTo>
                <a:lnTo>
                  <a:pt x="6729921" y="8520945"/>
                </a:lnTo>
                <a:lnTo>
                  <a:pt x="0" y="8520945"/>
                </a:lnTo>
                <a:lnTo>
                  <a:pt x="0" y="0"/>
                </a:lnTo>
                <a:close/>
              </a:path>
            </a:pathLst>
          </a:custGeom>
          <a:blipFill>
            <a:blip r:embed="rId2"/>
            <a:stretch>
              <a:fillRect l="0" t="-216" r="-12417" b="-216"/>
            </a:stretch>
          </a:blipFill>
        </p:spPr>
      </p:sp>
      <p:sp>
        <p:nvSpPr>
          <p:cNvPr name="TextBox 4" id="4"/>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Financial Numbers Chart</a:t>
            </a:r>
          </a:p>
        </p:txBody>
      </p:sp>
      <p:sp>
        <p:nvSpPr>
          <p:cNvPr name="TextBox 5" id="5"/>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6" id="6"/>
          <p:cNvSpPr txBox="true"/>
          <p:nvPr/>
        </p:nvSpPr>
        <p:spPr>
          <a:xfrm rot="0">
            <a:off x="1271291" y="4205933"/>
            <a:ext cx="8795594" cy="4381500"/>
          </a:xfrm>
          <a:prstGeom prst="rect">
            <a:avLst/>
          </a:prstGeom>
        </p:spPr>
        <p:txBody>
          <a:bodyPr anchor="t" rtlCol="false" tIns="0" lIns="0" bIns="0" rIns="0">
            <a:spAutoFit/>
          </a:bodyPr>
          <a:lstStyle/>
          <a:p>
            <a:pPr algn="l" marL="693624" indent="-346812" lvl="1">
              <a:lnSpc>
                <a:spcPts val="3855"/>
              </a:lnSpc>
              <a:buFont typeface="Arial"/>
              <a:buChar char="•"/>
            </a:pPr>
            <a:r>
              <a:rPr lang="en-US" sz="3212">
                <a:solidFill>
                  <a:srgbClr val="333333"/>
                </a:solidFill>
                <a:latin typeface="Public Sans"/>
                <a:ea typeface="Public Sans"/>
                <a:cs typeface="Public Sans"/>
                <a:sym typeface="Public Sans"/>
              </a:rPr>
              <a:t>Kết quả chạy thực tế:</a:t>
            </a:r>
          </a:p>
          <a:p>
            <a:pPr algn="l" marL="1387247" indent="-462416" lvl="2">
              <a:lnSpc>
                <a:spcPts val="3855"/>
              </a:lnSpc>
              <a:buFont typeface="Arial"/>
              <a:buChar char="⚬"/>
            </a:pPr>
            <a:r>
              <a:rPr lang="en-US" sz="3212">
                <a:solidFill>
                  <a:srgbClr val="333333"/>
                </a:solidFill>
                <a:latin typeface="Public Sans"/>
                <a:ea typeface="Public Sans"/>
                <a:cs typeface="Public Sans"/>
                <a:sym typeface="Public Sans"/>
              </a:rPr>
              <a:t>Bắt đầu tại (9,5) với h = 14</a:t>
            </a:r>
          </a:p>
          <a:p>
            <a:pPr algn="l" marL="1387247" indent="-462416" lvl="2">
              <a:lnSpc>
                <a:spcPts val="3855"/>
              </a:lnSpc>
              <a:buFont typeface="Arial"/>
              <a:buChar char="⚬"/>
            </a:pPr>
            <a:r>
              <a:rPr lang="en-US" sz="3212">
                <a:solidFill>
                  <a:srgbClr val="333333"/>
                </a:solidFill>
                <a:latin typeface="Public Sans"/>
                <a:ea typeface="Public Sans"/>
                <a:cs typeface="Public Sans"/>
                <a:sym typeface="Public Sans"/>
              </a:rPr>
              <a:t>Di chuyển qua: (8,5) → (7,5) → (6,5) → (5,5) → (5,6) → (5,7) → (5,8) → (5,9)</a:t>
            </a:r>
          </a:p>
          <a:p>
            <a:pPr algn="l" marL="1387247" indent="-462416" lvl="2">
              <a:lnSpc>
                <a:spcPts val="3855"/>
              </a:lnSpc>
              <a:buFont typeface="Arial"/>
              <a:buChar char="⚬"/>
            </a:pPr>
            <a:r>
              <a:rPr lang="en-US" sz="3212">
                <a:solidFill>
                  <a:srgbClr val="333333"/>
                </a:solidFill>
                <a:latin typeface="Public Sans"/>
                <a:ea typeface="Public Sans"/>
                <a:cs typeface="Public Sans"/>
                <a:sym typeface="Public Sans"/>
              </a:rPr>
              <a:t>Dừng lại tại (5,9) với h = 6</a:t>
            </a:r>
          </a:p>
          <a:p>
            <a:pPr algn="l" marL="1387247" indent="-462416" lvl="2">
              <a:lnSpc>
                <a:spcPts val="3855"/>
              </a:lnSpc>
              <a:buFont typeface="Arial"/>
              <a:buChar char="⚬"/>
            </a:pPr>
            <a:r>
              <a:rPr lang="en-US" sz="3212">
                <a:solidFill>
                  <a:srgbClr val="333333"/>
                </a:solidFill>
                <a:latin typeface="Public Sans"/>
                <a:ea typeface="Public Sans"/>
                <a:cs typeface="Public Sans"/>
                <a:sym typeface="Public Sans"/>
              </a:rPr>
              <a:t>Tất cả hàng xóm có h = 7 → không có hướng tốt hơn</a:t>
            </a:r>
          </a:p>
          <a:p>
            <a:pPr algn="l">
              <a:lnSpc>
                <a:spcPts val="3855"/>
              </a:lnSpc>
            </a:pPr>
            <a:r>
              <a:rPr lang="en-US" sz="3212">
                <a:solidFill>
                  <a:srgbClr val="333333"/>
                </a:solidFill>
                <a:latin typeface="Public Sans"/>
                <a:ea typeface="Public Sans"/>
                <a:cs typeface="Public Sans"/>
                <a:sym typeface="Public Sans"/>
              </a:rPr>
              <a:t> Thông báo: “No better state... No solution found”</a:t>
            </a:r>
          </a:p>
        </p:txBody>
      </p:sp>
      <p:sp>
        <p:nvSpPr>
          <p:cNvPr name="TextBox 7" id="7"/>
          <p:cNvSpPr txBox="true"/>
          <p:nvPr/>
        </p:nvSpPr>
        <p:spPr>
          <a:xfrm rot="0">
            <a:off x="1511774" y="2405708"/>
            <a:ext cx="15550634" cy="590550"/>
          </a:xfrm>
          <a:prstGeom prst="rect">
            <a:avLst/>
          </a:prstGeom>
        </p:spPr>
        <p:txBody>
          <a:bodyPr anchor="t" rtlCol="false" tIns="0" lIns="0" bIns="0" rIns="0">
            <a:spAutoFit/>
          </a:bodyPr>
          <a:lstStyle/>
          <a:p>
            <a:pPr algn="l">
              <a:lnSpc>
                <a:spcPts val="4672"/>
              </a:lnSpc>
            </a:pPr>
            <a:r>
              <a:rPr lang="en-US" b="true" sz="3893" i="true" spc="-190">
                <a:solidFill>
                  <a:srgbClr val="333333"/>
                </a:solidFill>
                <a:latin typeface="Noto Serif Display Semi-Bold Italics"/>
                <a:ea typeface="Noto Serif Display Semi-Bold Italics"/>
                <a:cs typeface="Noto Serif Display Semi-Bold Italics"/>
                <a:sym typeface="Noto Serif Display Semi-Bold Italics"/>
              </a:rPr>
              <a:t>5. Kết quả thực nghiệm và phân tích</a:t>
            </a:r>
          </a:p>
        </p:txBody>
      </p:sp>
      <p:sp>
        <p:nvSpPr>
          <p:cNvPr name="TextBox 8" id="8"/>
          <p:cNvSpPr txBox="true"/>
          <p:nvPr/>
        </p:nvSpPr>
        <p:spPr>
          <a:xfrm rot="0">
            <a:off x="2129882" y="3348683"/>
            <a:ext cx="4976569" cy="514350"/>
          </a:xfrm>
          <a:prstGeom prst="rect">
            <a:avLst/>
          </a:prstGeom>
        </p:spPr>
        <p:txBody>
          <a:bodyPr anchor="t" rtlCol="false" tIns="0" lIns="0" bIns="0" rIns="0">
            <a:spAutoFit/>
          </a:bodyPr>
          <a:lstStyle/>
          <a:p>
            <a:pPr algn="l">
              <a:lnSpc>
                <a:spcPts val="4072"/>
              </a:lnSpc>
            </a:pPr>
            <a:r>
              <a:rPr lang="en-US" b="true" sz="3393" i="true" spc="-166">
                <a:solidFill>
                  <a:srgbClr val="333333"/>
                </a:solidFill>
                <a:latin typeface="Noto Serif Display Semi-Bold Italics"/>
                <a:ea typeface="Noto Serif Display Semi-Bold Italics"/>
                <a:cs typeface="Noto Serif Display Semi-Bold Italics"/>
                <a:sym typeface="Noto Serif Display Semi-Bold Italics"/>
              </a:rPr>
              <a:t>Log kết quả thực nghiệm</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1312690" y="3789592"/>
            <a:ext cx="3899848" cy="3758479"/>
          </a:xfrm>
          <a:custGeom>
            <a:avLst/>
            <a:gdLst/>
            <a:ahLst/>
            <a:cxnLst/>
            <a:rect r="r" b="b" t="t" l="l"/>
            <a:pathLst>
              <a:path h="3758479" w="3899848">
                <a:moveTo>
                  <a:pt x="0" y="0"/>
                </a:moveTo>
                <a:lnTo>
                  <a:pt x="3899849" y="0"/>
                </a:lnTo>
                <a:lnTo>
                  <a:pt x="3899849" y="3758479"/>
                </a:lnTo>
                <a:lnTo>
                  <a:pt x="0" y="3758479"/>
                </a:lnTo>
                <a:lnTo>
                  <a:pt x="0" y="0"/>
                </a:lnTo>
                <a:close/>
              </a:path>
            </a:pathLst>
          </a:custGeom>
          <a:blipFill>
            <a:blip r:embed="rId2"/>
            <a:stretch>
              <a:fillRect l="0" t="0" r="0" b="0"/>
            </a:stretch>
          </a:blipFill>
        </p:spPr>
      </p:sp>
      <p:sp>
        <p:nvSpPr>
          <p:cNvPr name="Freeform 4" id="4"/>
          <p:cNvSpPr/>
          <p:nvPr/>
        </p:nvSpPr>
        <p:spPr>
          <a:xfrm flipH="false" flipV="false" rot="0">
            <a:off x="12575220" y="3865792"/>
            <a:ext cx="3820782" cy="3682279"/>
          </a:xfrm>
          <a:custGeom>
            <a:avLst/>
            <a:gdLst/>
            <a:ahLst/>
            <a:cxnLst/>
            <a:rect r="r" b="b" t="t" l="l"/>
            <a:pathLst>
              <a:path h="3682279" w="3820782">
                <a:moveTo>
                  <a:pt x="0" y="0"/>
                </a:moveTo>
                <a:lnTo>
                  <a:pt x="3820782" y="0"/>
                </a:lnTo>
                <a:lnTo>
                  <a:pt x="3820782" y="3682279"/>
                </a:lnTo>
                <a:lnTo>
                  <a:pt x="0" y="3682279"/>
                </a:lnTo>
                <a:lnTo>
                  <a:pt x="0" y="0"/>
                </a:lnTo>
                <a:close/>
              </a:path>
            </a:pathLst>
          </a:custGeom>
          <a:blipFill>
            <a:blip r:embed="rId3"/>
            <a:stretch>
              <a:fillRect l="0" t="0" r="0" b="0"/>
            </a:stretch>
          </a:blipFill>
        </p:spPr>
      </p:sp>
      <p:sp>
        <p:nvSpPr>
          <p:cNvPr name="Freeform 5" id="5"/>
          <p:cNvSpPr/>
          <p:nvPr/>
        </p:nvSpPr>
        <p:spPr>
          <a:xfrm flipH="false" flipV="false" rot="0">
            <a:off x="5781527" y="3695022"/>
            <a:ext cx="5961213" cy="4023819"/>
          </a:xfrm>
          <a:custGeom>
            <a:avLst/>
            <a:gdLst/>
            <a:ahLst/>
            <a:cxnLst/>
            <a:rect r="r" b="b" t="t" l="l"/>
            <a:pathLst>
              <a:path h="4023819" w="5961213">
                <a:moveTo>
                  <a:pt x="0" y="0"/>
                </a:moveTo>
                <a:lnTo>
                  <a:pt x="5961214" y="0"/>
                </a:lnTo>
                <a:lnTo>
                  <a:pt x="5961214" y="4023819"/>
                </a:lnTo>
                <a:lnTo>
                  <a:pt x="0" y="4023819"/>
                </a:lnTo>
                <a:lnTo>
                  <a:pt x="0" y="0"/>
                </a:lnTo>
                <a:close/>
              </a:path>
            </a:pathLst>
          </a:custGeom>
          <a:blipFill>
            <a:blip r:embed="rId4"/>
            <a:stretch>
              <a:fillRect l="0" t="0" r="0" b="0"/>
            </a:stretch>
          </a:blipFill>
        </p:spPr>
      </p:sp>
      <p:sp>
        <p:nvSpPr>
          <p:cNvPr name="TextBox 6" id="6"/>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Financial Numbers Chart</a:t>
            </a:r>
          </a:p>
        </p:txBody>
      </p:sp>
      <p:sp>
        <p:nvSpPr>
          <p:cNvPr name="TextBox 7" id="7"/>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8" id="8"/>
          <p:cNvSpPr txBox="true"/>
          <p:nvPr/>
        </p:nvSpPr>
        <p:spPr>
          <a:xfrm rot="0">
            <a:off x="1368683" y="2132768"/>
            <a:ext cx="15550634" cy="590550"/>
          </a:xfrm>
          <a:prstGeom prst="rect">
            <a:avLst/>
          </a:prstGeom>
        </p:spPr>
        <p:txBody>
          <a:bodyPr anchor="t" rtlCol="false" tIns="0" lIns="0" bIns="0" rIns="0">
            <a:spAutoFit/>
          </a:bodyPr>
          <a:lstStyle/>
          <a:p>
            <a:pPr algn="l">
              <a:lnSpc>
                <a:spcPts val="4672"/>
              </a:lnSpc>
            </a:pPr>
            <a:r>
              <a:rPr lang="en-US" b="true" sz="3893" i="true" spc="-190">
                <a:solidFill>
                  <a:srgbClr val="333333"/>
                </a:solidFill>
                <a:latin typeface="Noto Serif Display Semi-Bold Italics"/>
                <a:ea typeface="Noto Serif Display Semi-Bold Italics"/>
                <a:cs typeface="Noto Serif Display Semi-Bold Italics"/>
                <a:sym typeface="Noto Serif Display Semi-Bold Italics"/>
              </a:rPr>
              <a:t>5. Kết quả thực nghiệm và phân tích</a:t>
            </a:r>
          </a:p>
        </p:txBody>
      </p:sp>
      <p:sp>
        <p:nvSpPr>
          <p:cNvPr name="TextBox 9" id="9"/>
          <p:cNvSpPr txBox="true"/>
          <p:nvPr/>
        </p:nvSpPr>
        <p:spPr>
          <a:xfrm rot="0">
            <a:off x="1997431" y="2999017"/>
            <a:ext cx="6092738" cy="514350"/>
          </a:xfrm>
          <a:prstGeom prst="rect">
            <a:avLst/>
          </a:prstGeom>
        </p:spPr>
        <p:txBody>
          <a:bodyPr anchor="t" rtlCol="false" tIns="0" lIns="0" bIns="0" rIns="0">
            <a:spAutoFit/>
          </a:bodyPr>
          <a:lstStyle/>
          <a:p>
            <a:pPr algn="l">
              <a:lnSpc>
                <a:spcPts val="4072"/>
              </a:lnSpc>
            </a:pPr>
            <a:r>
              <a:rPr lang="en-US" b="true" sz="3393" i="true" spc="-166">
                <a:solidFill>
                  <a:srgbClr val="333333"/>
                </a:solidFill>
                <a:latin typeface="Noto Serif Display Semi-Bold Italics"/>
                <a:ea typeface="Noto Serif Display Semi-Bold Italics"/>
                <a:cs typeface="Noto Serif Display Semi-Bold Italics"/>
                <a:sym typeface="Noto Serif Display Semi-Bold Italics"/>
              </a:rPr>
              <a:t>Hình ảnh minh họa mô phỏng</a:t>
            </a:r>
          </a:p>
        </p:txBody>
      </p:sp>
      <p:sp>
        <p:nvSpPr>
          <p:cNvPr name="TextBox 10" id="10"/>
          <p:cNvSpPr txBox="true"/>
          <p:nvPr/>
        </p:nvSpPr>
        <p:spPr>
          <a:xfrm rot="0">
            <a:off x="1368683" y="7814771"/>
            <a:ext cx="3899848" cy="438150"/>
          </a:xfrm>
          <a:prstGeom prst="rect">
            <a:avLst/>
          </a:prstGeom>
        </p:spPr>
        <p:txBody>
          <a:bodyPr anchor="t" rtlCol="false" tIns="0" lIns="0" bIns="0" rIns="0">
            <a:spAutoFit/>
          </a:bodyPr>
          <a:lstStyle/>
          <a:p>
            <a:pPr algn="l">
              <a:lnSpc>
                <a:spcPts val="3375"/>
              </a:lnSpc>
            </a:pPr>
            <a:r>
              <a:rPr lang="en-US" sz="2812" i="true">
                <a:solidFill>
                  <a:srgbClr val="333333"/>
                </a:solidFill>
                <a:latin typeface="Public Sans Italics"/>
                <a:ea typeface="Public Sans Italics"/>
                <a:cs typeface="Public Sans Italics"/>
                <a:sym typeface="Public Sans Italics"/>
              </a:rPr>
              <a:t>Hình 1: vị trí ban đầu S</a:t>
            </a:r>
          </a:p>
        </p:txBody>
      </p:sp>
      <p:sp>
        <p:nvSpPr>
          <p:cNvPr name="TextBox 11" id="11"/>
          <p:cNvSpPr txBox="true"/>
          <p:nvPr/>
        </p:nvSpPr>
        <p:spPr>
          <a:xfrm rot="0">
            <a:off x="11909720" y="7890291"/>
            <a:ext cx="5662343" cy="438150"/>
          </a:xfrm>
          <a:prstGeom prst="rect">
            <a:avLst/>
          </a:prstGeom>
        </p:spPr>
        <p:txBody>
          <a:bodyPr anchor="t" rtlCol="false" tIns="0" lIns="0" bIns="0" rIns="0">
            <a:spAutoFit/>
          </a:bodyPr>
          <a:lstStyle/>
          <a:p>
            <a:pPr algn="l">
              <a:lnSpc>
                <a:spcPts val="3375"/>
              </a:lnSpc>
            </a:pPr>
            <a:r>
              <a:rPr lang="en-US" sz="2812" i="true">
                <a:solidFill>
                  <a:srgbClr val="333333"/>
                </a:solidFill>
                <a:latin typeface="Public Sans Italics"/>
                <a:ea typeface="Public Sans Italics"/>
                <a:cs typeface="Public Sans Italics"/>
                <a:sym typeface="Public Sans Italics"/>
              </a:rPr>
              <a:t>Hình 3: điểm dừng trước khi đến G</a:t>
            </a:r>
          </a:p>
        </p:txBody>
      </p:sp>
      <p:sp>
        <p:nvSpPr>
          <p:cNvPr name="TextBox 12" id="12"/>
          <p:cNvSpPr txBox="true"/>
          <p:nvPr/>
        </p:nvSpPr>
        <p:spPr>
          <a:xfrm rot="0">
            <a:off x="6202812" y="7890291"/>
            <a:ext cx="5285623" cy="438150"/>
          </a:xfrm>
          <a:prstGeom prst="rect">
            <a:avLst/>
          </a:prstGeom>
        </p:spPr>
        <p:txBody>
          <a:bodyPr anchor="t" rtlCol="false" tIns="0" lIns="0" bIns="0" rIns="0">
            <a:spAutoFit/>
          </a:bodyPr>
          <a:lstStyle/>
          <a:p>
            <a:pPr algn="l">
              <a:lnSpc>
                <a:spcPts val="3375"/>
              </a:lnSpc>
            </a:pPr>
            <a:r>
              <a:rPr lang="en-US" sz="2812" i="true">
                <a:solidFill>
                  <a:srgbClr val="333333"/>
                </a:solidFill>
                <a:latin typeface="Public Sans Italics"/>
                <a:ea typeface="Public Sans Italics"/>
                <a:cs typeface="Public Sans Italics"/>
                <a:sym typeface="Public Sans Italics"/>
              </a:rPr>
              <a:t>Hình 2: quá trình di chuyển giữa</a:t>
            </a:r>
          </a:p>
        </p:txBody>
      </p:sp>
      <p:sp>
        <p:nvSpPr>
          <p:cNvPr name="TextBox 13" id="13"/>
          <p:cNvSpPr txBox="true"/>
          <p:nvPr/>
        </p:nvSpPr>
        <p:spPr>
          <a:xfrm rot="0">
            <a:off x="4081200" y="9005887"/>
            <a:ext cx="9361868" cy="495300"/>
          </a:xfrm>
          <a:prstGeom prst="rect">
            <a:avLst/>
          </a:prstGeom>
        </p:spPr>
        <p:txBody>
          <a:bodyPr anchor="t" rtlCol="false" tIns="0" lIns="0" bIns="0" rIns="0">
            <a:spAutoFit/>
          </a:bodyPr>
          <a:lstStyle/>
          <a:p>
            <a:pPr algn="ctr">
              <a:lnSpc>
                <a:spcPts val="3839"/>
              </a:lnSpc>
            </a:pPr>
            <a:r>
              <a:rPr lang="en-US" sz="3199">
                <a:solidFill>
                  <a:srgbClr val="333333"/>
                </a:solidFill>
                <a:latin typeface="Public Sans"/>
                <a:ea typeface="Public Sans"/>
                <a:cs typeface="Public Sans"/>
                <a:sym typeface="Public Sans"/>
              </a:rPr>
              <a:t>→ Cho thấy rõ hành vi “kẹt ở cực đại cục bộ”.</a:t>
            </a: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Financial Numbers Chart</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1028700" y="4205933"/>
            <a:ext cx="16033708" cy="3819525"/>
          </a:xfrm>
          <a:prstGeom prst="rect">
            <a:avLst/>
          </a:prstGeom>
        </p:spPr>
        <p:txBody>
          <a:bodyPr anchor="t" rtlCol="false" tIns="0" lIns="0" bIns="0" rIns="0">
            <a:spAutoFit/>
          </a:bodyPr>
          <a:lstStyle/>
          <a:p>
            <a:pPr algn="l" marL="685210" indent="-342605" lvl="1">
              <a:lnSpc>
                <a:spcPts val="3808"/>
              </a:lnSpc>
              <a:buFont typeface="Arial"/>
              <a:buChar char="•"/>
            </a:pPr>
            <a:r>
              <a:rPr lang="en-US" sz="3173">
                <a:solidFill>
                  <a:srgbClr val="333333"/>
                </a:solidFill>
                <a:latin typeface="Public Sans"/>
                <a:ea typeface="Public Sans"/>
                <a:cs typeface="Public Sans"/>
                <a:sym typeface="Public Sans"/>
              </a:rPr>
              <a:t>Thuật toán chỉ dựa vào </a:t>
            </a:r>
            <a:r>
              <a:rPr lang="en-US" b="true" sz="3173">
                <a:solidFill>
                  <a:srgbClr val="333333"/>
                </a:solidFill>
                <a:latin typeface="Public Sans Bold"/>
                <a:ea typeface="Public Sans Bold"/>
                <a:cs typeface="Public Sans Bold"/>
                <a:sym typeface="Public Sans Bold"/>
              </a:rPr>
              <a:t>thông tin cục bộ</a:t>
            </a:r>
            <a:r>
              <a:rPr lang="en-US" sz="3173">
                <a:solidFill>
                  <a:srgbClr val="333333"/>
                </a:solidFill>
                <a:latin typeface="Public Sans"/>
                <a:ea typeface="Public Sans"/>
                <a:cs typeface="Public Sans"/>
                <a:sym typeface="Public Sans"/>
              </a:rPr>
              <a:t> (giá trị heuristic của hàng xóm).</a:t>
            </a:r>
          </a:p>
          <a:p>
            <a:pPr algn="l" marL="685210" indent="-342605" lvl="1">
              <a:lnSpc>
                <a:spcPts val="3808"/>
              </a:lnSpc>
              <a:buFont typeface="Arial"/>
              <a:buChar char="•"/>
            </a:pPr>
            <a:r>
              <a:rPr lang="en-US" sz="3173">
                <a:solidFill>
                  <a:srgbClr val="333333"/>
                </a:solidFill>
                <a:latin typeface="Public Sans"/>
                <a:ea typeface="Public Sans"/>
                <a:cs typeface="Public Sans"/>
                <a:sym typeface="Public Sans"/>
              </a:rPr>
              <a:t>Khi mọi hàng xóm đều tệ hơn hoặc bằng trạng thái hiện tại, thuật toán </a:t>
            </a:r>
            <a:r>
              <a:rPr lang="en-US" b="true" sz="3173">
                <a:solidFill>
                  <a:srgbClr val="333333"/>
                </a:solidFill>
                <a:latin typeface="Public Sans Bold"/>
                <a:ea typeface="Public Sans Bold"/>
                <a:cs typeface="Public Sans Bold"/>
                <a:sym typeface="Public Sans Bold"/>
              </a:rPr>
              <a:t>coi như đã tối ưu </a:t>
            </a:r>
            <a:r>
              <a:rPr lang="en-US" sz="3173">
                <a:solidFill>
                  <a:srgbClr val="333333"/>
                </a:solidFill>
                <a:latin typeface="Public Sans"/>
                <a:ea typeface="Public Sans"/>
                <a:cs typeface="Public Sans"/>
                <a:sym typeface="Public Sans"/>
              </a:rPr>
              <a:t>và dừng lại.</a:t>
            </a:r>
          </a:p>
          <a:p>
            <a:pPr algn="l" marL="685210" indent="-342605" lvl="1">
              <a:lnSpc>
                <a:spcPts val="3808"/>
              </a:lnSpc>
              <a:buFont typeface="Arial"/>
              <a:buChar char="•"/>
            </a:pPr>
            <a:r>
              <a:rPr lang="en-US" sz="3173">
                <a:solidFill>
                  <a:srgbClr val="333333"/>
                </a:solidFill>
                <a:latin typeface="Public Sans"/>
                <a:ea typeface="Public Sans"/>
                <a:cs typeface="Public Sans"/>
                <a:sym typeface="Public Sans"/>
              </a:rPr>
              <a:t>Trường hợp này thể hiện rõ nhược điểm của Simple Hill Climbing: dễ bị kẹt tại cực đại cục bộ hoặc vùng bằng phẳng (plateau).</a:t>
            </a:r>
          </a:p>
          <a:p>
            <a:pPr algn="l" marL="685210" indent="-342605" lvl="1">
              <a:lnSpc>
                <a:spcPts val="3808"/>
              </a:lnSpc>
              <a:buFont typeface="Arial"/>
              <a:buChar char="•"/>
            </a:pPr>
            <a:r>
              <a:rPr lang="en-US" sz="3173">
                <a:solidFill>
                  <a:srgbClr val="333333"/>
                </a:solidFill>
                <a:latin typeface="Public Sans"/>
                <a:ea typeface="Public Sans"/>
                <a:cs typeface="Public Sans"/>
                <a:sym typeface="Public Sans"/>
              </a:rPr>
              <a:t>Mặc</a:t>
            </a:r>
            <a:r>
              <a:rPr lang="en-US" sz="3173">
                <a:solidFill>
                  <a:srgbClr val="333333"/>
                </a:solidFill>
                <a:latin typeface="Public Sans"/>
                <a:ea typeface="Public Sans"/>
                <a:cs typeface="Public Sans"/>
                <a:sym typeface="Public Sans"/>
              </a:rPr>
              <a:t> dù thời gian chạy rất ngắn </a:t>
            </a:r>
            <a:r>
              <a:rPr lang="en-US" b="true" sz="3173">
                <a:solidFill>
                  <a:srgbClr val="333333"/>
                </a:solidFill>
                <a:latin typeface="Public Sans Bold"/>
                <a:ea typeface="Public Sans Bold"/>
                <a:cs typeface="Public Sans Bold"/>
                <a:sym typeface="Public Sans Bold"/>
              </a:rPr>
              <a:t>(3.35 ms)</a:t>
            </a:r>
            <a:r>
              <a:rPr lang="en-US" sz="3173">
                <a:solidFill>
                  <a:srgbClr val="333333"/>
                </a:solidFill>
                <a:latin typeface="Public Sans"/>
                <a:ea typeface="Public Sans"/>
                <a:cs typeface="Public Sans"/>
                <a:sym typeface="Public Sans"/>
              </a:rPr>
              <a:t>, kết quả cuối cùng là </a:t>
            </a:r>
            <a:r>
              <a:rPr lang="en-US" sz="3173" i="true">
                <a:solidFill>
                  <a:srgbClr val="333333"/>
                </a:solidFill>
                <a:latin typeface="Public Sans Italics"/>
                <a:ea typeface="Public Sans Italics"/>
                <a:cs typeface="Public Sans Italics"/>
                <a:sym typeface="Public Sans Italics"/>
              </a:rPr>
              <a:t>No solution found</a:t>
            </a:r>
            <a:r>
              <a:rPr lang="en-US" sz="3173">
                <a:solidFill>
                  <a:srgbClr val="333333"/>
                </a:solidFill>
                <a:latin typeface="Public Sans"/>
                <a:ea typeface="Public Sans"/>
                <a:cs typeface="Public Sans"/>
                <a:sym typeface="Public Sans"/>
              </a:rPr>
              <a:t> – phù hợp với lý thuyết rằng Hill Climbing </a:t>
            </a:r>
            <a:r>
              <a:rPr lang="en-US" b="true" sz="3173">
                <a:solidFill>
                  <a:srgbClr val="333333"/>
                </a:solidFill>
                <a:latin typeface="Public Sans Bold"/>
                <a:ea typeface="Public Sans Bold"/>
                <a:cs typeface="Public Sans Bold"/>
                <a:sym typeface="Public Sans Bold"/>
              </a:rPr>
              <a:t>không đảm bảo tìm được lời giải toàn cục</a:t>
            </a:r>
            <a:r>
              <a:rPr lang="en-US" sz="3173">
                <a:solidFill>
                  <a:srgbClr val="333333"/>
                </a:solidFill>
                <a:latin typeface="Public Sans"/>
                <a:ea typeface="Public Sans"/>
                <a:cs typeface="Public Sans"/>
                <a:sym typeface="Public Sans"/>
              </a:rPr>
              <a:t>, đặc biệt trong mê cung có nhiều chướng ngại vật.</a:t>
            </a:r>
          </a:p>
        </p:txBody>
      </p:sp>
      <p:sp>
        <p:nvSpPr>
          <p:cNvPr name="TextBox 6" id="6"/>
          <p:cNvSpPr txBox="true"/>
          <p:nvPr/>
        </p:nvSpPr>
        <p:spPr>
          <a:xfrm rot="0">
            <a:off x="1511774" y="2405708"/>
            <a:ext cx="15550634" cy="590550"/>
          </a:xfrm>
          <a:prstGeom prst="rect">
            <a:avLst/>
          </a:prstGeom>
        </p:spPr>
        <p:txBody>
          <a:bodyPr anchor="t" rtlCol="false" tIns="0" lIns="0" bIns="0" rIns="0">
            <a:spAutoFit/>
          </a:bodyPr>
          <a:lstStyle/>
          <a:p>
            <a:pPr algn="l">
              <a:lnSpc>
                <a:spcPts val="4672"/>
              </a:lnSpc>
            </a:pPr>
            <a:r>
              <a:rPr lang="en-US" b="true" sz="3893" i="true" spc="-190">
                <a:solidFill>
                  <a:srgbClr val="333333"/>
                </a:solidFill>
                <a:latin typeface="Noto Serif Display Semi-Bold Italics"/>
                <a:ea typeface="Noto Serif Display Semi-Bold Italics"/>
                <a:cs typeface="Noto Serif Display Semi-Bold Italics"/>
                <a:sym typeface="Noto Serif Display Semi-Bold Italics"/>
              </a:rPr>
              <a:t>5. Kết quả thực nghiệm và phân tích</a:t>
            </a:r>
          </a:p>
        </p:txBody>
      </p:sp>
      <p:sp>
        <p:nvSpPr>
          <p:cNvPr name="TextBox 7" id="7"/>
          <p:cNvSpPr txBox="true"/>
          <p:nvPr/>
        </p:nvSpPr>
        <p:spPr>
          <a:xfrm rot="0">
            <a:off x="2129882" y="3348683"/>
            <a:ext cx="4976569" cy="514350"/>
          </a:xfrm>
          <a:prstGeom prst="rect">
            <a:avLst/>
          </a:prstGeom>
        </p:spPr>
        <p:txBody>
          <a:bodyPr anchor="t" rtlCol="false" tIns="0" lIns="0" bIns="0" rIns="0">
            <a:spAutoFit/>
          </a:bodyPr>
          <a:lstStyle/>
          <a:p>
            <a:pPr algn="l">
              <a:lnSpc>
                <a:spcPts val="4072"/>
              </a:lnSpc>
            </a:pPr>
            <a:r>
              <a:rPr lang="en-US" b="true" sz="3393" i="true" spc="-166">
                <a:solidFill>
                  <a:srgbClr val="333333"/>
                </a:solidFill>
                <a:latin typeface="Noto Serif Display Semi-Bold Italics"/>
                <a:ea typeface="Noto Serif Display Semi-Bold Italics"/>
                <a:cs typeface="Noto Serif Display Semi-Bold Italics"/>
                <a:sym typeface="Noto Serif Display Semi-Bold Italics"/>
              </a:rPr>
              <a:t>Phân tích và nhận xét</a:t>
            </a:r>
          </a:p>
        </p:txBody>
      </p:sp>
    </p:spTree>
  </p:cSld>
  <p:clrMapOvr>
    <a:masterClrMapping/>
  </p:clrMapOvr>
</p:sld>
</file>

<file path=ppt/slides/slide36.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Financial Numbers Chart</a:t>
            </a:r>
          </a:p>
        </p:txBody>
      </p:sp>
      <p:sp>
        <p:nvSpPr>
          <p:cNvPr name="TextBox 4" id="4"/>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5" id="5"/>
          <p:cNvSpPr txBox="true"/>
          <p:nvPr/>
        </p:nvSpPr>
        <p:spPr>
          <a:xfrm rot="0">
            <a:off x="1445548" y="2142293"/>
            <a:ext cx="15550634" cy="742950"/>
          </a:xfrm>
          <a:prstGeom prst="rect">
            <a:avLst/>
          </a:prstGeom>
        </p:spPr>
        <p:txBody>
          <a:bodyPr anchor="t" rtlCol="false" tIns="0" lIns="0" bIns="0" rIns="0">
            <a:spAutoFit/>
          </a:bodyPr>
          <a:lstStyle/>
          <a:p>
            <a:pPr algn="l">
              <a:lnSpc>
                <a:spcPts val="5992"/>
              </a:lnSpc>
            </a:pPr>
            <a:r>
              <a:rPr lang="en-US" b="true" sz="4993" i="true" spc="-244">
                <a:solidFill>
                  <a:srgbClr val="333333"/>
                </a:solidFill>
                <a:latin typeface="Noto Serif Display Bold Italics"/>
                <a:ea typeface="Noto Serif Display Bold Italics"/>
                <a:cs typeface="Noto Serif Display Bold Italics"/>
                <a:sym typeface="Noto Serif Display Bold Italics"/>
              </a:rPr>
              <a:t>III. Kết luận</a:t>
            </a:r>
          </a:p>
        </p:txBody>
      </p:sp>
      <p:sp>
        <p:nvSpPr>
          <p:cNvPr name="TextBox 6" id="6"/>
          <p:cNvSpPr txBox="true"/>
          <p:nvPr/>
        </p:nvSpPr>
        <p:spPr>
          <a:xfrm rot="0">
            <a:off x="1028700" y="3599618"/>
            <a:ext cx="16230600" cy="4943475"/>
          </a:xfrm>
          <a:prstGeom prst="rect">
            <a:avLst/>
          </a:prstGeom>
        </p:spPr>
        <p:txBody>
          <a:bodyPr anchor="t" rtlCol="false" tIns="0" lIns="0" bIns="0" rIns="0">
            <a:spAutoFit/>
          </a:bodyPr>
          <a:lstStyle/>
          <a:p>
            <a:pPr algn="l" marL="634406" indent="-317203" lvl="1">
              <a:lnSpc>
                <a:spcPts val="3526"/>
              </a:lnSpc>
              <a:buFont typeface="Arial"/>
              <a:buChar char="•"/>
            </a:pPr>
            <a:r>
              <a:rPr lang="en-US" sz="2938">
                <a:solidFill>
                  <a:srgbClr val="333333"/>
                </a:solidFill>
                <a:latin typeface="Public Sans"/>
                <a:ea typeface="Public Sans"/>
                <a:cs typeface="Public Sans"/>
                <a:sym typeface="Public Sans"/>
              </a:rPr>
              <a:t>Simple Hill Climbing là thuật toán tìm kiếm cục bộ đơn giản, hoạt động theo hướng tham lam (greedy), luôn chọn trạng thái hàng xóm có giá trị heuristic tốt nhất (ở đây là khoảng cách Manhattan đến đíc</a:t>
            </a:r>
            <a:r>
              <a:rPr lang="en-US" sz="2938">
                <a:solidFill>
                  <a:srgbClr val="333333"/>
                </a:solidFill>
                <a:latin typeface="Public Sans"/>
                <a:ea typeface="Public Sans"/>
                <a:cs typeface="Public Sans"/>
                <a:sym typeface="Public Sans"/>
              </a:rPr>
              <a:t>h)</a:t>
            </a:r>
            <a:r>
              <a:rPr lang="en-US" sz="2938">
                <a:solidFill>
                  <a:srgbClr val="333333"/>
                </a:solidFill>
                <a:latin typeface="Public Sans"/>
                <a:ea typeface="Public Sans"/>
                <a:cs typeface="Public Sans"/>
                <a:sym typeface="Public Sans"/>
              </a:rPr>
              <a:t>.</a:t>
            </a:r>
          </a:p>
          <a:p>
            <a:pPr algn="l" marL="634406" indent="-317203" lvl="1">
              <a:lnSpc>
                <a:spcPts val="3526"/>
              </a:lnSpc>
              <a:buFont typeface="Arial"/>
              <a:buChar char="•"/>
            </a:pPr>
            <a:r>
              <a:rPr lang="en-US" sz="2938">
                <a:solidFill>
                  <a:srgbClr val="333333"/>
                </a:solidFill>
                <a:latin typeface="Public Sans"/>
                <a:ea typeface="Public Sans"/>
                <a:cs typeface="Public Sans"/>
                <a:sym typeface="Public Sans"/>
              </a:rPr>
              <a:t>Ưu điểm: Cấu trúc gọn</a:t>
            </a:r>
            <a:r>
              <a:rPr lang="en-US" sz="2938">
                <a:solidFill>
                  <a:srgbClr val="333333"/>
                </a:solidFill>
                <a:latin typeface="Public Sans"/>
                <a:ea typeface="Public Sans"/>
                <a:cs typeface="Public Sans"/>
                <a:sym typeface="Public Sans"/>
              </a:rPr>
              <a:t> nh</a:t>
            </a:r>
            <a:r>
              <a:rPr lang="en-US" sz="2938">
                <a:solidFill>
                  <a:srgbClr val="333333"/>
                </a:solidFill>
                <a:latin typeface="Public Sans"/>
                <a:ea typeface="Public Sans"/>
                <a:cs typeface="Public Sans"/>
                <a:sym typeface="Public Sans"/>
              </a:rPr>
              <a:t>ẹ, dễ hiểu, giúp</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ngườ</a:t>
            </a:r>
            <a:r>
              <a:rPr lang="en-US" sz="2938">
                <a:solidFill>
                  <a:srgbClr val="333333"/>
                </a:solidFill>
                <a:latin typeface="Public Sans"/>
                <a:ea typeface="Public Sans"/>
                <a:cs typeface="Public Sans"/>
                <a:sym typeface="Public Sans"/>
              </a:rPr>
              <a:t>i </a:t>
            </a:r>
            <a:r>
              <a:rPr lang="en-US" sz="2938">
                <a:solidFill>
                  <a:srgbClr val="333333"/>
                </a:solidFill>
                <a:latin typeface="Public Sans"/>
                <a:ea typeface="Public Sans"/>
                <a:cs typeface="Public Sans"/>
                <a:sym typeface="Public Sans"/>
              </a:rPr>
              <a:t>học nắm </a:t>
            </a:r>
            <a:r>
              <a:rPr lang="en-US" sz="2938">
                <a:solidFill>
                  <a:srgbClr val="333333"/>
                </a:solidFill>
                <a:latin typeface="Public Sans"/>
                <a:ea typeface="Public Sans"/>
                <a:cs typeface="Public Sans"/>
                <a:sym typeface="Public Sans"/>
              </a:rPr>
              <a:t>r</a:t>
            </a:r>
            <a:r>
              <a:rPr lang="en-US" sz="2938">
                <a:solidFill>
                  <a:srgbClr val="333333"/>
                </a:solidFill>
                <a:latin typeface="Public Sans"/>
                <a:ea typeface="Public Sans"/>
                <a:cs typeface="Public Sans"/>
                <a:sym typeface="Public Sans"/>
              </a:rPr>
              <a:t>õ </a:t>
            </a:r>
            <a:r>
              <a:rPr lang="en-US" sz="2938">
                <a:solidFill>
                  <a:srgbClr val="333333"/>
                </a:solidFill>
                <a:latin typeface="Public Sans"/>
                <a:ea typeface="Public Sans"/>
                <a:cs typeface="Public Sans"/>
                <a:sym typeface="Public Sans"/>
              </a:rPr>
              <a:t>ng</a:t>
            </a:r>
            <a:r>
              <a:rPr lang="en-US" sz="2938">
                <a:solidFill>
                  <a:srgbClr val="333333"/>
                </a:solidFill>
                <a:latin typeface="Public Sans"/>
                <a:ea typeface="Public Sans"/>
                <a:cs typeface="Public Sans"/>
                <a:sym typeface="Public Sans"/>
              </a:rPr>
              <a:t>uyên</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lý heuris</a:t>
            </a:r>
            <a:r>
              <a:rPr lang="en-US" sz="2938">
                <a:solidFill>
                  <a:srgbClr val="333333"/>
                </a:solidFill>
                <a:latin typeface="Public Sans"/>
                <a:ea typeface="Public Sans"/>
                <a:cs typeface="Public Sans"/>
                <a:sym typeface="Public Sans"/>
              </a:rPr>
              <a:t>ti</a:t>
            </a:r>
            <a:r>
              <a:rPr lang="en-US" sz="2938">
                <a:solidFill>
                  <a:srgbClr val="333333"/>
                </a:solidFill>
                <a:latin typeface="Public Sans"/>
                <a:ea typeface="Public Sans"/>
                <a:cs typeface="Public Sans"/>
                <a:sym typeface="Public Sans"/>
              </a:rPr>
              <a:t>c</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và</a:t>
            </a:r>
            <a:r>
              <a:rPr lang="en-US" sz="2938">
                <a:solidFill>
                  <a:srgbClr val="333333"/>
                </a:solidFill>
                <a:latin typeface="Public Sans"/>
                <a:ea typeface="Public Sans"/>
                <a:cs typeface="Public Sans"/>
                <a:sym typeface="Public Sans"/>
              </a:rPr>
              <a:t> t</a:t>
            </a:r>
            <a:r>
              <a:rPr lang="en-US" sz="2938">
                <a:solidFill>
                  <a:srgbClr val="333333"/>
                </a:solidFill>
                <a:latin typeface="Public Sans"/>
                <a:ea typeface="Public Sans"/>
                <a:cs typeface="Public Sans"/>
                <a:sym typeface="Public Sans"/>
              </a:rPr>
              <a:t>ố</a:t>
            </a:r>
            <a:r>
              <a:rPr lang="en-US" sz="2938">
                <a:solidFill>
                  <a:srgbClr val="333333"/>
                </a:solidFill>
                <a:latin typeface="Public Sans"/>
                <a:ea typeface="Public Sans"/>
                <a:cs typeface="Public Sans"/>
                <a:sym typeface="Public Sans"/>
              </a:rPr>
              <a:t>i</a:t>
            </a:r>
            <a:r>
              <a:rPr lang="en-US" sz="2938">
                <a:solidFill>
                  <a:srgbClr val="333333"/>
                </a:solidFill>
                <a:latin typeface="Public Sans"/>
                <a:ea typeface="Public Sans"/>
                <a:cs typeface="Public Sans"/>
                <a:sym typeface="Public Sans"/>
              </a:rPr>
              <a:t> ư</a:t>
            </a:r>
            <a:r>
              <a:rPr lang="en-US" sz="2938">
                <a:solidFill>
                  <a:srgbClr val="333333"/>
                </a:solidFill>
                <a:latin typeface="Public Sans"/>
                <a:ea typeface="Public Sans"/>
                <a:cs typeface="Public Sans"/>
                <a:sym typeface="Public Sans"/>
              </a:rPr>
              <a:t>u c</a:t>
            </a:r>
            <a:r>
              <a:rPr lang="en-US" sz="2938">
                <a:solidFill>
                  <a:srgbClr val="333333"/>
                </a:solidFill>
                <a:latin typeface="Public Sans"/>
                <a:ea typeface="Public Sans"/>
                <a:cs typeface="Public Sans"/>
                <a:sym typeface="Public Sans"/>
              </a:rPr>
              <a:t>ục</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bộ.</a:t>
            </a:r>
          </a:p>
          <a:p>
            <a:pPr algn="l" marL="634406" indent="-317203" lvl="1">
              <a:lnSpc>
                <a:spcPts val="3526"/>
              </a:lnSpc>
              <a:buFont typeface="Arial"/>
              <a:buChar char="•"/>
            </a:pPr>
            <a:r>
              <a:rPr lang="en-US" sz="2938">
                <a:solidFill>
                  <a:srgbClr val="333333"/>
                </a:solidFill>
                <a:latin typeface="Public Sans"/>
                <a:ea typeface="Public Sans"/>
                <a:cs typeface="Public Sans"/>
                <a:sym typeface="Public Sans"/>
              </a:rPr>
              <a:t>Hạ</a:t>
            </a:r>
            <a:r>
              <a:rPr lang="en-US" sz="2938">
                <a:solidFill>
                  <a:srgbClr val="333333"/>
                </a:solidFill>
                <a:latin typeface="Public Sans"/>
                <a:ea typeface="Public Sans"/>
                <a:cs typeface="Public Sans"/>
                <a:sym typeface="Public Sans"/>
              </a:rPr>
              <a:t>n </a:t>
            </a:r>
            <a:r>
              <a:rPr lang="en-US" sz="2938">
                <a:solidFill>
                  <a:srgbClr val="333333"/>
                </a:solidFill>
                <a:latin typeface="Public Sans"/>
                <a:ea typeface="Public Sans"/>
                <a:cs typeface="Public Sans"/>
                <a:sym typeface="Public Sans"/>
              </a:rPr>
              <a:t>chế: Dễ bị kẹt tại</a:t>
            </a:r>
            <a:r>
              <a:rPr lang="en-US" sz="2938">
                <a:solidFill>
                  <a:srgbClr val="333333"/>
                </a:solidFill>
                <a:latin typeface="Public Sans"/>
                <a:ea typeface="Public Sans"/>
                <a:cs typeface="Public Sans"/>
                <a:sym typeface="Public Sans"/>
              </a:rPr>
              <a:t> c</a:t>
            </a:r>
            <a:r>
              <a:rPr lang="en-US" sz="2938">
                <a:solidFill>
                  <a:srgbClr val="333333"/>
                </a:solidFill>
                <a:latin typeface="Public Sans"/>
                <a:ea typeface="Public Sans"/>
                <a:cs typeface="Public Sans"/>
                <a:sym typeface="Public Sans"/>
              </a:rPr>
              <a:t>ực đại cục bộ</a:t>
            </a:r>
            <a:r>
              <a:rPr lang="en-US" sz="2938">
                <a:solidFill>
                  <a:srgbClr val="333333"/>
                </a:solidFill>
                <a:latin typeface="Public Sans"/>
                <a:ea typeface="Public Sans"/>
                <a:cs typeface="Public Sans"/>
                <a:sym typeface="Public Sans"/>
              </a:rPr>
              <a:t> h</a:t>
            </a:r>
            <a:r>
              <a:rPr lang="en-US" sz="2938">
                <a:solidFill>
                  <a:srgbClr val="333333"/>
                </a:solidFill>
                <a:latin typeface="Public Sans"/>
                <a:ea typeface="Public Sans"/>
                <a:cs typeface="Public Sans"/>
                <a:sym typeface="Public Sans"/>
              </a:rPr>
              <a:t>oặc</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vù</a:t>
            </a:r>
            <a:r>
              <a:rPr lang="en-US" sz="2938">
                <a:solidFill>
                  <a:srgbClr val="333333"/>
                </a:solidFill>
                <a:latin typeface="Public Sans"/>
                <a:ea typeface="Public Sans"/>
                <a:cs typeface="Public Sans"/>
                <a:sym typeface="Public Sans"/>
              </a:rPr>
              <a:t>n</a:t>
            </a:r>
            <a:r>
              <a:rPr lang="en-US" sz="2938">
                <a:solidFill>
                  <a:srgbClr val="333333"/>
                </a:solidFill>
                <a:latin typeface="Public Sans"/>
                <a:ea typeface="Public Sans"/>
                <a:cs typeface="Public Sans"/>
                <a:sym typeface="Public Sans"/>
              </a:rPr>
              <a:t>g</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bằng p</a:t>
            </a:r>
            <a:r>
              <a:rPr lang="en-US" sz="2938">
                <a:solidFill>
                  <a:srgbClr val="333333"/>
                </a:solidFill>
                <a:latin typeface="Public Sans"/>
                <a:ea typeface="Public Sans"/>
                <a:cs typeface="Public Sans"/>
                <a:sym typeface="Public Sans"/>
              </a:rPr>
              <a:t>h</a:t>
            </a:r>
            <a:r>
              <a:rPr lang="en-US" sz="2938">
                <a:solidFill>
                  <a:srgbClr val="333333"/>
                </a:solidFill>
                <a:latin typeface="Public Sans"/>
                <a:ea typeface="Public Sans"/>
                <a:cs typeface="Public Sans"/>
                <a:sym typeface="Public Sans"/>
              </a:rPr>
              <a:t>ẳ</a:t>
            </a:r>
            <a:r>
              <a:rPr lang="en-US" sz="2938">
                <a:solidFill>
                  <a:srgbClr val="333333"/>
                </a:solidFill>
                <a:latin typeface="Public Sans"/>
                <a:ea typeface="Public Sans"/>
                <a:cs typeface="Public Sans"/>
                <a:sym typeface="Public Sans"/>
              </a:rPr>
              <a:t>n</a:t>
            </a:r>
            <a:r>
              <a:rPr lang="en-US" sz="2938">
                <a:solidFill>
                  <a:srgbClr val="333333"/>
                </a:solidFill>
                <a:latin typeface="Public Sans"/>
                <a:ea typeface="Public Sans"/>
                <a:cs typeface="Public Sans"/>
                <a:sym typeface="Public Sans"/>
              </a:rPr>
              <a:t>g</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(plateau)</a:t>
            </a:r>
            <a:r>
              <a:rPr lang="en-US" sz="2938">
                <a:solidFill>
                  <a:srgbClr val="333333"/>
                </a:solidFill>
                <a:latin typeface="Public Sans"/>
                <a:ea typeface="Public Sans"/>
                <a:cs typeface="Public Sans"/>
                <a:sym typeface="Public Sans"/>
              </a:rPr>
              <a:t> d</a:t>
            </a:r>
            <a:r>
              <a:rPr lang="en-US" sz="2938">
                <a:solidFill>
                  <a:srgbClr val="333333"/>
                </a:solidFill>
                <a:latin typeface="Public Sans"/>
                <a:ea typeface="Public Sans"/>
                <a:cs typeface="Public Sans"/>
                <a:sym typeface="Public Sans"/>
              </a:rPr>
              <a:t>o không có cơ</a:t>
            </a:r>
            <a:r>
              <a:rPr lang="en-US" sz="2938">
                <a:solidFill>
                  <a:srgbClr val="333333"/>
                </a:solidFill>
                <a:latin typeface="Public Sans"/>
                <a:ea typeface="Public Sans"/>
                <a:cs typeface="Public Sans"/>
                <a:sym typeface="Public Sans"/>
              </a:rPr>
              <a:t> ch</a:t>
            </a:r>
            <a:r>
              <a:rPr lang="en-US" sz="2938">
                <a:solidFill>
                  <a:srgbClr val="333333"/>
                </a:solidFill>
                <a:latin typeface="Public Sans"/>
                <a:ea typeface="Public Sans"/>
                <a:cs typeface="Public Sans"/>
                <a:sym typeface="Public Sans"/>
              </a:rPr>
              <a:t>ế q</a:t>
            </a:r>
            <a:r>
              <a:rPr lang="en-US" sz="2938">
                <a:solidFill>
                  <a:srgbClr val="333333"/>
                </a:solidFill>
                <a:latin typeface="Public Sans"/>
                <a:ea typeface="Public Sans"/>
                <a:cs typeface="Public Sans"/>
                <a:sym typeface="Public Sans"/>
              </a:rPr>
              <a:t>u</a:t>
            </a:r>
            <a:r>
              <a:rPr lang="en-US" sz="2938">
                <a:solidFill>
                  <a:srgbClr val="333333"/>
                </a:solidFill>
                <a:latin typeface="Public Sans"/>
                <a:ea typeface="Public Sans"/>
                <a:cs typeface="Public Sans"/>
                <a:sym typeface="Public Sans"/>
              </a:rPr>
              <a:t>a</a:t>
            </a:r>
            <a:r>
              <a:rPr lang="en-US" sz="2938">
                <a:solidFill>
                  <a:srgbClr val="333333"/>
                </a:solidFill>
                <a:latin typeface="Public Sans"/>
                <a:ea typeface="Public Sans"/>
                <a:cs typeface="Public Sans"/>
                <a:sym typeface="Public Sans"/>
              </a:rPr>
              <a:t>y</a:t>
            </a:r>
            <a:r>
              <a:rPr lang="en-US" sz="2938">
                <a:solidFill>
                  <a:srgbClr val="333333"/>
                </a:solidFill>
                <a:latin typeface="Public Sans"/>
                <a:ea typeface="Public Sans"/>
                <a:cs typeface="Public Sans"/>
                <a:sym typeface="Public Sans"/>
              </a:rPr>
              <a:t> lui hay </a:t>
            </a:r>
            <a:r>
              <a:rPr lang="en-US" sz="2938">
                <a:solidFill>
                  <a:srgbClr val="333333"/>
                </a:solidFill>
                <a:latin typeface="Public Sans"/>
                <a:ea typeface="Public Sans"/>
                <a:cs typeface="Public Sans"/>
                <a:sym typeface="Public Sans"/>
              </a:rPr>
              <a:t>n</a:t>
            </a:r>
            <a:r>
              <a:rPr lang="en-US" sz="2938">
                <a:solidFill>
                  <a:srgbClr val="333333"/>
                </a:solidFill>
                <a:latin typeface="Public Sans"/>
                <a:ea typeface="Public Sans"/>
                <a:cs typeface="Public Sans"/>
                <a:sym typeface="Public Sans"/>
              </a:rPr>
              <a:t>gẫu</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nhiê</a:t>
            </a:r>
            <a:r>
              <a:rPr lang="en-US" sz="2938">
                <a:solidFill>
                  <a:srgbClr val="333333"/>
                </a:solidFill>
                <a:latin typeface="Public Sans"/>
                <a:ea typeface="Public Sans"/>
                <a:cs typeface="Public Sans"/>
                <a:sym typeface="Public Sans"/>
              </a:rPr>
              <a:t>n </a:t>
            </a:r>
            <a:r>
              <a:rPr lang="en-US" sz="2938">
                <a:solidFill>
                  <a:srgbClr val="333333"/>
                </a:solidFill>
                <a:latin typeface="Public Sans"/>
                <a:ea typeface="Public Sans"/>
                <a:cs typeface="Public Sans"/>
                <a:sym typeface="Public Sans"/>
              </a:rPr>
              <a:t>h</a:t>
            </a:r>
            <a:r>
              <a:rPr lang="en-US" sz="2938">
                <a:solidFill>
                  <a:srgbClr val="333333"/>
                </a:solidFill>
                <a:latin typeface="Public Sans"/>
                <a:ea typeface="Public Sans"/>
                <a:cs typeface="Public Sans"/>
                <a:sym typeface="Public Sans"/>
              </a:rPr>
              <a:t>ó</a:t>
            </a:r>
            <a:r>
              <a:rPr lang="en-US" sz="2938">
                <a:solidFill>
                  <a:srgbClr val="333333"/>
                </a:solidFill>
                <a:latin typeface="Public Sans"/>
                <a:ea typeface="Public Sans"/>
                <a:cs typeface="Public Sans"/>
                <a:sym typeface="Public Sans"/>
              </a:rPr>
              <a:t>a</a:t>
            </a:r>
            <a:r>
              <a:rPr lang="en-US" sz="2938">
                <a:solidFill>
                  <a:srgbClr val="333333"/>
                </a:solidFill>
                <a:latin typeface="Public Sans"/>
                <a:ea typeface="Public Sans"/>
                <a:cs typeface="Public Sans"/>
                <a:sym typeface="Public Sans"/>
              </a:rPr>
              <a:t>.</a:t>
            </a:r>
          </a:p>
          <a:p>
            <a:pPr algn="l" marL="634406" indent="-317203" lvl="1">
              <a:lnSpc>
                <a:spcPts val="3526"/>
              </a:lnSpc>
              <a:buFont typeface="Arial"/>
              <a:buChar char="•"/>
            </a:pPr>
            <a:r>
              <a:rPr lang="en-US" sz="2938">
                <a:solidFill>
                  <a:srgbClr val="333333"/>
                </a:solidFill>
                <a:latin typeface="Public Sans"/>
                <a:ea typeface="Public Sans"/>
                <a:cs typeface="Public Sans"/>
                <a:sym typeface="Public Sans"/>
              </a:rPr>
              <a:t>Trong các mê c</a:t>
            </a:r>
            <a:r>
              <a:rPr lang="en-US" sz="2938">
                <a:solidFill>
                  <a:srgbClr val="333333"/>
                </a:solidFill>
                <a:latin typeface="Public Sans"/>
                <a:ea typeface="Public Sans"/>
                <a:cs typeface="Public Sans"/>
                <a:sym typeface="Public Sans"/>
              </a:rPr>
              <a:t>u</a:t>
            </a:r>
            <a:r>
              <a:rPr lang="en-US" sz="2938">
                <a:solidFill>
                  <a:srgbClr val="333333"/>
                </a:solidFill>
                <a:latin typeface="Public Sans"/>
                <a:ea typeface="Public Sans"/>
                <a:cs typeface="Public Sans"/>
                <a:sym typeface="Public Sans"/>
              </a:rPr>
              <a:t>ng</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p</a:t>
            </a:r>
            <a:r>
              <a:rPr lang="en-US" sz="2938">
                <a:solidFill>
                  <a:srgbClr val="333333"/>
                </a:solidFill>
                <a:latin typeface="Public Sans"/>
                <a:ea typeface="Public Sans"/>
                <a:cs typeface="Public Sans"/>
                <a:sym typeface="Public Sans"/>
              </a:rPr>
              <a:t>h</a:t>
            </a:r>
            <a:r>
              <a:rPr lang="en-US" sz="2938">
                <a:solidFill>
                  <a:srgbClr val="333333"/>
                </a:solidFill>
                <a:latin typeface="Public Sans"/>
                <a:ea typeface="Public Sans"/>
                <a:cs typeface="Public Sans"/>
                <a:sym typeface="Public Sans"/>
              </a:rPr>
              <a:t>ức tạp</a:t>
            </a:r>
            <a:r>
              <a:rPr lang="en-US" sz="2938">
                <a:solidFill>
                  <a:srgbClr val="333333"/>
                </a:solidFill>
                <a:latin typeface="Public Sans"/>
                <a:ea typeface="Public Sans"/>
                <a:cs typeface="Public Sans"/>
                <a:sym typeface="Public Sans"/>
              </a:rPr>
              <a:t> có </a:t>
            </a:r>
            <a:r>
              <a:rPr lang="en-US" sz="2938">
                <a:solidFill>
                  <a:srgbClr val="333333"/>
                </a:solidFill>
                <a:latin typeface="Public Sans"/>
                <a:ea typeface="Public Sans"/>
                <a:cs typeface="Public Sans"/>
                <a:sym typeface="Public Sans"/>
              </a:rPr>
              <a:t>n</a:t>
            </a:r>
            <a:r>
              <a:rPr lang="en-US" sz="2938">
                <a:solidFill>
                  <a:srgbClr val="333333"/>
                </a:solidFill>
                <a:latin typeface="Public Sans"/>
                <a:ea typeface="Public Sans"/>
                <a:cs typeface="Public Sans"/>
                <a:sym typeface="Public Sans"/>
              </a:rPr>
              <a:t>h</a:t>
            </a:r>
            <a:r>
              <a:rPr lang="en-US" sz="2938">
                <a:solidFill>
                  <a:srgbClr val="333333"/>
                </a:solidFill>
                <a:latin typeface="Public Sans"/>
                <a:ea typeface="Public Sans"/>
                <a:cs typeface="Public Sans"/>
                <a:sym typeface="Public Sans"/>
              </a:rPr>
              <a:t>iều chướ</a:t>
            </a:r>
            <a:r>
              <a:rPr lang="en-US" sz="2938">
                <a:solidFill>
                  <a:srgbClr val="333333"/>
                </a:solidFill>
                <a:latin typeface="Public Sans"/>
                <a:ea typeface="Public Sans"/>
                <a:cs typeface="Public Sans"/>
                <a:sym typeface="Public Sans"/>
              </a:rPr>
              <a:t>ng </a:t>
            </a:r>
            <a:r>
              <a:rPr lang="en-US" sz="2938">
                <a:solidFill>
                  <a:srgbClr val="333333"/>
                </a:solidFill>
                <a:latin typeface="Public Sans"/>
                <a:ea typeface="Public Sans"/>
                <a:cs typeface="Public Sans"/>
                <a:sym typeface="Public Sans"/>
              </a:rPr>
              <a:t>ngại vật,</a:t>
            </a:r>
            <a:r>
              <a:rPr lang="en-US" sz="2938">
                <a:solidFill>
                  <a:srgbClr val="333333"/>
                </a:solidFill>
                <a:latin typeface="Public Sans"/>
                <a:ea typeface="Public Sans"/>
                <a:cs typeface="Public Sans"/>
                <a:sym typeface="Public Sans"/>
              </a:rPr>
              <a:t> t</a:t>
            </a:r>
            <a:r>
              <a:rPr lang="en-US" sz="2938">
                <a:solidFill>
                  <a:srgbClr val="333333"/>
                </a:solidFill>
                <a:latin typeface="Public Sans"/>
                <a:ea typeface="Public Sans"/>
                <a:cs typeface="Public Sans"/>
                <a:sym typeface="Public Sans"/>
              </a:rPr>
              <a:t>huậ</a:t>
            </a:r>
            <a:r>
              <a:rPr lang="en-US" sz="2938">
                <a:solidFill>
                  <a:srgbClr val="333333"/>
                </a:solidFill>
                <a:latin typeface="Public Sans"/>
                <a:ea typeface="Public Sans"/>
                <a:cs typeface="Public Sans"/>
                <a:sym typeface="Public Sans"/>
              </a:rPr>
              <a:t>t </a:t>
            </a:r>
            <a:r>
              <a:rPr lang="en-US" sz="2938">
                <a:solidFill>
                  <a:srgbClr val="333333"/>
                </a:solidFill>
                <a:latin typeface="Public Sans"/>
                <a:ea typeface="Public Sans"/>
                <a:cs typeface="Public Sans"/>
                <a:sym typeface="Public Sans"/>
              </a:rPr>
              <a:t>toán t</a:t>
            </a:r>
            <a:r>
              <a:rPr lang="en-US" sz="2938">
                <a:solidFill>
                  <a:srgbClr val="333333"/>
                </a:solidFill>
                <a:latin typeface="Public Sans"/>
                <a:ea typeface="Public Sans"/>
                <a:cs typeface="Public Sans"/>
                <a:sym typeface="Public Sans"/>
              </a:rPr>
              <a:t>h</a:t>
            </a:r>
            <a:r>
              <a:rPr lang="en-US" sz="2938">
                <a:solidFill>
                  <a:srgbClr val="333333"/>
                </a:solidFill>
                <a:latin typeface="Public Sans"/>
                <a:ea typeface="Public Sans"/>
                <a:cs typeface="Public Sans"/>
                <a:sym typeface="Public Sans"/>
              </a:rPr>
              <a:t>ườ</a:t>
            </a:r>
            <a:r>
              <a:rPr lang="en-US" sz="2938">
                <a:solidFill>
                  <a:srgbClr val="333333"/>
                </a:solidFill>
                <a:latin typeface="Public Sans"/>
                <a:ea typeface="Public Sans"/>
                <a:cs typeface="Public Sans"/>
                <a:sym typeface="Public Sans"/>
              </a:rPr>
              <a:t>n</a:t>
            </a:r>
            <a:r>
              <a:rPr lang="en-US" sz="2938">
                <a:solidFill>
                  <a:srgbClr val="333333"/>
                </a:solidFill>
                <a:latin typeface="Public Sans"/>
                <a:ea typeface="Public Sans"/>
                <a:cs typeface="Public Sans"/>
                <a:sym typeface="Public Sans"/>
              </a:rPr>
              <a:t>g</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khô</a:t>
            </a:r>
            <a:r>
              <a:rPr lang="en-US" sz="2938">
                <a:solidFill>
                  <a:srgbClr val="333333"/>
                </a:solidFill>
                <a:latin typeface="Public Sans"/>
                <a:ea typeface="Public Sans"/>
                <a:cs typeface="Public Sans"/>
                <a:sym typeface="Public Sans"/>
              </a:rPr>
              <a:t>ng </a:t>
            </a:r>
            <a:r>
              <a:rPr lang="en-US" sz="2938">
                <a:solidFill>
                  <a:srgbClr val="333333"/>
                </a:solidFill>
                <a:latin typeface="Public Sans"/>
                <a:ea typeface="Public Sans"/>
                <a:cs typeface="Public Sans"/>
                <a:sym typeface="Public Sans"/>
              </a:rPr>
              <a:t>tìm được </a:t>
            </a:r>
            <a:r>
              <a:rPr lang="en-US" sz="2938">
                <a:solidFill>
                  <a:srgbClr val="333333"/>
                </a:solidFill>
                <a:latin typeface="Public Sans"/>
                <a:ea typeface="Public Sans"/>
                <a:cs typeface="Public Sans"/>
                <a:sym typeface="Public Sans"/>
              </a:rPr>
              <a:t>l</a:t>
            </a:r>
            <a:r>
              <a:rPr lang="en-US" sz="2938">
                <a:solidFill>
                  <a:srgbClr val="333333"/>
                </a:solidFill>
                <a:latin typeface="Public Sans"/>
                <a:ea typeface="Public Sans"/>
                <a:cs typeface="Public Sans"/>
                <a:sym typeface="Public Sans"/>
              </a:rPr>
              <a:t>ờ</a:t>
            </a:r>
            <a:r>
              <a:rPr lang="en-US" sz="2938">
                <a:solidFill>
                  <a:srgbClr val="333333"/>
                </a:solidFill>
                <a:latin typeface="Public Sans"/>
                <a:ea typeface="Public Sans"/>
                <a:cs typeface="Public Sans"/>
                <a:sym typeface="Public Sans"/>
              </a:rPr>
              <a:t>i </a:t>
            </a:r>
            <a:r>
              <a:rPr lang="en-US" sz="2938">
                <a:solidFill>
                  <a:srgbClr val="333333"/>
                </a:solidFill>
                <a:latin typeface="Public Sans"/>
                <a:ea typeface="Public Sans"/>
                <a:cs typeface="Public Sans"/>
                <a:sym typeface="Public Sans"/>
              </a:rPr>
              <a:t>giải </a:t>
            </a:r>
            <a:r>
              <a:rPr lang="en-US" sz="2938">
                <a:solidFill>
                  <a:srgbClr val="333333"/>
                </a:solidFill>
                <a:latin typeface="Public Sans"/>
                <a:ea typeface="Public Sans"/>
                <a:cs typeface="Public Sans"/>
                <a:sym typeface="Public Sans"/>
              </a:rPr>
              <a:t>t</a:t>
            </a:r>
            <a:r>
              <a:rPr lang="en-US" sz="2938">
                <a:solidFill>
                  <a:srgbClr val="333333"/>
                </a:solidFill>
                <a:latin typeface="Public Sans"/>
                <a:ea typeface="Public Sans"/>
                <a:cs typeface="Public Sans"/>
                <a:sym typeface="Public Sans"/>
              </a:rPr>
              <a:t>oàn</a:t>
            </a:r>
            <a:r>
              <a:rPr lang="en-US" sz="2938">
                <a:solidFill>
                  <a:srgbClr val="333333"/>
                </a:solidFill>
                <a:latin typeface="Public Sans"/>
                <a:ea typeface="Public Sans"/>
                <a:cs typeface="Public Sans"/>
                <a:sym typeface="Public Sans"/>
              </a:rPr>
              <a:t> c</a:t>
            </a:r>
            <a:r>
              <a:rPr lang="en-US" sz="2938">
                <a:solidFill>
                  <a:srgbClr val="333333"/>
                </a:solidFill>
                <a:latin typeface="Public Sans"/>
                <a:ea typeface="Public Sans"/>
                <a:cs typeface="Public Sans"/>
                <a:sym typeface="Public Sans"/>
              </a:rPr>
              <a:t>ụ</a:t>
            </a:r>
            <a:r>
              <a:rPr lang="en-US" sz="2938">
                <a:solidFill>
                  <a:srgbClr val="333333"/>
                </a:solidFill>
                <a:latin typeface="Public Sans"/>
                <a:ea typeface="Public Sans"/>
                <a:cs typeface="Public Sans"/>
                <a:sym typeface="Public Sans"/>
              </a:rPr>
              <a:t>c</a:t>
            </a:r>
            <a:r>
              <a:rPr lang="en-US" sz="2938">
                <a:solidFill>
                  <a:srgbClr val="333333"/>
                </a:solidFill>
                <a:latin typeface="Public Sans"/>
                <a:ea typeface="Public Sans"/>
                <a:cs typeface="Public Sans"/>
                <a:sym typeface="Public Sans"/>
              </a:rPr>
              <a:t>.</a:t>
            </a:r>
          </a:p>
          <a:p>
            <a:pPr algn="l" marL="634406" indent="-317203" lvl="1">
              <a:lnSpc>
                <a:spcPts val="3526"/>
              </a:lnSpc>
              <a:buFont typeface="Arial"/>
              <a:buChar char="•"/>
            </a:pPr>
            <a:r>
              <a:rPr lang="en-US" sz="2938">
                <a:solidFill>
                  <a:srgbClr val="333333"/>
                </a:solidFill>
                <a:latin typeface="Public Sans"/>
                <a:ea typeface="Public Sans"/>
                <a:cs typeface="Public Sans"/>
                <a:sym typeface="Public Sans"/>
              </a:rPr>
              <a:t>Tuy</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vậy, H</a:t>
            </a:r>
            <a:r>
              <a:rPr lang="en-US" sz="2938">
                <a:solidFill>
                  <a:srgbClr val="333333"/>
                </a:solidFill>
                <a:latin typeface="Public Sans"/>
                <a:ea typeface="Public Sans"/>
                <a:cs typeface="Public Sans"/>
                <a:sym typeface="Public Sans"/>
              </a:rPr>
              <a:t>i</a:t>
            </a:r>
            <a:r>
              <a:rPr lang="en-US" sz="2938">
                <a:solidFill>
                  <a:srgbClr val="333333"/>
                </a:solidFill>
                <a:latin typeface="Public Sans"/>
                <a:ea typeface="Public Sans"/>
                <a:cs typeface="Public Sans"/>
                <a:sym typeface="Public Sans"/>
              </a:rPr>
              <a:t>ll Climbing vẫn là công</a:t>
            </a:r>
            <a:r>
              <a:rPr lang="en-US" sz="2938">
                <a:solidFill>
                  <a:srgbClr val="333333"/>
                </a:solidFill>
                <a:latin typeface="Public Sans"/>
                <a:ea typeface="Public Sans"/>
                <a:cs typeface="Public Sans"/>
                <a:sym typeface="Public Sans"/>
              </a:rPr>
              <a:t> cụ</a:t>
            </a:r>
            <a:r>
              <a:rPr lang="en-US" sz="2938">
                <a:solidFill>
                  <a:srgbClr val="333333"/>
                </a:solidFill>
                <a:latin typeface="Public Sans"/>
                <a:ea typeface="Public Sans"/>
                <a:cs typeface="Public Sans"/>
                <a:sym typeface="Public Sans"/>
              </a:rPr>
              <a:t> họ</a:t>
            </a:r>
            <a:r>
              <a:rPr lang="en-US" sz="2938">
                <a:solidFill>
                  <a:srgbClr val="333333"/>
                </a:solidFill>
                <a:latin typeface="Public Sans"/>
                <a:ea typeface="Public Sans"/>
                <a:cs typeface="Public Sans"/>
                <a:sym typeface="Public Sans"/>
              </a:rPr>
              <a:t>c </a:t>
            </a:r>
            <a:r>
              <a:rPr lang="en-US" sz="2938">
                <a:solidFill>
                  <a:srgbClr val="333333"/>
                </a:solidFill>
                <a:latin typeface="Public Sans"/>
                <a:ea typeface="Public Sans"/>
                <a:cs typeface="Public Sans"/>
                <a:sym typeface="Public Sans"/>
              </a:rPr>
              <a:t>tậ</a:t>
            </a:r>
            <a:r>
              <a:rPr lang="en-US" sz="2938">
                <a:solidFill>
                  <a:srgbClr val="333333"/>
                </a:solidFill>
                <a:latin typeface="Public Sans"/>
                <a:ea typeface="Public Sans"/>
                <a:cs typeface="Public Sans"/>
                <a:sym typeface="Public Sans"/>
              </a:rPr>
              <a:t>p </a:t>
            </a:r>
            <a:r>
              <a:rPr lang="en-US" sz="2938">
                <a:solidFill>
                  <a:srgbClr val="333333"/>
                </a:solidFill>
                <a:latin typeface="Public Sans"/>
                <a:ea typeface="Public Sans"/>
                <a:cs typeface="Public Sans"/>
                <a:sym typeface="Public Sans"/>
              </a:rPr>
              <a:t>hữu</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í</a:t>
            </a:r>
            <a:r>
              <a:rPr lang="en-US" sz="2938">
                <a:solidFill>
                  <a:srgbClr val="333333"/>
                </a:solidFill>
                <a:latin typeface="Public Sans"/>
                <a:ea typeface="Public Sans"/>
                <a:cs typeface="Public Sans"/>
                <a:sym typeface="Public Sans"/>
              </a:rPr>
              <a:t>ch</a:t>
            </a:r>
            <a:r>
              <a:rPr lang="en-US" sz="2938">
                <a:solidFill>
                  <a:srgbClr val="333333"/>
                </a:solidFill>
                <a:latin typeface="Public Sans"/>
                <a:ea typeface="Public Sans"/>
                <a:cs typeface="Public Sans"/>
                <a:sym typeface="Public Sans"/>
              </a:rPr>
              <a:t>,</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mi</a:t>
            </a:r>
            <a:r>
              <a:rPr lang="en-US" sz="2938">
                <a:solidFill>
                  <a:srgbClr val="333333"/>
                </a:solidFill>
                <a:latin typeface="Public Sans"/>
                <a:ea typeface="Public Sans"/>
                <a:cs typeface="Public Sans"/>
                <a:sym typeface="Public Sans"/>
              </a:rPr>
              <a:t>n</a:t>
            </a:r>
            <a:r>
              <a:rPr lang="en-US" sz="2938">
                <a:solidFill>
                  <a:srgbClr val="333333"/>
                </a:solidFill>
                <a:latin typeface="Public Sans"/>
                <a:ea typeface="Public Sans"/>
                <a:cs typeface="Public Sans"/>
                <a:sym typeface="Public Sans"/>
              </a:rPr>
              <a:t>h họa rõ sự</a:t>
            </a:r>
            <a:r>
              <a:rPr lang="en-US" sz="2938">
                <a:solidFill>
                  <a:srgbClr val="333333"/>
                </a:solidFill>
                <a:latin typeface="Public Sans"/>
                <a:ea typeface="Public Sans"/>
                <a:cs typeface="Public Sans"/>
                <a:sym typeface="Public Sans"/>
              </a:rPr>
              <a:t> kh</a:t>
            </a:r>
            <a:r>
              <a:rPr lang="en-US" sz="2938">
                <a:solidFill>
                  <a:srgbClr val="333333"/>
                </a:solidFill>
                <a:latin typeface="Public Sans"/>
                <a:ea typeface="Public Sans"/>
                <a:cs typeface="Public Sans"/>
                <a:sym typeface="Public Sans"/>
              </a:rPr>
              <a:t>ác b</a:t>
            </a:r>
            <a:r>
              <a:rPr lang="en-US" sz="2938">
                <a:solidFill>
                  <a:srgbClr val="333333"/>
                </a:solidFill>
                <a:latin typeface="Public Sans"/>
                <a:ea typeface="Public Sans"/>
                <a:cs typeface="Public Sans"/>
                <a:sym typeface="Public Sans"/>
              </a:rPr>
              <a:t>i</a:t>
            </a:r>
            <a:r>
              <a:rPr lang="en-US" sz="2938">
                <a:solidFill>
                  <a:srgbClr val="333333"/>
                </a:solidFill>
                <a:latin typeface="Public Sans"/>
                <a:ea typeface="Public Sans"/>
                <a:cs typeface="Public Sans"/>
                <a:sym typeface="Public Sans"/>
              </a:rPr>
              <a:t>ệ</a:t>
            </a:r>
            <a:r>
              <a:rPr lang="en-US" sz="2938">
                <a:solidFill>
                  <a:srgbClr val="333333"/>
                </a:solidFill>
                <a:latin typeface="Public Sans"/>
                <a:ea typeface="Public Sans"/>
                <a:cs typeface="Public Sans"/>
                <a:sym typeface="Public Sans"/>
              </a:rPr>
              <a:t>t </a:t>
            </a:r>
            <a:r>
              <a:rPr lang="en-US" sz="2938">
                <a:solidFill>
                  <a:srgbClr val="333333"/>
                </a:solidFill>
                <a:latin typeface="Public Sans"/>
                <a:ea typeface="Public Sans"/>
                <a:cs typeface="Public Sans"/>
                <a:sym typeface="Public Sans"/>
              </a:rPr>
              <a:t>giữa tối</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ưu</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cục</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bộ</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và</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t</a:t>
            </a:r>
            <a:r>
              <a:rPr lang="en-US" sz="2938">
                <a:solidFill>
                  <a:srgbClr val="333333"/>
                </a:solidFill>
                <a:latin typeface="Public Sans"/>
                <a:ea typeface="Public Sans"/>
                <a:cs typeface="Public Sans"/>
                <a:sym typeface="Public Sans"/>
              </a:rPr>
              <a:t>o</a:t>
            </a:r>
            <a:r>
              <a:rPr lang="en-US" sz="2938">
                <a:solidFill>
                  <a:srgbClr val="333333"/>
                </a:solidFill>
                <a:latin typeface="Public Sans"/>
                <a:ea typeface="Public Sans"/>
                <a:cs typeface="Public Sans"/>
                <a:sym typeface="Public Sans"/>
              </a:rPr>
              <a:t>à</a:t>
            </a:r>
            <a:r>
              <a:rPr lang="en-US" sz="2938">
                <a:solidFill>
                  <a:srgbClr val="333333"/>
                </a:solidFill>
                <a:latin typeface="Public Sans"/>
                <a:ea typeface="Public Sans"/>
                <a:cs typeface="Public Sans"/>
                <a:sym typeface="Public Sans"/>
              </a:rPr>
              <a:t>n c</a:t>
            </a:r>
            <a:r>
              <a:rPr lang="en-US" sz="2938">
                <a:solidFill>
                  <a:srgbClr val="333333"/>
                </a:solidFill>
                <a:latin typeface="Public Sans"/>
                <a:ea typeface="Public Sans"/>
                <a:cs typeface="Public Sans"/>
                <a:sym typeface="Public Sans"/>
              </a:rPr>
              <a:t>ục</a:t>
            </a:r>
            <a:r>
              <a:rPr lang="en-US" sz="2938">
                <a:solidFill>
                  <a:srgbClr val="333333"/>
                </a:solidFill>
                <a:latin typeface="Public Sans"/>
                <a:ea typeface="Public Sans"/>
                <a:cs typeface="Public Sans"/>
                <a:sym typeface="Public Sans"/>
              </a:rPr>
              <a:t> </a:t>
            </a:r>
            <a:r>
              <a:rPr lang="en-US" sz="2938">
                <a:solidFill>
                  <a:srgbClr val="333333"/>
                </a:solidFill>
                <a:latin typeface="Public Sans"/>
                <a:ea typeface="Public Sans"/>
                <a:cs typeface="Public Sans"/>
                <a:sym typeface="Public Sans"/>
              </a:rPr>
              <a:t>tro</a:t>
            </a:r>
            <a:r>
              <a:rPr lang="en-US" sz="2938">
                <a:solidFill>
                  <a:srgbClr val="333333"/>
                </a:solidFill>
                <a:latin typeface="Public Sans"/>
                <a:ea typeface="Public Sans"/>
                <a:cs typeface="Public Sans"/>
                <a:sym typeface="Public Sans"/>
              </a:rPr>
              <a:t>ng </a:t>
            </a:r>
            <a:r>
              <a:rPr lang="en-US" sz="2938">
                <a:solidFill>
                  <a:srgbClr val="333333"/>
                </a:solidFill>
                <a:latin typeface="Public Sans"/>
                <a:ea typeface="Public Sans"/>
                <a:cs typeface="Public Sans"/>
                <a:sym typeface="Public Sans"/>
              </a:rPr>
              <a:t>trí</a:t>
            </a:r>
            <a:r>
              <a:rPr lang="en-US" sz="2938">
                <a:solidFill>
                  <a:srgbClr val="333333"/>
                </a:solidFill>
                <a:latin typeface="Public Sans"/>
                <a:ea typeface="Public Sans"/>
                <a:cs typeface="Public Sans"/>
                <a:sym typeface="Public Sans"/>
              </a:rPr>
              <a:t> t</a:t>
            </a:r>
            <a:r>
              <a:rPr lang="en-US" sz="2938">
                <a:solidFill>
                  <a:srgbClr val="333333"/>
                </a:solidFill>
                <a:latin typeface="Public Sans"/>
                <a:ea typeface="Public Sans"/>
                <a:cs typeface="Public Sans"/>
                <a:sym typeface="Public Sans"/>
              </a:rPr>
              <a:t>uệ n</a:t>
            </a:r>
            <a:r>
              <a:rPr lang="en-US" sz="2938">
                <a:solidFill>
                  <a:srgbClr val="333333"/>
                </a:solidFill>
                <a:latin typeface="Public Sans"/>
                <a:ea typeface="Public Sans"/>
                <a:cs typeface="Public Sans"/>
                <a:sym typeface="Public Sans"/>
              </a:rPr>
              <a:t>h</a:t>
            </a:r>
            <a:r>
              <a:rPr lang="en-US" sz="2938">
                <a:solidFill>
                  <a:srgbClr val="333333"/>
                </a:solidFill>
                <a:latin typeface="Public Sans"/>
                <a:ea typeface="Public Sans"/>
                <a:cs typeface="Public Sans"/>
                <a:sym typeface="Public Sans"/>
              </a:rPr>
              <a:t>â</a:t>
            </a:r>
            <a:r>
              <a:rPr lang="en-US" sz="2938">
                <a:solidFill>
                  <a:srgbClr val="333333"/>
                </a:solidFill>
                <a:latin typeface="Public Sans"/>
                <a:ea typeface="Public Sans"/>
                <a:cs typeface="Public Sans"/>
                <a:sym typeface="Public Sans"/>
              </a:rPr>
              <a:t>n </a:t>
            </a:r>
            <a:r>
              <a:rPr lang="en-US" sz="2938">
                <a:solidFill>
                  <a:srgbClr val="333333"/>
                </a:solidFill>
                <a:latin typeface="Public Sans"/>
                <a:ea typeface="Public Sans"/>
                <a:cs typeface="Public Sans"/>
                <a:sym typeface="Public Sans"/>
              </a:rPr>
              <a:t>tạo</a:t>
            </a:r>
            <a:r>
              <a:rPr lang="en-US" sz="2938">
                <a:solidFill>
                  <a:srgbClr val="333333"/>
                </a:solidFill>
                <a:latin typeface="Public Sans"/>
                <a:ea typeface="Public Sans"/>
                <a:cs typeface="Public Sans"/>
                <a:sym typeface="Public Sans"/>
              </a:rPr>
              <a:t>.</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2239461" y="5726103"/>
            <a:ext cx="1005913" cy="804730"/>
          </a:xfrm>
          <a:custGeom>
            <a:avLst/>
            <a:gdLst/>
            <a:ahLst/>
            <a:cxnLst/>
            <a:rect r="r" b="b" t="t" l="l"/>
            <a:pathLst>
              <a:path h="804730" w="1005913">
                <a:moveTo>
                  <a:pt x="0" y="0"/>
                </a:moveTo>
                <a:lnTo>
                  <a:pt x="1005913" y="0"/>
                </a:lnTo>
                <a:lnTo>
                  <a:pt x="1005913" y="804730"/>
                </a:lnTo>
                <a:lnTo>
                  <a:pt x="0" y="8047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94690" y="5726103"/>
            <a:ext cx="678991" cy="804730"/>
          </a:xfrm>
          <a:custGeom>
            <a:avLst/>
            <a:gdLst/>
            <a:ahLst/>
            <a:cxnLst/>
            <a:rect r="r" b="b" t="t" l="l"/>
            <a:pathLst>
              <a:path h="804730" w="678991">
                <a:moveTo>
                  <a:pt x="0" y="0"/>
                </a:moveTo>
                <a:lnTo>
                  <a:pt x="678991" y="0"/>
                </a:lnTo>
                <a:lnTo>
                  <a:pt x="678991" y="804730"/>
                </a:lnTo>
                <a:lnTo>
                  <a:pt x="0" y="8047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327664" y="5664134"/>
            <a:ext cx="804730" cy="804730"/>
          </a:xfrm>
          <a:custGeom>
            <a:avLst/>
            <a:gdLst/>
            <a:ahLst/>
            <a:cxnLst/>
            <a:rect r="r" b="b" t="t" l="l"/>
            <a:pathLst>
              <a:path h="804730" w="804730">
                <a:moveTo>
                  <a:pt x="0" y="0"/>
                </a:moveTo>
                <a:lnTo>
                  <a:pt x="804731" y="0"/>
                </a:lnTo>
                <a:lnTo>
                  <a:pt x="804731" y="804730"/>
                </a:lnTo>
                <a:lnTo>
                  <a:pt x="0" y="8047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309873" y="5726103"/>
            <a:ext cx="721240" cy="804730"/>
          </a:xfrm>
          <a:custGeom>
            <a:avLst/>
            <a:gdLst/>
            <a:ahLst/>
            <a:cxnLst/>
            <a:rect r="r" b="b" t="t" l="l"/>
            <a:pathLst>
              <a:path h="804730" w="721240">
                <a:moveTo>
                  <a:pt x="0" y="0"/>
                </a:moveTo>
                <a:lnTo>
                  <a:pt x="721240" y="0"/>
                </a:lnTo>
                <a:lnTo>
                  <a:pt x="721240" y="804730"/>
                </a:lnTo>
                <a:lnTo>
                  <a:pt x="0" y="8047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1303390" y="5726103"/>
            <a:ext cx="796683" cy="804730"/>
          </a:xfrm>
          <a:custGeom>
            <a:avLst/>
            <a:gdLst/>
            <a:ahLst/>
            <a:cxnLst/>
            <a:rect r="r" b="b" t="t" l="l"/>
            <a:pathLst>
              <a:path h="804730" w="796683">
                <a:moveTo>
                  <a:pt x="0" y="0"/>
                </a:moveTo>
                <a:lnTo>
                  <a:pt x="796683" y="0"/>
                </a:lnTo>
                <a:lnTo>
                  <a:pt x="796683" y="804730"/>
                </a:lnTo>
                <a:lnTo>
                  <a:pt x="0" y="8047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AutoShape 8" id="8"/>
          <p:cNvSpPr/>
          <p:nvPr/>
        </p:nvSpPr>
        <p:spPr>
          <a:xfrm flipV="true">
            <a:off x="2756705" y="6809702"/>
            <a:ext cx="0" cy="725552"/>
          </a:xfrm>
          <a:prstGeom prst="line">
            <a:avLst/>
          </a:prstGeom>
          <a:ln cap="flat" w="47625">
            <a:solidFill>
              <a:srgbClr val="333333"/>
            </a:solidFill>
            <a:prstDash val="solid"/>
            <a:headEnd type="none" len="sm" w="sm"/>
            <a:tailEnd type="none" len="sm" w="sm"/>
          </a:ln>
        </p:spPr>
      </p:sp>
      <p:sp>
        <p:nvSpPr>
          <p:cNvPr name="AutoShape 9" id="9"/>
          <p:cNvSpPr/>
          <p:nvPr/>
        </p:nvSpPr>
        <p:spPr>
          <a:xfrm flipV="true">
            <a:off x="5748473" y="6809702"/>
            <a:ext cx="0" cy="725552"/>
          </a:xfrm>
          <a:prstGeom prst="line">
            <a:avLst/>
          </a:prstGeom>
          <a:ln cap="flat" w="47625">
            <a:solidFill>
              <a:srgbClr val="333333"/>
            </a:solidFill>
            <a:prstDash val="solid"/>
            <a:headEnd type="none" len="sm" w="sm"/>
            <a:tailEnd type="none" len="sm" w="sm"/>
          </a:ln>
        </p:spPr>
      </p:sp>
      <p:sp>
        <p:nvSpPr>
          <p:cNvPr name="AutoShape 10" id="10"/>
          <p:cNvSpPr/>
          <p:nvPr/>
        </p:nvSpPr>
        <p:spPr>
          <a:xfrm flipV="true">
            <a:off x="8730030" y="6747733"/>
            <a:ext cx="0" cy="725552"/>
          </a:xfrm>
          <a:prstGeom prst="line">
            <a:avLst/>
          </a:prstGeom>
          <a:ln cap="flat" w="47625">
            <a:solidFill>
              <a:srgbClr val="333333"/>
            </a:solidFill>
            <a:prstDash val="solid"/>
            <a:headEnd type="none" len="sm" w="sm"/>
            <a:tailEnd type="none" len="sm" w="sm"/>
          </a:ln>
        </p:spPr>
      </p:sp>
      <p:sp>
        <p:nvSpPr>
          <p:cNvPr name="AutoShape 11" id="11"/>
          <p:cNvSpPr/>
          <p:nvPr/>
        </p:nvSpPr>
        <p:spPr>
          <a:xfrm flipV="true">
            <a:off x="11716019" y="6809702"/>
            <a:ext cx="0" cy="725552"/>
          </a:xfrm>
          <a:prstGeom prst="line">
            <a:avLst/>
          </a:prstGeom>
          <a:ln cap="flat" w="47625">
            <a:solidFill>
              <a:srgbClr val="333333"/>
            </a:solidFill>
            <a:prstDash val="solid"/>
            <a:headEnd type="none" len="sm" w="sm"/>
            <a:tailEnd type="none" len="sm" w="sm"/>
          </a:ln>
        </p:spPr>
      </p:sp>
      <p:sp>
        <p:nvSpPr>
          <p:cNvPr name="AutoShape 12" id="12"/>
          <p:cNvSpPr/>
          <p:nvPr/>
        </p:nvSpPr>
        <p:spPr>
          <a:xfrm flipV="true">
            <a:off x="14656206" y="6809702"/>
            <a:ext cx="0" cy="725552"/>
          </a:xfrm>
          <a:prstGeom prst="line">
            <a:avLst/>
          </a:prstGeom>
          <a:ln cap="flat" w="47625">
            <a:solidFill>
              <a:srgbClr val="333333"/>
            </a:solidFill>
            <a:prstDash val="solid"/>
            <a:headEnd type="none" len="sm" w="sm"/>
            <a:tailEnd type="none" len="sm" w="sm"/>
          </a:ln>
        </p:spPr>
      </p:sp>
      <p:sp>
        <p:nvSpPr>
          <p:cNvPr name="Freeform 13" id="13"/>
          <p:cNvSpPr/>
          <p:nvPr/>
        </p:nvSpPr>
        <p:spPr>
          <a:xfrm flipH="false" flipV="false" rot="0">
            <a:off x="870007" y="4169664"/>
            <a:ext cx="16230600" cy="973836"/>
          </a:xfrm>
          <a:custGeom>
            <a:avLst/>
            <a:gdLst/>
            <a:ahLst/>
            <a:cxnLst/>
            <a:rect r="r" b="b" t="t" l="l"/>
            <a:pathLst>
              <a:path h="973836" w="16230600">
                <a:moveTo>
                  <a:pt x="0" y="0"/>
                </a:moveTo>
                <a:lnTo>
                  <a:pt x="16230600" y="0"/>
                </a:lnTo>
                <a:lnTo>
                  <a:pt x="16230600" y="973836"/>
                </a:lnTo>
                <a:lnTo>
                  <a:pt x="0" y="97383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4" id="14"/>
          <p:cNvSpPr txBox="true"/>
          <p:nvPr/>
        </p:nvSpPr>
        <p:spPr>
          <a:xfrm rot="0">
            <a:off x="1028700" y="97155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Project Roadmap</a:t>
            </a:r>
          </a:p>
        </p:txBody>
      </p:sp>
      <p:sp>
        <p:nvSpPr>
          <p:cNvPr name="TextBox 15" id="15"/>
          <p:cNvSpPr txBox="true"/>
          <p:nvPr/>
        </p:nvSpPr>
        <p:spPr>
          <a:xfrm rot="0">
            <a:off x="12222482" y="97155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Company Presentation</a:t>
            </a:r>
          </a:p>
        </p:txBody>
      </p:sp>
      <p:sp>
        <p:nvSpPr>
          <p:cNvPr name="TextBox 16" id="16"/>
          <p:cNvSpPr txBox="true"/>
          <p:nvPr/>
        </p:nvSpPr>
        <p:spPr>
          <a:xfrm rot="0">
            <a:off x="1661244" y="2294983"/>
            <a:ext cx="14965512" cy="1285875"/>
          </a:xfrm>
          <a:prstGeom prst="rect">
            <a:avLst/>
          </a:prstGeom>
        </p:spPr>
        <p:txBody>
          <a:bodyPr anchor="t" rtlCol="false" tIns="0" lIns="0" bIns="0" rIns="0">
            <a:spAutoFit/>
          </a:bodyPr>
          <a:lstStyle/>
          <a:p>
            <a:pPr algn="ctr">
              <a:lnSpc>
                <a:spcPts val="10199"/>
              </a:lnSpc>
            </a:pPr>
            <a:r>
              <a:rPr lang="en-US" b="true" sz="8499" i="true" spc="-416">
                <a:solidFill>
                  <a:srgbClr val="333333"/>
                </a:solidFill>
                <a:latin typeface="Noto Serif Display Semi-Bold Italics"/>
                <a:ea typeface="Noto Serif Display Semi-Bold Italics"/>
                <a:cs typeface="Noto Serif Display Semi-Bold Italics"/>
                <a:sym typeface="Noto Serif Display Semi-Bold Italics"/>
              </a:rPr>
              <a:t>Project Roadmap</a:t>
            </a:r>
          </a:p>
        </p:txBody>
      </p:sp>
      <p:sp>
        <p:nvSpPr>
          <p:cNvPr name="TextBox 17" id="17"/>
          <p:cNvSpPr txBox="true"/>
          <p:nvPr/>
        </p:nvSpPr>
        <p:spPr>
          <a:xfrm rot="0">
            <a:off x="1185346" y="7801953"/>
            <a:ext cx="3142718" cy="381000"/>
          </a:xfrm>
          <a:prstGeom prst="rect">
            <a:avLst/>
          </a:prstGeom>
        </p:spPr>
        <p:txBody>
          <a:bodyPr anchor="t" rtlCol="false" tIns="0" lIns="0" bIns="0" rIns="0">
            <a:spAutoFit/>
          </a:bodyPr>
          <a:lstStyle/>
          <a:p>
            <a:pPr algn="ctr">
              <a:lnSpc>
                <a:spcPts val="2999"/>
              </a:lnSpc>
            </a:pPr>
            <a:r>
              <a:rPr lang="en-US" b="true" sz="2499">
                <a:solidFill>
                  <a:srgbClr val="333333"/>
                </a:solidFill>
                <a:latin typeface="Public Sans Bold"/>
                <a:ea typeface="Public Sans Bold"/>
                <a:cs typeface="Public Sans Bold"/>
                <a:sym typeface="Public Sans Bold"/>
              </a:rPr>
              <a:t>Research</a:t>
            </a:r>
          </a:p>
        </p:txBody>
      </p:sp>
      <p:sp>
        <p:nvSpPr>
          <p:cNvPr name="TextBox 18" id="18"/>
          <p:cNvSpPr txBox="true"/>
          <p:nvPr/>
        </p:nvSpPr>
        <p:spPr>
          <a:xfrm rot="0">
            <a:off x="4162826" y="7801953"/>
            <a:ext cx="3142718" cy="381000"/>
          </a:xfrm>
          <a:prstGeom prst="rect">
            <a:avLst/>
          </a:prstGeom>
        </p:spPr>
        <p:txBody>
          <a:bodyPr anchor="t" rtlCol="false" tIns="0" lIns="0" bIns="0" rIns="0">
            <a:spAutoFit/>
          </a:bodyPr>
          <a:lstStyle/>
          <a:p>
            <a:pPr algn="ctr">
              <a:lnSpc>
                <a:spcPts val="2999"/>
              </a:lnSpc>
            </a:pPr>
            <a:r>
              <a:rPr lang="en-US" b="true" sz="2499">
                <a:solidFill>
                  <a:srgbClr val="333333"/>
                </a:solidFill>
                <a:latin typeface="Public Sans Bold"/>
                <a:ea typeface="Public Sans Bold"/>
                <a:cs typeface="Public Sans Bold"/>
                <a:sym typeface="Public Sans Bold"/>
              </a:rPr>
              <a:t>Budgeting</a:t>
            </a:r>
          </a:p>
        </p:txBody>
      </p:sp>
      <p:sp>
        <p:nvSpPr>
          <p:cNvPr name="TextBox 19" id="19"/>
          <p:cNvSpPr txBox="true"/>
          <p:nvPr/>
        </p:nvSpPr>
        <p:spPr>
          <a:xfrm rot="0">
            <a:off x="7412606" y="7739984"/>
            <a:ext cx="2634847" cy="381000"/>
          </a:xfrm>
          <a:prstGeom prst="rect">
            <a:avLst/>
          </a:prstGeom>
        </p:spPr>
        <p:txBody>
          <a:bodyPr anchor="t" rtlCol="false" tIns="0" lIns="0" bIns="0" rIns="0">
            <a:spAutoFit/>
          </a:bodyPr>
          <a:lstStyle/>
          <a:p>
            <a:pPr algn="ctr">
              <a:lnSpc>
                <a:spcPts val="2999"/>
              </a:lnSpc>
            </a:pPr>
            <a:r>
              <a:rPr lang="en-US" b="true" sz="2499">
                <a:solidFill>
                  <a:srgbClr val="333333"/>
                </a:solidFill>
                <a:latin typeface="Public Sans Bold"/>
                <a:ea typeface="Public Sans Bold"/>
                <a:cs typeface="Public Sans Bold"/>
                <a:sym typeface="Public Sans Bold"/>
              </a:rPr>
              <a:t>Design</a:t>
            </a:r>
          </a:p>
        </p:txBody>
      </p:sp>
      <p:sp>
        <p:nvSpPr>
          <p:cNvPr name="TextBox 20" id="20"/>
          <p:cNvSpPr txBox="true"/>
          <p:nvPr/>
        </p:nvSpPr>
        <p:spPr>
          <a:xfrm rot="0">
            <a:off x="10405469" y="7801953"/>
            <a:ext cx="2592524" cy="381000"/>
          </a:xfrm>
          <a:prstGeom prst="rect">
            <a:avLst/>
          </a:prstGeom>
        </p:spPr>
        <p:txBody>
          <a:bodyPr anchor="t" rtlCol="false" tIns="0" lIns="0" bIns="0" rIns="0">
            <a:spAutoFit/>
          </a:bodyPr>
          <a:lstStyle/>
          <a:p>
            <a:pPr algn="ctr">
              <a:lnSpc>
                <a:spcPts val="2999"/>
              </a:lnSpc>
            </a:pPr>
            <a:r>
              <a:rPr lang="en-US" b="true" sz="2499">
                <a:solidFill>
                  <a:srgbClr val="333333"/>
                </a:solidFill>
                <a:latin typeface="Public Sans Bold"/>
                <a:ea typeface="Public Sans Bold"/>
                <a:cs typeface="Public Sans Bold"/>
                <a:sym typeface="Public Sans Bold"/>
              </a:rPr>
              <a:t>Construct</a:t>
            </a:r>
          </a:p>
        </p:txBody>
      </p:sp>
      <p:sp>
        <p:nvSpPr>
          <p:cNvPr name="TextBox 21" id="21"/>
          <p:cNvSpPr txBox="true"/>
          <p:nvPr/>
        </p:nvSpPr>
        <p:spPr>
          <a:xfrm rot="0">
            <a:off x="13359943" y="7801953"/>
            <a:ext cx="2592524" cy="381000"/>
          </a:xfrm>
          <a:prstGeom prst="rect">
            <a:avLst/>
          </a:prstGeom>
        </p:spPr>
        <p:txBody>
          <a:bodyPr anchor="t" rtlCol="false" tIns="0" lIns="0" bIns="0" rIns="0">
            <a:spAutoFit/>
          </a:bodyPr>
          <a:lstStyle/>
          <a:p>
            <a:pPr algn="ctr">
              <a:lnSpc>
                <a:spcPts val="2999"/>
              </a:lnSpc>
            </a:pPr>
            <a:r>
              <a:rPr lang="en-US" b="true" sz="2499">
                <a:solidFill>
                  <a:srgbClr val="333333"/>
                </a:solidFill>
                <a:latin typeface="Public Sans Bold"/>
                <a:ea typeface="Public Sans Bold"/>
                <a:cs typeface="Public Sans Bold"/>
                <a:sym typeface="Public Sans Bold"/>
              </a:rPr>
              <a:t>Finalization</a:t>
            </a:r>
          </a:p>
        </p:txBody>
      </p:sp>
      <p:sp>
        <p:nvSpPr>
          <p:cNvPr name="TextBox 22" id="22"/>
          <p:cNvSpPr txBox="true"/>
          <p:nvPr/>
        </p:nvSpPr>
        <p:spPr>
          <a:xfrm rot="0">
            <a:off x="1028700" y="882650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May 2023</a:t>
            </a:r>
          </a:p>
        </p:txBody>
      </p:sp>
      <p:sp>
        <p:nvSpPr>
          <p:cNvPr name="TextBox 23" id="23"/>
          <p:cNvSpPr txBox="true"/>
          <p:nvPr/>
        </p:nvSpPr>
        <p:spPr>
          <a:xfrm rot="0">
            <a:off x="12222482" y="882650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Rimberio Co.</a:t>
            </a:r>
          </a:p>
        </p:txBody>
      </p:sp>
    </p:spTree>
  </p:cSld>
  <p:clrMapOvr>
    <a:masterClrMapping/>
  </p:clrMapOvr>
</p:sld>
</file>

<file path=ppt/slides/slide38.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5400000">
            <a:off x="9054487" y="4329376"/>
            <a:ext cx="207601" cy="0"/>
          </a:xfrm>
          <a:prstGeom prst="line">
            <a:avLst/>
          </a:prstGeom>
          <a:ln cap="flat" w="28575">
            <a:solidFill>
              <a:srgbClr val="333333"/>
            </a:solidFill>
            <a:prstDash val="solid"/>
            <a:headEnd type="none" len="sm" w="sm"/>
            <a:tailEnd type="none" len="sm" w="sm"/>
          </a:ln>
        </p:spPr>
      </p:sp>
      <p:sp>
        <p:nvSpPr>
          <p:cNvPr name="AutoShape 3" id="3"/>
          <p:cNvSpPr/>
          <p:nvPr/>
        </p:nvSpPr>
        <p:spPr>
          <a:xfrm rot="0">
            <a:off x="4988095" y="4418889"/>
            <a:ext cx="8297523" cy="0"/>
          </a:xfrm>
          <a:prstGeom prst="line">
            <a:avLst/>
          </a:prstGeom>
          <a:ln cap="flat" w="28575">
            <a:solidFill>
              <a:srgbClr val="333333"/>
            </a:solidFill>
            <a:prstDash val="solid"/>
            <a:headEnd type="none" len="sm" w="sm"/>
            <a:tailEnd type="none" len="sm" w="sm"/>
          </a:ln>
        </p:spPr>
      </p:sp>
      <p:sp>
        <p:nvSpPr>
          <p:cNvPr name="AutoShape 4" id="4"/>
          <p:cNvSpPr/>
          <p:nvPr/>
        </p:nvSpPr>
        <p:spPr>
          <a:xfrm rot="-5400000">
            <a:off x="13167530" y="4522690"/>
            <a:ext cx="207601" cy="0"/>
          </a:xfrm>
          <a:prstGeom prst="line">
            <a:avLst/>
          </a:prstGeom>
          <a:ln cap="flat" w="28575">
            <a:solidFill>
              <a:srgbClr val="333333"/>
            </a:solidFill>
            <a:prstDash val="solid"/>
            <a:headEnd type="none" len="sm" w="sm"/>
            <a:tailEnd type="none" len="sm" w="sm"/>
          </a:ln>
        </p:spPr>
      </p:sp>
      <p:sp>
        <p:nvSpPr>
          <p:cNvPr name="AutoShape 5" id="5"/>
          <p:cNvSpPr/>
          <p:nvPr/>
        </p:nvSpPr>
        <p:spPr>
          <a:xfrm rot="-5400000">
            <a:off x="4898582" y="4522690"/>
            <a:ext cx="207601" cy="0"/>
          </a:xfrm>
          <a:prstGeom prst="line">
            <a:avLst/>
          </a:prstGeom>
          <a:ln cap="flat" w="28575">
            <a:solidFill>
              <a:srgbClr val="333333"/>
            </a:solidFill>
            <a:prstDash val="solid"/>
            <a:headEnd type="none" len="sm" w="sm"/>
            <a:tailEnd type="none" len="sm" w="sm"/>
          </a:ln>
        </p:spPr>
      </p:sp>
      <p:sp>
        <p:nvSpPr>
          <p:cNvPr name="AutoShape 6" id="6"/>
          <p:cNvSpPr/>
          <p:nvPr/>
        </p:nvSpPr>
        <p:spPr>
          <a:xfrm rot="-5400000">
            <a:off x="4884294" y="6119712"/>
            <a:ext cx="207601" cy="0"/>
          </a:xfrm>
          <a:prstGeom prst="line">
            <a:avLst/>
          </a:prstGeom>
          <a:ln cap="flat" w="28575">
            <a:solidFill>
              <a:srgbClr val="333333"/>
            </a:solidFill>
            <a:prstDash val="solid"/>
            <a:headEnd type="none" len="sm" w="sm"/>
            <a:tailEnd type="none" len="sm" w="sm"/>
          </a:ln>
        </p:spPr>
      </p:sp>
      <p:sp>
        <p:nvSpPr>
          <p:cNvPr name="AutoShape 7" id="7"/>
          <p:cNvSpPr/>
          <p:nvPr/>
        </p:nvSpPr>
        <p:spPr>
          <a:xfrm rot="-5400000">
            <a:off x="13167530" y="6119712"/>
            <a:ext cx="207601" cy="0"/>
          </a:xfrm>
          <a:prstGeom prst="line">
            <a:avLst/>
          </a:prstGeom>
          <a:ln cap="flat" w="28575">
            <a:solidFill>
              <a:srgbClr val="333333"/>
            </a:solidFill>
            <a:prstDash val="solid"/>
            <a:headEnd type="none" len="sm" w="sm"/>
            <a:tailEnd type="none" len="sm" w="sm"/>
          </a:ln>
        </p:spPr>
      </p:sp>
      <p:grpSp>
        <p:nvGrpSpPr>
          <p:cNvPr name="Group 8" id="8"/>
          <p:cNvGrpSpPr/>
          <p:nvPr/>
        </p:nvGrpSpPr>
        <p:grpSpPr>
          <a:xfrm rot="0">
            <a:off x="3142502" y="4640777"/>
            <a:ext cx="3691186" cy="773093"/>
            <a:chOff x="0" y="0"/>
            <a:chExt cx="3153125" cy="660400"/>
          </a:xfrm>
        </p:grpSpPr>
        <p:sp>
          <p:nvSpPr>
            <p:cNvPr name="Freeform 9" id="9"/>
            <p:cNvSpPr/>
            <p:nvPr/>
          </p:nvSpPr>
          <p:spPr>
            <a:xfrm flipH="false" flipV="false" rot="0">
              <a:off x="0" y="0"/>
              <a:ext cx="3153125" cy="660400"/>
            </a:xfrm>
            <a:custGeom>
              <a:avLst/>
              <a:gdLst/>
              <a:ahLst/>
              <a:cxnLst/>
              <a:rect r="r" b="b" t="t" l="l"/>
              <a:pathLst>
                <a:path h="660400" w="3153125">
                  <a:moveTo>
                    <a:pt x="3028665" y="660400"/>
                  </a:moveTo>
                  <a:lnTo>
                    <a:pt x="124460" y="660400"/>
                  </a:lnTo>
                  <a:cubicBezTo>
                    <a:pt x="55880" y="660400"/>
                    <a:pt x="0" y="604520"/>
                    <a:pt x="0" y="535940"/>
                  </a:cubicBezTo>
                  <a:lnTo>
                    <a:pt x="0" y="124460"/>
                  </a:lnTo>
                  <a:cubicBezTo>
                    <a:pt x="0" y="55880"/>
                    <a:pt x="55880" y="0"/>
                    <a:pt x="124460" y="0"/>
                  </a:cubicBezTo>
                  <a:lnTo>
                    <a:pt x="3028665" y="0"/>
                  </a:lnTo>
                  <a:cubicBezTo>
                    <a:pt x="3097245" y="0"/>
                    <a:pt x="3153125" y="55880"/>
                    <a:pt x="3153125" y="124460"/>
                  </a:cubicBezTo>
                  <a:lnTo>
                    <a:pt x="3153125" y="535940"/>
                  </a:lnTo>
                  <a:cubicBezTo>
                    <a:pt x="3153125" y="604520"/>
                    <a:pt x="3097245" y="660400"/>
                    <a:pt x="3028665" y="660400"/>
                  </a:cubicBezTo>
                  <a:close/>
                </a:path>
              </a:pathLst>
            </a:custGeom>
            <a:solidFill>
              <a:srgbClr val="333333"/>
            </a:solidFill>
          </p:spPr>
        </p:sp>
      </p:grpSp>
      <p:grpSp>
        <p:nvGrpSpPr>
          <p:cNvPr name="Group 10" id="10"/>
          <p:cNvGrpSpPr/>
          <p:nvPr/>
        </p:nvGrpSpPr>
        <p:grpSpPr>
          <a:xfrm rot="0">
            <a:off x="11425738" y="4640777"/>
            <a:ext cx="3691186" cy="773093"/>
            <a:chOff x="0" y="0"/>
            <a:chExt cx="3153125" cy="660400"/>
          </a:xfrm>
        </p:grpSpPr>
        <p:sp>
          <p:nvSpPr>
            <p:cNvPr name="Freeform 11" id="11"/>
            <p:cNvSpPr/>
            <p:nvPr/>
          </p:nvSpPr>
          <p:spPr>
            <a:xfrm flipH="false" flipV="false" rot="0">
              <a:off x="0" y="0"/>
              <a:ext cx="3153125" cy="660400"/>
            </a:xfrm>
            <a:custGeom>
              <a:avLst/>
              <a:gdLst/>
              <a:ahLst/>
              <a:cxnLst/>
              <a:rect r="r" b="b" t="t" l="l"/>
              <a:pathLst>
                <a:path h="660400" w="3153125">
                  <a:moveTo>
                    <a:pt x="3028665" y="660400"/>
                  </a:moveTo>
                  <a:lnTo>
                    <a:pt x="124460" y="660400"/>
                  </a:lnTo>
                  <a:cubicBezTo>
                    <a:pt x="55880" y="660400"/>
                    <a:pt x="0" y="604520"/>
                    <a:pt x="0" y="535940"/>
                  </a:cubicBezTo>
                  <a:lnTo>
                    <a:pt x="0" y="124460"/>
                  </a:lnTo>
                  <a:cubicBezTo>
                    <a:pt x="0" y="55880"/>
                    <a:pt x="55880" y="0"/>
                    <a:pt x="124460" y="0"/>
                  </a:cubicBezTo>
                  <a:lnTo>
                    <a:pt x="3028665" y="0"/>
                  </a:lnTo>
                  <a:cubicBezTo>
                    <a:pt x="3097245" y="0"/>
                    <a:pt x="3153125" y="55880"/>
                    <a:pt x="3153125" y="124460"/>
                  </a:cubicBezTo>
                  <a:lnTo>
                    <a:pt x="3153125" y="535940"/>
                  </a:lnTo>
                  <a:cubicBezTo>
                    <a:pt x="3153125" y="604520"/>
                    <a:pt x="3097245" y="660400"/>
                    <a:pt x="3028665" y="660400"/>
                  </a:cubicBezTo>
                  <a:close/>
                </a:path>
              </a:pathLst>
            </a:custGeom>
            <a:solidFill>
              <a:srgbClr val="333333"/>
            </a:solidFill>
          </p:spPr>
        </p:sp>
      </p:grpSp>
      <p:sp>
        <p:nvSpPr>
          <p:cNvPr name="TextBox 12" id="12"/>
          <p:cNvSpPr txBox="true"/>
          <p:nvPr/>
        </p:nvSpPr>
        <p:spPr>
          <a:xfrm rot="0">
            <a:off x="3313062" y="4832062"/>
            <a:ext cx="3350064" cy="381000"/>
          </a:xfrm>
          <a:prstGeom prst="rect">
            <a:avLst/>
          </a:prstGeom>
        </p:spPr>
        <p:txBody>
          <a:bodyPr anchor="t" rtlCol="false" tIns="0" lIns="0" bIns="0" rIns="0">
            <a:spAutoFit/>
          </a:bodyPr>
          <a:lstStyle/>
          <a:p>
            <a:pPr algn="ctr">
              <a:lnSpc>
                <a:spcPts val="2999"/>
              </a:lnSpc>
            </a:pPr>
            <a:r>
              <a:rPr lang="en-US" b="true" sz="2499">
                <a:solidFill>
                  <a:srgbClr val="F5F5F4"/>
                </a:solidFill>
                <a:latin typeface="Public Sans Bold"/>
                <a:ea typeface="Public Sans Bold"/>
                <a:cs typeface="Public Sans Bold"/>
                <a:sym typeface="Public Sans Bold"/>
              </a:rPr>
              <a:t>Lorna Alvarado</a:t>
            </a:r>
          </a:p>
        </p:txBody>
      </p:sp>
      <p:sp>
        <p:nvSpPr>
          <p:cNvPr name="TextBox 13" id="13"/>
          <p:cNvSpPr txBox="true"/>
          <p:nvPr/>
        </p:nvSpPr>
        <p:spPr>
          <a:xfrm rot="0">
            <a:off x="11596298" y="4832062"/>
            <a:ext cx="3350064" cy="381000"/>
          </a:xfrm>
          <a:prstGeom prst="rect">
            <a:avLst/>
          </a:prstGeom>
        </p:spPr>
        <p:txBody>
          <a:bodyPr anchor="t" rtlCol="false" tIns="0" lIns="0" bIns="0" rIns="0">
            <a:spAutoFit/>
          </a:bodyPr>
          <a:lstStyle/>
          <a:p>
            <a:pPr algn="ctr">
              <a:lnSpc>
                <a:spcPts val="2999"/>
              </a:lnSpc>
            </a:pPr>
            <a:r>
              <a:rPr lang="en-US" b="true" sz="2499">
                <a:solidFill>
                  <a:srgbClr val="F5F5F4"/>
                </a:solidFill>
                <a:latin typeface="Public Sans Bold"/>
                <a:ea typeface="Public Sans Bold"/>
                <a:cs typeface="Public Sans Bold"/>
                <a:sym typeface="Public Sans Bold"/>
              </a:rPr>
              <a:t>Muhammad Patel</a:t>
            </a:r>
          </a:p>
        </p:txBody>
      </p:sp>
      <p:grpSp>
        <p:nvGrpSpPr>
          <p:cNvPr name="Group 14" id="14"/>
          <p:cNvGrpSpPr/>
          <p:nvPr/>
        </p:nvGrpSpPr>
        <p:grpSpPr>
          <a:xfrm rot="0">
            <a:off x="3142502" y="5472731"/>
            <a:ext cx="3691186" cy="577460"/>
            <a:chOff x="0" y="0"/>
            <a:chExt cx="6503969" cy="1017500"/>
          </a:xfrm>
        </p:grpSpPr>
        <p:sp>
          <p:nvSpPr>
            <p:cNvPr name="Freeform 15" id="15"/>
            <p:cNvSpPr/>
            <p:nvPr/>
          </p:nvSpPr>
          <p:spPr>
            <a:xfrm flipH="false" flipV="false" rot="0">
              <a:off x="0" y="0"/>
              <a:ext cx="6503969" cy="1017500"/>
            </a:xfrm>
            <a:custGeom>
              <a:avLst/>
              <a:gdLst/>
              <a:ahLst/>
              <a:cxnLst/>
              <a:rect r="r" b="b" t="t" l="l"/>
              <a:pathLst>
                <a:path h="1017500" w="6503969">
                  <a:moveTo>
                    <a:pt x="6379509" y="59690"/>
                  </a:moveTo>
                  <a:cubicBezTo>
                    <a:pt x="6415069" y="59690"/>
                    <a:pt x="6444279" y="88900"/>
                    <a:pt x="6444279" y="124460"/>
                  </a:cubicBezTo>
                  <a:lnTo>
                    <a:pt x="6444279" y="893040"/>
                  </a:lnTo>
                  <a:cubicBezTo>
                    <a:pt x="6444279" y="928600"/>
                    <a:pt x="6415069" y="957810"/>
                    <a:pt x="6379509" y="957810"/>
                  </a:cubicBezTo>
                  <a:lnTo>
                    <a:pt x="124460" y="957810"/>
                  </a:lnTo>
                  <a:cubicBezTo>
                    <a:pt x="88900" y="957810"/>
                    <a:pt x="59690" y="928600"/>
                    <a:pt x="59690" y="893040"/>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893040"/>
                  </a:lnTo>
                  <a:cubicBezTo>
                    <a:pt x="0" y="961620"/>
                    <a:pt x="55880" y="1017500"/>
                    <a:pt x="124460" y="1017500"/>
                  </a:cubicBezTo>
                  <a:lnTo>
                    <a:pt x="6379509" y="1017500"/>
                  </a:lnTo>
                  <a:cubicBezTo>
                    <a:pt x="6448089" y="1017500"/>
                    <a:pt x="6503969" y="961620"/>
                    <a:pt x="6503969" y="893040"/>
                  </a:cubicBezTo>
                  <a:lnTo>
                    <a:pt x="6503969" y="124460"/>
                  </a:lnTo>
                  <a:cubicBezTo>
                    <a:pt x="6503969" y="55880"/>
                    <a:pt x="6448089" y="0"/>
                    <a:pt x="6379509" y="0"/>
                  </a:cubicBezTo>
                  <a:close/>
                </a:path>
              </a:pathLst>
            </a:custGeom>
            <a:solidFill>
              <a:srgbClr val="333333"/>
            </a:solidFill>
          </p:spPr>
        </p:sp>
      </p:grpSp>
      <p:grpSp>
        <p:nvGrpSpPr>
          <p:cNvPr name="Group 16" id="16"/>
          <p:cNvGrpSpPr/>
          <p:nvPr/>
        </p:nvGrpSpPr>
        <p:grpSpPr>
          <a:xfrm rot="0">
            <a:off x="11425738" y="5472731"/>
            <a:ext cx="3691186" cy="577460"/>
            <a:chOff x="0" y="0"/>
            <a:chExt cx="6503969" cy="1017500"/>
          </a:xfrm>
        </p:grpSpPr>
        <p:sp>
          <p:nvSpPr>
            <p:cNvPr name="Freeform 17" id="17"/>
            <p:cNvSpPr/>
            <p:nvPr/>
          </p:nvSpPr>
          <p:spPr>
            <a:xfrm flipH="false" flipV="false" rot="0">
              <a:off x="0" y="0"/>
              <a:ext cx="6503969" cy="1017500"/>
            </a:xfrm>
            <a:custGeom>
              <a:avLst/>
              <a:gdLst/>
              <a:ahLst/>
              <a:cxnLst/>
              <a:rect r="r" b="b" t="t" l="l"/>
              <a:pathLst>
                <a:path h="1017500" w="6503969">
                  <a:moveTo>
                    <a:pt x="6379509" y="59690"/>
                  </a:moveTo>
                  <a:cubicBezTo>
                    <a:pt x="6415069" y="59690"/>
                    <a:pt x="6444279" y="88900"/>
                    <a:pt x="6444279" y="124460"/>
                  </a:cubicBezTo>
                  <a:lnTo>
                    <a:pt x="6444279" y="893040"/>
                  </a:lnTo>
                  <a:cubicBezTo>
                    <a:pt x="6444279" y="928600"/>
                    <a:pt x="6415069" y="957810"/>
                    <a:pt x="6379509" y="957810"/>
                  </a:cubicBezTo>
                  <a:lnTo>
                    <a:pt x="124460" y="957810"/>
                  </a:lnTo>
                  <a:cubicBezTo>
                    <a:pt x="88900" y="957810"/>
                    <a:pt x="59690" y="928600"/>
                    <a:pt x="59690" y="893040"/>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893040"/>
                  </a:lnTo>
                  <a:cubicBezTo>
                    <a:pt x="0" y="961620"/>
                    <a:pt x="55880" y="1017500"/>
                    <a:pt x="124460" y="1017500"/>
                  </a:cubicBezTo>
                  <a:lnTo>
                    <a:pt x="6379509" y="1017500"/>
                  </a:lnTo>
                  <a:cubicBezTo>
                    <a:pt x="6448089" y="1017500"/>
                    <a:pt x="6503969" y="961620"/>
                    <a:pt x="6503969" y="893040"/>
                  </a:cubicBezTo>
                  <a:lnTo>
                    <a:pt x="6503969" y="124460"/>
                  </a:lnTo>
                  <a:cubicBezTo>
                    <a:pt x="6503969" y="55880"/>
                    <a:pt x="6448089" y="0"/>
                    <a:pt x="6379509" y="0"/>
                  </a:cubicBezTo>
                  <a:close/>
                </a:path>
              </a:pathLst>
            </a:custGeom>
            <a:solidFill>
              <a:srgbClr val="333333"/>
            </a:solidFill>
          </p:spPr>
        </p:sp>
      </p:grpSp>
      <p:sp>
        <p:nvSpPr>
          <p:cNvPr name="TextBox 18" id="18"/>
          <p:cNvSpPr txBox="true"/>
          <p:nvPr/>
        </p:nvSpPr>
        <p:spPr>
          <a:xfrm rot="0">
            <a:off x="3313062" y="5575723"/>
            <a:ext cx="3350064" cy="352425"/>
          </a:xfrm>
          <a:prstGeom prst="rect">
            <a:avLst/>
          </a:prstGeom>
        </p:spPr>
        <p:txBody>
          <a:bodyPr anchor="t" rtlCol="false" tIns="0" lIns="0" bIns="0" rIns="0">
            <a:spAutoFit/>
          </a:bodyPr>
          <a:lstStyle/>
          <a:p>
            <a:pPr algn="ctr">
              <a:lnSpc>
                <a:spcPts val="2640"/>
              </a:lnSpc>
            </a:pPr>
            <a:r>
              <a:rPr lang="en-US" sz="2200">
                <a:solidFill>
                  <a:srgbClr val="333333"/>
                </a:solidFill>
                <a:latin typeface="Public Sans"/>
                <a:ea typeface="Public Sans"/>
                <a:cs typeface="Public Sans"/>
                <a:sym typeface="Public Sans"/>
              </a:rPr>
              <a:t>Production Manager</a:t>
            </a:r>
          </a:p>
        </p:txBody>
      </p:sp>
      <p:sp>
        <p:nvSpPr>
          <p:cNvPr name="TextBox 19" id="19"/>
          <p:cNvSpPr txBox="true"/>
          <p:nvPr/>
        </p:nvSpPr>
        <p:spPr>
          <a:xfrm rot="0">
            <a:off x="11596298" y="5575723"/>
            <a:ext cx="3350064" cy="352425"/>
          </a:xfrm>
          <a:prstGeom prst="rect">
            <a:avLst/>
          </a:prstGeom>
        </p:spPr>
        <p:txBody>
          <a:bodyPr anchor="t" rtlCol="false" tIns="0" lIns="0" bIns="0" rIns="0">
            <a:spAutoFit/>
          </a:bodyPr>
          <a:lstStyle/>
          <a:p>
            <a:pPr algn="ctr">
              <a:lnSpc>
                <a:spcPts val="2640"/>
              </a:lnSpc>
            </a:pPr>
            <a:r>
              <a:rPr lang="en-US" sz="2200">
                <a:solidFill>
                  <a:srgbClr val="333333"/>
                </a:solidFill>
                <a:latin typeface="Public Sans"/>
                <a:ea typeface="Public Sans"/>
                <a:cs typeface="Public Sans"/>
                <a:sym typeface="Public Sans"/>
              </a:rPr>
              <a:t>Marketing Manager</a:t>
            </a:r>
          </a:p>
        </p:txBody>
      </p:sp>
      <p:grpSp>
        <p:nvGrpSpPr>
          <p:cNvPr name="Group 20" id="20"/>
          <p:cNvGrpSpPr/>
          <p:nvPr/>
        </p:nvGrpSpPr>
        <p:grpSpPr>
          <a:xfrm rot="0">
            <a:off x="1028700" y="6431191"/>
            <a:ext cx="3691186" cy="773093"/>
            <a:chOff x="0" y="0"/>
            <a:chExt cx="3153125" cy="660400"/>
          </a:xfrm>
        </p:grpSpPr>
        <p:sp>
          <p:nvSpPr>
            <p:cNvPr name="Freeform 21" id="21"/>
            <p:cNvSpPr/>
            <p:nvPr/>
          </p:nvSpPr>
          <p:spPr>
            <a:xfrm flipH="false" flipV="false" rot="0">
              <a:off x="0" y="0"/>
              <a:ext cx="3153125" cy="660400"/>
            </a:xfrm>
            <a:custGeom>
              <a:avLst/>
              <a:gdLst/>
              <a:ahLst/>
              <a:cxnLst/>
              <a:rect r="r" b="b" t="t" l="l"/>
              <a:pathLst>
                <a:path h="660400" w="3153125">
                  <a:moveTo>
                    <a:pt x="3028665" y="660400"/>
                  </a:moveTo>
                  <a:lnTo>
                    <a:pt x="124460" y="660400"/>
                  </a:lnTo>
                  <a:cubicBezTo>
                    <a:pt x="55880" y="660400"/>
                    <a:pt x="0" y="604520"/>
                    <a:pt x="0" y="535940"/>
                  </a:cubicBezTo>
                  <a:lnTo>
                    <a:pt x="0" y="124460"/>
                  </a:lnTo>
                  <a:cubicBezTo>
                    <a:pt x="0" y="55880"/>
                    <a:pt x="55880" y="0"/>
                    <a:pt x="124460" y="0"/>
                  </a:cubicBezTo>
                  <a:lnTo>
                    <a:pt x="3028665" y="0"/>
                  </a:lnTo>
                  <a:cubicBezTo>
                    <a:pt x="3097245" y="0"/>
                    <a:pt x="3153125" y="55880"/>
                    <a:pt x="3153125" y="124460"/>
                  </a:cubicBezTo>
                  <a:lnTo>
                    <a:pt x="3153125" y="535940"/>
                  </a:lnTo>
                  <a:cubicBezTo>
                    <a:pt x="3153125" y="604520"/>
                    <a:pt x="3097245" y="660400"/>
                    <a:pt x="3028665" y="660400"/>
                  </a:cubicBezTo>
                  <a:close/>
                </a:path>
              </a:pathLst>
            </a:custGeom>
            <a:solidFill>
              <a:srgbClr val="333333"/>
            </a:solidFill>
          </p:spPr>
        </p:sp>
      </p:grpSp>
      <p:grpSp>
        <p:nvGrpSpPr>
          <p:cNvPr name="Group 22" id="22"/>
          <p:cNvGrpSpPr/>
          <p:nvPr/>
        </p:nvGrpSpPr>
        <p:grpSpPr>
          <a:xfrm rot="0">
            <a:off x="5284878" y="6431191"/>
            <a:ext cx="3691186" cy="773093"/>
            <a:chOff x="0" y="0"/>
            <a:chExt cx="3153125" cy="660400"/>
          </a:xfrm>
        </p:grpSpPr>
        <p:sp>
          <p:nvSpPr>
            <p:cNvPr name="Freeform 23" id="23"/>
            <p:cNvSpPr/>
            <p:nvPr/>
          </p:nvSpPr>
          <p:spPr>
            <a:xfrm flipH="false" flipV="false" rot="0">
              <a:off x="0" y="0"/>
              <a:ext cx="3153125" cy="660400"/>
            </a:xfrm>
            <a:custGeom>
              <a:avLst/>
              <a:gdLst/>
              <a:ahLst/>
              <a:cxnLst/>
              <a:rect r="r" b="b" t="t" l="l"/>
              <a:pathLst>
                <a:path h="660400" w="3153125">
                  <a:moveTo>
                    <a:pt x="3028665" y="660400"/>
                  </a:moveTo>
                  <a:lnTo>
                    <a:pt x="124460" y="660400"/>
                  </a:lnTo>
                  <a:cubicBezTo>
                    <a:pt x="55880" y="660400"/>
                    <a:pt x="0" y="604520"/>
                    <a:pt x="0" y="535940"/>
                  </a:cubicBezTo>
                  <a:lnTo>
                    <a:pt x="0" y="124460"/>
                  </a:lnTo>
                  <a:cubicBezTo>
                    <a:pt x="0" y="55880"/>
                    <a:pt x="55880" y="0"/>
                    <a:pt x="124460" y="0"/>
                  </a:cubicBezTo>
                  <a:lnTo>
                    <a:pt x="3028665" y="0"/>
                  </a:lnTo>
                  <a:cubicBezTo>
                    <a:pt x="3097245" y="0"/>
                    <a:pt x="3153125" y="55880"/>
                    <a:pt x="3153125" y="124460"/>
                  </a:cubicBezTo>
                  <a:lnTo>
                    <a:pt x="3153125" y="535940"/>
                  </a:lnTo>
                  <a:cubicBezTo>
                    <a:pt x="3153125" y="604520"/>
                    <a:pt x="3097245" y="660400"/>
                    <a:pt x="3028665" y="660400"/>
                  </a:cubicBezTo>
                  <a:close/>
                </a:path>
              </a:pathLst>
            </a:custGeom>
            <a:solidFill>
              <a:srgbClr val="333333"/>
            </a:solidFill>
          </p:spPr>
        </p:sp>
      </p:grpSp>
      <p:sp>
        <p:nvSpPr>
          <p:cNvPr name="TextBox 24" id="24"/>
          <p:cNvSpPr txBox="true"/>
          <p:nvPr/>
        </p:nvSpPr>
        <p:spPr>
          <a:xfrm rot="0">
            <a:off x="1199261" y="6622475"/>
            <a:ext cx="3350064" cy="381000"/>
          </a:xfrm>
          <a:prstGeom prst="rect">
            <a:avLst/>
          </a:prstGeom>
        </p:spPr>
        <p:txBody>
          <a:bodyPr anchor="t" rtlCol="false" tIns="0" lIns="0" bIns="0" rIns="0">
            <a:spAutoFit/>
          </a:bodyPr>
          <a:lstStyle/>
          <a:p>
            <a:pPr algn="ctr">
              <a:lnSpc>
                <a:spcPts val="2999"/>
              </a:lnSpc>
            </a:pPr>
            <a:r>
              <a:rPr lang="en-US" b="true" sz="2499">
                <a:solidFill>
                  <a:srgbClr val="F5F5F4"/>
                </a:solidFill>
                <a:latin typeface="Public Sans Bold"/>
                <a:ea typeface="Public Sans Bold"/>
                <a:cs typeface="Public Sans Bold"/>
                <a:sym typeface="Public Sans Bold"/>
              </a:rPr>
              <a:t>Benjamin Shah</a:t>
            </a:r>
          </a:p>
        </p:txBody>
      </p:sp>
      <p:sp>
        <p:nvSpPr>
          <p:cNvPr name="TextBox 25" id="25"/>
          <p:cNvSpPr txBox="true"/>
          <p:nvPr/>
        </p:nvSpPr>
        <p:spPr>
          <a:xfrm rot="0">
            <a:off x="5455439" y="6622475"/>
            <a:ext cx="3350064" cy="381000"/>
          </a:xfrm>
          <a:prstGeom prst="rect">
            <a:avLst/>
          </a:prstGeom>
        </p:spPr>
        <p:txBody>
          <a:bodyPr anchor="t" rtlCol="false" tIns="0" lIns="0" bIns="0" rIns="0">
            <a:spAutoFit/>
          </a:bodyPr>
          <a:lstStyle/>
          <a:p>
            <a:pPr algn="ctr">
              <a:lnSpc>
                <a:spcPts val="2999"/>
              </a:lnSpc>
            </a:pPr>
            <a:r>
              <a:rPr lang="en-US" b="true" sz="2499">
                <a:solidFill>
                  <a:srgbClr val="F5F5F4"/>
                </a:solidFill>
                <a:latin typeface="Public Sans Bold"/>
                <a:ea typeface="Public Sans Bold"/>
                <a:cs typeface="Public Sans Bold"/>
                <a:sym typeface="Public Sans Bold"/>
              </a:rPr>
              <a:t>Takehiro Kanegi</a:t>
            </a:r>
          </a:p>
        </p:txBody>
      </p:sp>
      <p:grpSp>
        <p:nvGrpSpPr>
          <p:cNvPr name="Group 26" id="26"/>
          <p:cNvGrpSpPr/>
          <p:nvPr/>
        </p:nvGrpSpPr>
        <p:grpSpPr>
          <a:xfrm rot="0">
            <a:off x="1028700" y="7263144"/>
            <a:ext cx="3691186" cy="577460"/>
            <a:chOff x="0" y="0"/>
            <a:chExt cx="6503969" cy="1017500"/>
          </a:xfrm>
        </p:grpSpPr>
        <p:sp>
          <p:nvSpPr>
            <p:cNvPr name="Freeform 27" id="27"/>
            <p:cNvSpPr/>
            <p:nvPr/>
          </p:nvSpPr>
          <p:spPr>
            <a:xfrm flipH="false" flipV="false" rot="0">
              <a:off x="0" y="0"/>
              <a:ext cx="6503969" cy="1017500"/>
            </a:xfrm>
            <a:custGeom>
              <a:avLst/>
              <a:gdLst/>
              <a:ahLst/>
              <a:cxnLst/>
              <a:rect r="r" b="b" t="t" l="l"/>
              <a:pathLst>
                <a:path h="1017500" w="6503969">
                  <a:moveTo>
                    <a:pt x="6379509" y="59690"/>
                  </a:moveTo>
                  <a:cubicBezTo>
                    <a:pt x="6415069" y="59690"/>
                    <a:pt x="6444279" y="88900"/>
                    <a:pt x="6444279" y="124460"/>
                  </a:cubicBezTo>
                  <a:lnTo>
                    <a:pt x="6444279" y="893040"/>
                  </a:lnTo>
                  <a:cubicBezTo>
                    <a:pt x="6444279" y="928600"/>
                    <a:pt x="6415069" y="957810"/>
                    <a:pt x="6379509" y="957810"/>
                  </a:cubicBezTo>
                  <a:lnTo>
                    <a:pt x="124460" y="957810"/>
                  </a:lnTo>
                  <a:cubicBezTo>
                    <a:pt x="88900" y="957810"/>
                    <a:pt x="59690" y="928600"/>
                    <a:pt x="59690" y="893040"/>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893040"/>
                  </a:lnTo>
                  <a:cubicBezTo>
                    <a:pt x="0" y="961620"/>
                    <a:pt x="55880" y="1017500"/>
                    <a:pt x="124460" y="1017500"/>
                  </a:cubicBezTo>
                  <a:lnTo>
                    <a:pt x="6379509" y="1017500"/>
                  </a:lnTo>
                  <a:cubicBezTo>
                    <a:pt x="6448089" y="1017500"/>
                    <a:pt x="6503969" y="961620"/>
                    <a:pt x="6503969" y="893040"/>
                  </a:cubicBezTo>
                  <a:lnTo>
                    <a:pt x="6503969" y="124460"/>
                  </a:lnTo>
                  <a:cubicBezTo>
                    <a:pt x="6503969" y="55880"/>
                    <a:pt x="6448089" y="0"/>
                    <a:pt x="6379509" y="0"/>
                  </a:cubicBezTo>
                  <a:close/>
                </a:path>
              </a:pathLst>
            </a:custGeom>
            <a:solidFill>
              <a:srgbClr val="333333"/>
            </a:solidFill>
          </p:spPr>
        </p:sp>
      </p:grpSp>
      <p:grpSp>
        <p:nvGrpSpPr>
          <p:cNvPr name="Group 28" id="28"/>
          <p:cNvGrpSpPr/>
          <p:nvPr/>
        </p:nvGrpSpPr>
        <p:grpSpPr>
          <a:xfrm rot="0">
            <a:off x="5284878" y="7263144"/>
            <a:ext cx="3691186" cy="577460"/>
            <a:chOff x="0" y="0"/>
            <a:chExt cx="6503969" cy="1017500"/>
          </a:xfrm>
        </p:grpSpPr>
        <p:sp>
          <p:nvSpPr>
            <p:cNvPr name="Freeform 29" id="29"/>
            <p:cNvSpPr/>
            <p:nvPr/>
          </p:nvSpPr>
          <p:spPr>
            <a:xfrm flipH="false" flipV="false" rot="0">
              <a:off x="0" y="0"/>
              <a:ext cx="6503969" cy="1017500"/>
            </a:xfrm>
            <a:custGeom>
              <a:avLst/>
              <a:gdLst/>
              <a:ahLst/>
              <a:cxnLst/>
              <a:rect r="r" b="b" t="t" l="l"/>
              <a:pathLst>
                <a:path h="1017500" w="6503969">
                  <a:moveTo>
                    <a:pt x="6379509" y="59690"/>
                  </a:moveTo>
                  <a:cubicBezTo>
                    <a:pt x="6415069" y="59690"/>
                    <a:pt x="6444279" y="88900"/>
                    <a:pt x="6444279" y="124460"/>
                  </a:cubicBezTo>
                  <a:lnTo>
                    <a:pt x="6444279" y="893040"/>
                  </a:lnTo>
                  <a:cubicBezTo>
                    <a:pt x="6444279" y="928600"/>
                    <a:pt x="6415069" y="957810"/>
                    <a:pt x="6379509" y="957810"/>
                  </a:cubicBezTo>
                  <a:lnTo>
                    <a:pt x="124460" y="957810"/>
                  </a:lnTo>
                  <a:cubicBezTo>
                    <a:pt x="88900" y="957810"/>
                    <a:pt x="59690" y="928600"/>
                    <a:pt x="59690" y="893040"/>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893040"/>
                  </a:lnTo>
                  <a:cubicBezTo>
                    <a:pt x="0" y="961620"/>
                    <a:pt x="55880" y="1017500"/>
                    <a:pt x="124460" y="1017500"/>
                  </a:cubicBezTo>
                  <a:lnTo>
                    <a:pt x="6379509" y="1017500"/>
                  </a:lnTo>
                  <a:cubicBezTo>
                    <a:pt x="6448089" y="1017500"/>
                    <a:pt x="6503969" y="961620"/>
                    <a:pt x="6503969" y="893040"/>
                  </a:cubicBezTo>
                  <a:lnTo>
                    <a:pt x="6503969" y="124460"/>
                  </a:lnTo>
                  <a:cubicBezTo>
                    <a:pt x="6503969" y="55880"/>
                    <a:pt x="6448089" y="0"/>
                    <a:pt x="6379509" y="0"/>
                  </a:cubicBezTo>
                  <a:close/>
                </a:path>
              </a:pathLst>
            </a:custGeom>
            <a:solidFill>
              <a:srgbClr val="333333"/>
            </a:solidFill>
          </p:spPr>
        </p:sp>
      </p:grpSp>
      <p:sp>
        <p:nvSpPr>
          <p:cNvPr name="TextBox 30" id="30"/>
          <p:cNvSpPr txBox="true"/>
          <p:nvPr/>
        </p:nvSpPr>
        <p:spPr>
          <a:xfrm rot="0">
            <a:off x="1199261" y="7366137"/>
            <a:ext cx="3350064" cy="352425"/>
          </a:xfrm>
          <a:prstGeom prst="rect">
            <a:avLst/>
          </a:prstGeom>
        </p:spPr>
        <p:txBody>
          <a:bodyPr anchor="t" rtlCol="false" tIns="0" lIns="0" bIns="0" rIns="0">
            <a:spAutoFit/>
          </a:bodyPr>
          <a:lstStyle/>
          <a:p>
            <a:pPr algn="ctr">
              <a:lnSpc>
                <a:spcPts val="2640"/>
              </a:lnSpc>
            </a:pPr>
            <a:r>
              <a:rPr lang="en-US" sz="2200">
                <a:solidFill>
                  <a:srgbClr val="333333"/>
                </a:solidFill>
                <a:latin typeface="Public Sans"/>
                <a:ea typeface="Public Sans"/>
                <a:cs typeface="Public Sans"/>
                <a:sym typeface="Public Sans"/>
              </a:rPr>
              <a:t>Fabrication</a:t>
            </a:r>
          </a:p>
        </p:txBody>
      </p:sp>
      <p:sp>
        <p:nvSpPr>
          <p:cNvPr name="TextBox 31" id="31"/>
          <p:cNvSpPr txBox="true"/>
          <p:nvPr/>
        </p:nvSpPr>
        <p:spPr>
          <a:xfrm rot="0">
            <a:off x="5455439" y="7366137"/>
            <a:ext cx="3350064" cy="352425"/>
          </a:xfrm>
          <a:prstGeom prst="rect">
            <a:avLst/>
          </a:prstGeom>
        </p:spPr>
        <p:txBody>
          <a:bodyPr anchor="t" rtlCol="false" tIns="0" lIns="0" bIns="0" rIns="0">
            <a:spAutoFit/>
          </a:bodyPr>
          <a:lstStyle/>
          <a:p>
            <a:pPr algn="ctr">
              <a:lnSpc>
                <a:spcPts val="2640"/>
              </a:lnSpc>
            </a:pPr>
            <a:r>
              <a:rPr lang="en-US" sz="2200">
                <a:solidFill>
                  <a:srgbClr val="333333"/>
                </a:solidFill>
                <a:latin typeface="Public Sans"/>
                <a:ea typeface="Public Sans"/>
                <a:cs typeface="Public Sans"/>
                <a:sym typeface="Public Sans"/>
              </a:rPr>
              <a:t>Assembly</a:t>
            </a:r>
          </a:p>
        </p:txBody>
      </p:sp>
      <p:grpSp>
        <p:nvGrpSpPr>
          <p:cNvPr name="Group 32" id="32"/>
          <p:cNvGrpSpPr/>
          <p:nvPr/>
        </p:nvGrpSpPr>
        <p:grpSpPr>
          <a:xfrm rot="0">
            <a:off x="7312695" y="2860268"/>
            <a:ext cx="3691186" cy="773093"/>
            <a:chOff x="0" y="0"/>
            <a:chExt cx="3153125" cy="660400"/>
          </a:xfrm>
        </p:grpSpPr>
        <p:sp>
          <p:nvSpPr>
            <p:cNvPr name="Freeform 33" id="33"/>
            <p:cNvSpPr/>
            <p:nvPr/>
          </p:nvSpPr>
          <p:spPr>
            <a:xfrm flipH="false" flipV="false" rot="0">
              <a:off x="0" y="0"/>
              <a:ext cx="3153125" cy="660400"/>
            </a:xfrm>
            <a:custGeom>
              <a:avLst/>
              <a:gdLst/>
              <a:ahLst/>
              <a:cxnLst/>
              <a:rect r="r" b="b" t="t" l="l"/>
              <a:pathLst>
                <a:path h="660400" w="3153125">
                  <a:moveTo>
                    <a:pt x="3028665" y="660400"/>
                  </a:moveTo>
                  <a:lnTo>
                    <a:pt x="124460" y="660400"/>
                  </a:lnTo>
                  <a:cubicBezTo>
                    <a:pt x="55880" y="660400"/>
                    <a:pt x="0" y="604520"/>
                    <a:pt x="0" y="535940"/>
                  </a:cubicBezTo>
                  <a:lnTo>
                    <a:pt x="0" y="124460"/>
                  </a:lnTo>
                  <a:cubicBezTo>
                    <a:pt x="0" y="55880"/>
                    <a:pt x="55880" y="0"/>
                    <a:pt x="124460" y="0"/>
                  </a:cubicBezTo>
                  <a:lnTo>
                    <a:pt x="3028665" y="0"/>
                  </a:lnTo>
                  <a:cubicBezTo>
                    <a:pt x="3097245" y="0"/>
                    <a:pt x="3153125" y="55880"/>
                    <a:pt x="3153125" y="124460"/>
                  </a:cubicBezTo>
                  <a:lnTo>
                    <a:pt x="3153125" y="535940"/>
                  </a:lnTo>
                  <a:cubicBezTo>
                    <a:pt x="3153125" y="604520"/>
                    <a:pt x="3097245" y="660400"/>
                    <a:pt x="3028665" y="660400"/>
                  </a:cubicBezTo>
                  <a:close/>
                </a:path>
              </a:pathLst>
            </a:custGeom>
            <a:solidFill>
              <a:srgbClr val="333333"/>
            </a:solidFill>
          </p:spPr>
        </p:sp>
      </p:grpSp>
      <p:sp>
        <p:nvSpPr>
          <p:cNvPr name="TextBox 34" id="34"/>
          <p:cNvSpPr txBox="true"/>
          <p:nvPr/>
        </p:nvSpPr>
        <p:spPr>
          <a:xfrm rot="0">
            <a:off x="7483255" y="3051553"/>
            <a:ext cx="3350064" cy="381000"/>
          </a:xfrm>
          <a:prstGeom prst="rect">
            <a:avLst/>
          </a:prstGeom>
        </p:spPr>
        <p:txBody>
          <a:bodyPr anchor="t" rtlCol="false" tIns="0" lIns="0" bIns="0" rIns="0">
            <a:spAutoFit/>
          </a:bodyPr>
          <a:lstStyle/>
          <a:p>
            <a:pPr algn="ctr">
              <a:lnSpc>
                <a:spcPts val="2999"/>
              </a:lnSpc>
            </a:pPr>
            <a:r>
              <a:rPr lang="en-US" b="true" sz="2499">
                <a:solidFill>
                  <a:srgbClr val="F5F5F4"/>
                </a:solidFill>
                <a:latin typeface="Public Sans Bold"/>
                <a:ea typeface="Public Sans Bold"/>
                <a:cs typeface="Public Sans Bold"/>
                <a:sym typeface="Public Sans Bold"/>
              </a:rPr>
              <a:t>Matt Zhang</a:t>
            </a:r>
          </a:p>
        </p:txBody>
      </p:sp>
      <p:grpSp>
        <p:nvGrpSpPr>
          <p:cNvPr name="Group 35" id="35"/>
          <p:cNvGrpSpPr/>
          <p:nvPr/>
        </p:nvGrpSpPr>
        <p:grpSpPr>
          <a:xfrm rot="0">
            <a:off x="7312695" y="3692222"/>
            <a:ext cx="3691186" cy="577460"/>
            <a:chOff x="0" y="0"/>
            <a:chExt cx="6503969" cy="1017500"/>
          </a:xfrm>
        </p:grpSpPr>
        <p:sp>
          <p:nvSpPr>
            <p:cNvPr name="Freeform 36" id="36"/>
            <p:cNvSpPr/>
            <p:nvPr/>
          </p:nvSpPr>
          <p:spPr>
            <a:xfrm flipH="false" flipV="false" rot="0">
              <a:off x="0" y="0"/>
              <a:ext cx="6503969" cy="1017500"/>
            </a:xfrm>
            <a:custGeom>
              <a:avLst/>
              <a:gdLst/>
              <a:ahLst/>
              <a:cxnLst/>
              <a:rect r="r" b="b" t="t" l="l"/>
              <a:pathLst>
                <a:path h="1017500" w="6503969">
                  <a:moveTo>
                    <a:pt x="6379509" y="59690"/>
                  </a:moveTo>
                  <a:cubicBezTo>
                    <a:pt x="6415069" y="59690"/>
                    <a:pt x="6444279" y="88900"/>
                    <a:pt x="6444279" y="124460"/>
                  </a:cubicBezTo>
                  <a:lnTo>
                    <a:pt x="6444279" y="893040"/>
                  </a:lnTo>
                  <a:cubicBezTo>
                    <a:pt x="6444279" y="928600"/>
                    <a:pt x="6415069" y="957810"/>
                    <a:pt x="6379509" y="957810"/>
                  </a:cubicBezTo>
                  <a:lnTo>
                    <a:pt x="124460" y="957810"/>
                  </a:lnTo>
                  <a:cubicBezTo>
                    <a:pt x="88900" y="957810"/>
                    <a:pt x="59690" y="928600"/>
                    <a:pt x="59690" y="893040"/>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893040"/>
                  </a:lnTo>
                  <a:cubicBezTo>
                    <a:pt x="0" y="961620"/>
                    <a:pt x="55880" y="1017500"/>
                    <a:pt x="124460" y="1017500"/>
                  </a:cubicBezTo>
                  <a:lnTo>
                    <a:pt x="6379509" y="1017500"/>
                  </a:lnTo>
                  <a:cubicBezTo>
                    <a:pt x="6448089" y="1017500"/>
                    <a:pt x="6503969" y="961620"/>
                    <a:pt x="6503969" y="893040"/>
                  </a:cubicBezTo>
                  <a:lnTo>
                    <a:pt x="6503969" y="124460"/>
                  </a:lnTo>
                  <a:cubicBezTo>
                    <a:pt x="6503969" y="55880"/>
                    <a:pt x="6448089" y="0"/>
                    <a:pt x="6379509" y="0"/>
                  </a:cubicBezTo>
                  <a:close/>
                </a:path>
              </a:pathLst>
            </a:custGeom>
            <a:solidFill>
              <a:srgbClr val="333333"/>
            </a:solidFill>
          </p:spPr>
        </p:sp>
      </p:grpSp>
      <p:sp>
        <p:nvSpPr>
          <p:cNvPr name="TextBox 37" id="37"/>
          <p:cNvSpPr txBox="true"/>
          <p:nvPr/>
        </p:nvSpPr>
        <p:spPr>
          <a:xfrm rot="0">
            <a:off x="7483255" y="3795214"/>
            <a:ext cx="3350064" cy="352425"/>
          </a:xfrm>
          <a:prstGeom prst="rect">
            <a:avLst/>
          </a:prstGeom>
        </p:spPr>
        <p:txBody>
          <a:bodyPr anchor="t" rtlCol="false" tIns="0" lIns="0" bIns="0" rIns="0">
            <a:spAutoFit/>
          </a:bodyPr>
          <a:lstStyle/>
          <a:p>
            <a:pPr algn="ctr">
              <a:lnSpc>
                <a:spcPts val="2640"/>
              </a:lnSpc>
            </a:pPr>
            <a:r>
              <a:rPr lang="en-US" sz="2200">
                <a:solidFill>
                  <a:srgbClr val="333333"/>
                </a:solidFill>
                <a:latin typeface="Public Sans"/>
                <a:ea typeface="Public Sans"/>
                <a:cs typeface="Public Sans"/>
                <a:sym typeface="Public Sans"/>
              </a:rPr>
              <a:t>CEO</a:t>
            </a:r>
          </a:p>
        </p:txBody>
      </p:sp>
      <p:sp>
        <p:nvSpPr>
          <p:cNvPr name="AutoShape 38" id="38"/>
          <p:cNvSpPr/>
          <p:nvPr/>
        </p:nvSpPr>
        <p:spPr>
          <a:xfrm rot="0">
            <a:off x="2860005" y="6212116"/>
            <a:ext cx="4284753" cy="0"/>
          </a:xfrm>
          <a:prstGeom prst="line">
            <a:avLst/>
          </a:prstGeom>
          <a:ln cap="flat" w="28575">
            <a:solidFill>
              <a:srgbClr val="333333"/>
            </a:solidFill>
            <a:prstDash val="solid"/>
            <a:headEnd type="none" len="sm" w="sm"/>
            <a:tailEnd type="none" len="sm" w="sm"/>
          </a:ln>
        </p:spPr>
      </p:sp>
      <p:sp>
        <p:nvSpPr>
          <p:cNvPr name="AutoShape 39" id="39"/>
          <p:cNvSpPr/>
          <p:nvPr/>
        </p:nvSpPr>
        <p:spPr>
          <a:xfrm rot="0">
            <a:off x="11143241" y="6212116"/>
            <a:ext cx="4284753" cy="0"/>
          </a:xfrm>
          <a:prstGeom prst="line">
            <a:avLst/>
          </a:prstGeom>
          <a:ln cap="flat" w="28575">
            <a:solidFill>
              <a:srgbClr val="333333"/>
            </a:solidFill>
            <a:prstDash val="solid"/>
            <a:headEnd type="none" len="sm" w="sm"/>
            <a:tailEnd type="none" len="sm" w="sm"/>
          </a:ln>
        </p:spPr>
      </p:sp>
      <p:sp>
        <p:nvSpPr>
          <p:cNvPr name="AutoShape 40" id="40"/>
          <p:cNvSpPr/>
          <p:nvPr/>
        </p:nvSpPr>
        <p:spPr>
          <a:xfrm rot="-5400000">
            <a:off x="2770492" y="6315916"/>
            <a:ext cx="207601" cy="0"/>
          </a:xfrm>
          <a:prstGeom prst="line">
            <a:avLst/>
          </a:prstGeom>
          <a:ln cap="flat" w="28575">
            <a:solidFill>
              <a:srgbClr val="333333"/>
            </a:solidFill>
            <a:prstDash val="solid"/>
            <a:headEnd type="none" len="sm" w="sm"/>
            <a:tailEnd type="none" len="sm" w="sm"/>
          </a:ln>
        </p:spPr>
      </p:sp>
      <p:sp>
        <p:nvSpPr>
          <p:cNvPr name="AutoShape 41" id="41"/>
          <p:cNvSpPr/>
          <p:nvPr/>
        </p:nvSpPr>
        <p:spPr>
          <a:xfrm rot="-5400000">
            <a:off x="11053728" y="6315916"/>
            <a:ext cx="207601" cy="0"/>
          </a:xfrm>
          <a:prstGeom prst="line">
            <a:avLst/>
          </a:prstGeom>
          <a:ln cap="flat" w="28575">
            <a:solidFill>
              <a:srgbClr val="333333"/>
            </a:solidFill>
            <a:prstDash val="solid"/>
            <a:headEnd type="none" len="sm" w="sm"/>
            <a:tailEnd type="none" len="sm" w="sm"/>
          </a:ln>
        </p:spPr>
      </p:sp>
      <p:sp>
        <p:nvSpPr>
          <p:cNvPr name="AutoShape 42" id="42"/>
          <p:cNvSpPr/>
          <p:nvPr/>
        </p:nvSpPr>
        <p:spPr>
          <a:xfrm rot="-5400000">
            <a:off x="7026671" y="6330204"/>
            <a:ext cx="207601" cy="0"/>
          </a:xfrm>
          <a:prstGeom prst="line">
            <a:avLst/>
          </a:prstGeom>
          <a:ln cap="flat" w="28575">
            <a:solidFill>
              <a:srgbClr val="333333"/>
            </a:solidFill>
            <a:prstDash val="solid"/>
            <a:headEnd type="none" len="sm" w="sm"/>
            <a:tailEnd type="none" len="sm" w="sm"/>
          </a:ln>
        </p:spPr>
      </p:sp>
      <p:sp>
        <p:nvSpPr>
          <p:cNvPr name="AutoShape 43" id="43"/>
          <p:cNvSpPr/>
          <p:nvPr/>
        </p:nvSpPr>
        <p:spPr>
          <a:xfrm rot="-5400000">
            <a:off x="15309907" y="6330204"/>
            <a:ext cx="207601" cy="0"/>
          </a:xfrm>
          <a:prstGeom prst="line">
            <a:avLst/>
          </a:prstGeom>
          <a:ln cap="flat" w="28575">
            <a:solidFill>
              <a:srgbClr val="333333"/>
            </a:solidFill>
            <a:prstDash val="solid"/>
            <a:headEnd type="none" len="sm" w="sm"/>
            <a:tailEnd type="none" len="sm" w="sm"/>
          </a:ln>
        </p:spPr>
      </p:sp>
      <p:grpSp>
        <p:nvGrpSpPr>
          <p:cNvPr name="Group 44" id="44"/>
          <p:cNvGrpSpPr/>
          <p:nvPr/>
        </p:nvGrpSpPr>
        <p:grpSpPr>
          <a:xfrm rot="0">
            <a:off x="9311936" y="6431191"/>
            <a:ext cx="3691186" cy="773093"/>
            <a:chOff x="0" y="0"/>
            <a:chExt cx="3153125" cy="660400"/>
          </a:xfrm>
        </p:grpSpPr>
        <p:sp>
          <p:nvSpPr>
            <p:cNvPr name="Freeform 45" id="45"/>
            <p:cNvSpPr/>
            <p:nvPr/>
          </p:nvSpPr>
          <p:spPr>
            <a:xfrm flipH="false" flipV="false" rot="0">
              <a:off x="0" y="0"/>
              <a:ext cx="3153125" cy="660400"/>
            </a:xfrm>
            <a:custGeom>
              <a:avLst/>
              <a:gdLst/>
              <a:ahLst/>
              <a:cxnLst/>
              <a:rect r="r" b="b" t="t" l="l"/>
              <a:pathLst>
                <a:path h="660400" w="3153125">
                  <a:moveTo>
                    <a:pt x="3028665" y="660400"/>
                  </a:moveTo>
                  <a:lnTo>
                    <a:pt x="124460" y="660400"/>
                  </a:lnTo>
                  <a:cubicBezTo>
                    <a:pt x="55880" y="660400"/>
                    <a:pt x="0" y="604520"/>
                    <a:pt x="0" y="535940"/>
                  </a:cubicBezTo>
                  <a:lnTo>
                    <a:pt x="0" y="124460"/>
                  </a:lnTo>
                  <a:cubicBezTo>
                    <a:pt x="0" y="55880"/>
                    <a:pt x="55880" y="0"/>
                    <a:pt x="124460" y="0"/>
                  </a:cubicBezTo>
                  <a:lnTo>
                    <a:pt x="3028665" y="0"/>
                  </a:lnTo>
                  <a:cubicBezTo>
                    <a:pt x="3097245" y="0"/>
                    <a:pt x="3153125" y="55880"/>
                    <a:pt x="3153125" y="124460"/>
                  </a:cubicBezTo>
                  <a:lnTo>
                    <a:pt x="3153125" y="535940"/>
                  </a:lnTo>
                  <a:cubicBezTo>
                    <a:pt x="3153125" y="604520"/>
                    <a:pt x="3097245" y="660400"/>
                    <a:pt x="3028665" y="660400"/>
                  </a:cubicBezTo>
                  <a:close/>
                </a:path>
              </a:pathLst>
            </a:custGeom>
            <a:solidFill>
              <a:srgbClr val="333333"/>
            </a:solidFill>
          </p:spPr>
        </p:sp>
      </p:grpSp>
      <p:grpSp>
        <p:nvGrpSpPr>
          <p:cNvPr name="Group 46" id="46"/>
          <p:cNvGrpSpPr/>
          <p:nvPr/>
        </p:nvGrpSpPr>
        <p:grpSpPr>
          <a:xfrm rot="0">
            <a:off x="13568114" y="6431191"/>
            <a:ext cx="3691186" cy="773093"/>
            <a:chOff x="0" y="0"/>
            <a:chExt cx="3153125" cy="660400"/>
          </a:xfrm>
        </p:grpSpPr>
        <p:sp>
          <p:nvSpPr>
            <p:cNvPr name="Freeform 47" id="47"/>
            <p:cNvSpPr/>
            <p:nvPr/>
          </p:nvSpPr>
          <p:spPr>
            <a:xfrm flipH="false" flipV="false" rot="0">
              <a:off x="0" y="0"/>
              <a:ext cx="3153125" cy="660400"/>
            </a:xfrm>
            <a:custGeom>
              <a:avLst/>
              <a:gdLst/>
              <a:ahLst/>
              <a:cxnLst/>
              <a:rect r="r" b="b" t="t" l="l"/>
              <a:pathLst>
                <a:path h="660400" w="3153125">
                  <a:moveTo>
                    <a:pt x="3028665" y="660400"/>
                  </a:moveTo>
                  <a:lnTo>
                    <a:pt x="124460" y="660400"/>
                  </a:lnTo>
                  <a:cubicBezTo>
                    <a:pt x="55880" y="660400"/>
                    <a:pt x="0" y="604520"/>
                    <a:pt x="0" y="535940"/>
                  </a:cubicBezTo>
                  <a:lnTo>
                    <a:pt x="0" y="124460"/>
                  </a:lnTo>
                  <a:cubicBezTo>
                    <a:pt x="0" y="55880"/>
                    <a:pt x="55880" y="0"/>
                    <a:pt x="124460" y="0"/>
                  </a:cubicBezTo>
                  <a:lnTo>
                    <a:pt x="3028665" y="0"/>
                  </a:lnTo>
                  <a:cubicBezTo>
                    <a:pt x="3097245" y="0"/>
                    <a:pt x="3153125" y="55880"/>
                    <a:pt x="3153125" y="124460"/>
                  </a:cubicBezTo>
                  <a:lnTo>
                    <a:pt x="3153125" y="535940"/>
                  </a:lnTo>
                  <a:cubicBezTo>
                    <a:pt x="3153125" y="604520"/>
                    <a:pt x="3097245" y="660400"/>
                    <a:pt x="3028665" y="660400"/>
                  </a:cubicBezTo>
                  <a:close/>
                </a:path>
              </a:pathLst>
            </a:custGeom>
            <a:solidFill>
              <a:srgbClr val="333333"/>
            </a:solidFill>
          </p:spPr>
        </p:sp>
      </p:grpSp>
      <p:sp>
        <p:nvSpPr>
          <p:cNvPr name="TextBox 48" id="48"/>
          <p:cNvSpPr txBox="true"/>
          <p:nvPr/>
        </p:nvSpPr>
        <p:spPr>
          <a:xfrm rot="0">
            <a:off x="9482496" y="6622475"/>
            <a:ext cx="3350064" cy="381000"/>
          </a:xfrm>
          <a:prstGeom prst="rect">
            <a:avLst/>
          </a:prstGeom>
        </p:spPr>
        <p:txBody>
          <a:bodyPr anchor="t" rtlCol="false" tIns="0" lIns="0" bIns="0" rIns="0">
            <a:spAutoFit/>
          </a:bodyPr>
          <a:lstStyle/>
          <a:p>
            <a:pPr algn="ctr">
              <a:lnSpc>
                <a:spcPts val="2999"/>
              </a:lnSpc>
            </a:pPr>
            <a:r>
              <a:rPr lang="en-US" b="true" sz="2499">
                <a:solidFill>
                  <a:srgbClr val="F5F5F4"/>
                </a:solidFill>
                <a:latin typeface="Public Sans Bold"/>
                <a:ea typeface="Public Sans Bold"/>
                <a:cs typeface="Public Sans Bold"/>
                <a:sym typeface="Public Sans Bold"/>
              </a:rPr>
              <a:t>Connor Hamilton</a:t>
            </a:r>
          </a:p>
        </p:txBody>
      </p:sp>
      <p:sp>
        <p:nvSpPr>
          <p:cNvPr name="TextBox 49" id="49"/>
          <p:cNvSpPr txBox="true"/>
          <p:nvPr/>
        </p:nvSpPr>
        <p:spPr>
          <a:xfrm rot="0">
            <a:off x="13738675" y="6622475"/>
            <a:ext cx="3350064" cy="381000"/>
          </a:xfrm>
          <a:prstGeom prst="rect">
            <a:avLst/>
          </a:prstGeom>
        </p:spPr>
        <p:txBody>
          <a:bodyPr anchor="t" rtlCol="false" tIns="0" lIns="0" bIns="0" rIns="0">
            <a:spAutoFit/>
          </a:bodyPr>
          <a:lstStyle/>
          <a:p>
            <a:pPr algn="ctr">
              <a:lnSpc>
                <a:spcPts val="2999"/>
              </a:lnSpc>
            </a:pPr>
            <a:r>
              <a:rPr lang="en-US" b="true" sz="2499">
                <a:solidFill>
                  <a:srgbClr val="F5F5F4"/>
                </a:solidFill>
                <a:latin typeface="Public Sans Bold"/>
                <a:ea typeface="Public Sans Bold"/>
                <a:cs typeface="Public Sans Bold"/>
                <a:sym typeface="Public Sans Bold"/>
              </a:rPr>
              <a:t>Samira Hadid</a:t>
            </a:r>
          </a:p>
        </p:txBody>
      </p:sp>
      <p:grpSp>
        <p:nvGrpSpPr>
          <p:cNvPr name="Group 50" id="50"/>
          <p:cNvGrpSpPr/>
          <p:nvPr/>
        </p:nvGrpSpPr>
        <p:grpSpPr>
          <a:xfrm rot="0">
            <a:off x="9311936" y="7263144"/>
            <a:ext cx="3691186" cy="577460"/>
            <a:chOff x="0" y="0"/>
            <a:chExt cx="6503969" cy="1017500"/>
          </a:xfrm>
        </p:grpSpPr>
        <p:sp>
          <p:nvSpPr>
            <p:cNvPr name="Freeform 51" id="51"/>
            <p:cNvSpPr/>
            <p:nvPr/>
          </p:nvSpPr>
          <p:spPr>
            <a:xfrm flipH="false" flipV="false" rot="0">
              <a:off x="0" y="0"/>
              <a:ext cx="6503969" cy="1017500"/>
            </a:xfrm>
            <a:custGeom>
              <a:avLst/>
              <a:gdLst/>
              <a:ahLst/>
              <a:cxnLst/>
              <a:rect r="r" b="b" t="t" l="l"/>
              <a:pathLst>
                <a:path h="1017500" w="6503969">
                  <a:moveTo>
                    <a:pt x="6379509" y="59690"/>
                  </a:moveTo>
                  <a:cubicBezTo>
                    <a:pt x="6415069" y="59690"/>
                    <a:pt x="6444279" y="88900"/>
                    <a:pt x="6444279" y="124460"/>
                  </a:cubicBezTo>
                  <a:lnTo>
                    <a:pt x="6444279" y="893040"/>
                  </a:lnTo>
                  <a:cubicBezTo>
                    <a:pt x="6444279" y="928600"/>
                    <a:pt x="6415069" y="957810"/>
                    <a:pt x="6379509" y="957810"/>
                  </a:cubicBezTo>
                  <a:lnTo>
                    <a:pt x="124460" y="957810"/>
                  </a:lnTo>
                  <a:cubicBezTo>
                    <a:pt x="88900" y="957810"/>
                    <a:pt x="59690" y="928600"/>
                    <a:pt x="59690" y="893040"/>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893040"/>
                  </a:lnTo>
                  <a:cubicBezTo>
                    <a:pt x="0" y="961620"/>
                    <a:pt x="55880" y="1017500"/>
                    <a:pt x="124460" y="1017500"/>
                  </a:cubicBezTo>
                  <a:lnTo>
                    <a:pt x="6379509" y="1017500"/>
                  </a:lnTo>
                  <a:cubicBezTo>
                    <a:pt x="6448089" y="1017500"/>
                    <a:pt x="6503969" y="961620"/>
                    <a:pt x="6503969" y="893040"/>
                  </a:cubicBezTo>
                  <a:lnTo>
                    <a:pt x="6503969" y="124460"/>
                  </a:lnTo>
                  <a:cubicBezTo>
                    <a:pt x="6503969" y="55880"/>
                    <a:pt x="6448089" y="0"/>
                    <a:pt x="6379509" y="0"/>
                  </a:cubicBezTo>
                  <a:close/>
                </a:path>
              </a:pathLst>
            </a:custGeom>
            <a:solidFill>
              <a:srgbClr val="333333"/>
            </a:solidFill>
          </p:spPr>
        </p:sp>
      </p:grpSp>
      <p:grpSp>
        <p:nvGrpSpPr>
          <p:cNvPr name="Group 52" id="52"/>
          <p:cNvGrpSpPr/>
          <p:nvPr/>
        </p:nvGrpSpPr>
        <p:grpSpPr>
          <a:xfrm rot="0">
            <a:off x="13568114" y="7263144"/>
            <a:ext cx="3691186" cy="577460"/>
            <a:chOff x="0" y="0"/>
            <a:chExt cx="6503969" cy="1017500"/>
          </a:xfrm>
        </p:grpSpPr>
        <p:sp>
          <p:nvSpPr>
            <p:cNvPr name="Freeform 53" id="53"/>
            <p:cNvSpPr/>
            <p:nvPr/>
          </p:nvSpPr>
          <p:spPr>
            <a:xfrm flipH="false" flipV="false" rot="0">
              <a:off x="0" y="0"/>
              <a:ext cx="6503969" cy="1017500"/>
            </a:xfrm>
            <a:custGeom>
              <a:avLst/>
              <a:gdLst/>
              <a:ahLst/>
              <a:cxnLst/>
              <a:rect r="r" b="b" t="t" l="l"/>
              <a:pathLst>
                <a:path h="1017500" w="6503969">
                  <a:moveTo>
                    <a:pt x="6379509" y="59690"/>
                  </a:moveTo>
                  <a:cubicBezTo>
                    <a:pt x="6415069" y="59690"/>
                    <a:pt x="6444279" y="88900"/>
                    <a:pt x="6444279" y="124460"/>
                  </a:cubicBezTo>
                  <a:lnTo>
                    <a:pt x="6444279" y="893040"/>
                  </a:lnTo>
                  <a:cubicBezTo>
                    <a:pt x="6444279" y="928600"/>
                    <a:pt x="6415069" y="957810"/>
                    <a:pt x="6379509" y="957810"/>
                  </a:cubicBezTo>
                  <a:lnTo>
                    <a:pt x="124460" y="957810"/>
                  </a:lnTo>
                  <a:cubicBezTo>
                    <a:pt x="88900" y="957810"/>
                    <a:pt x="59690" y="928600"/>
                    <a:pt x="59690" y="893040"/>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893040"/>
                  </a:lnTo>
                  <a:cubicBezTo>
                    <a:pt x="0" y="961620"/>
                    <a:pt x="55880" y="1017500"/>
                    <a:pt x="124460" y="1017500"/>
                  </a:cubicBezTo>
                  <a:lnTo>
                    <a:pt x="6379509" y="1017500"/>
                  </a:lnTo>
                  <a:cubicBezTo>
                    <a:pt x="6448089" y="1017500"/>
                    <a:pt x="6503969" y="961620"/>
                    <a:pt x="6503969" y="893040"/>
                  </a:cubicBezTo>
                  <a:lnTo>
                    <a:pt x="6503969" y="124460"/>
                  </a:lnTo>
                  <a:cubicBezTo>
                    <a:pt x="6503969" y="55880"/>
                    <a:pt x="6448089" y="0"/>
                    <a:pt x="6379509" y="0"/>
                  </a:cubicBezTo>
                  <a:close/>
                </a:path>
              </a:pathLst>
            </a:custGeom>
            <a:solidFill>
              <a:srgbClr val="333333"/>
            </a:solidFill>
          </p:spPr>
        </p:sp>
      </p:grpSp>
      <p:sp>
        <p:nvSpPr>
          <p:cNvPr name="TextBox 54" id="54"/>
          <p:cNvSpPr txBox="true"/>
          <p:nvPr/>
        </p:nvSpPr>
        <p:spPr>
          <a:xfrm rot="0">
            <a:off x="9482496" y="7366137"/>
            <a:ext cx="3350064" cy="352425"/>
          </a:xfrm>
          <a:prstGeom prst="rect">
            <a:avLst/>
          </a:prstGeom>
        </p:spPr>
        <p:txBody>
          <a:bodyPr anchor="t" rtlCol="false" tIns="0" lIns="0" bIns="0" rIns="0">
            <a:spAutoFit/>
          </a:bodyPr>
          <a:lstStyle/>
          <a:p>
            <a:pPr algn="ctr">
              <a:lnSpc>
                <a:spcPts val="2640"/>
              </a:lnSpc>
            </a:pPr>
            <a:r>
              <a:rPr lang="en-US" sz="2200">
                <a:solidFill>
                  <a:srgbClr val="333333"/>
                </a:solidFill>
                <a:latin typeface="Public Sans"/>
                <a:ea typeface="Public Sans"/>
                <a:cs typeface="Public Sans"/>
                <a:sym typeface="Public Sans"/>
              </a:rPr>
              <a:t>Offline</a:t>
            </a:r>
          </a:p>
        </p:txBody>
      </p:sp>
      <p:sp>
        <p:nvSpPr>
          <p:cNvPr name="TextBox 55" id="55"/>
          <p:cNvSpPr txBox="true"/>
          <p:nvPr/>
        </p:nvSpPr>
        <p:spPr>
          <a:xfrm rot="0">
            <a:off x="13738675" y="7366137"/>
            <a:ext cx="3350064" cy="352425"/>
          </a:xfrm>
          <a:prstGeom prst="rect">
            <a:avLst/>
          </a:prstGeom>
        </p:spPr>
        <p:txBody>
          <a:bodyPr anchor="t" rtlCol="false" tIns="0" lIns="0" bIns="0" rIns="0">
            <a:spAutoFit/>
          </a:bodyPr>
          <a:lstStyle/>
          <a:p>
            <a:pPr algn="ctr">
              <a:lnSpc>
                <a:spcPts val="2640"/>
              </a:lnSpc>
            </a:pPr>
            <a:r>
              <a:rPr lang="en-US" sz="2200">
                <a:solidFill>
                  <a:srgbClr val="333333"/>
                </a:solidFill>
                <a:latin typeface="Public Sans"/>
                <a:ea typeface="Public Sans"/>
                <a:cs typeface="Public Sans"/>
                <a:sym typeface="Public Sans"/>
              </a:rPr>
              <a:t>Online</a:t>
            </a:r>
          </a:p>
        </p:txBody>
      </p:sp>
      <p:sp>
        <p:nvSpPr>
          <p:cNvPr name="TextBox 56" id="56"/>
          <p:cNvSpPr txBox="true"/>
          <p:nvPr/>
        </p:nvSpPr>
        <p:spPr>
          <a:xfrm rot="0">
            <a:off x="3142502" y="1028700"/>
            <a:ext cx="12002997" cy="1219200"/>
          </a:xfrm>
          <a:prstGeom prst="rect">
            <a:avLst/>
          </a:prstGeom>
        </p:spPr>
        <p:txBody>
          <a:bodyPr anchor="t" rtlCol="false" tIns="0" lIns="0" bIns="0" rIns="0">
            <a:spAutoFit/>
          </a:bodyPr>
          <a:lstStyle/>
          <a:p>
            <a:pPr algn="ctr">
              <a:lnSpc>
                <a:spcPts val="9600"/>
              </a:lnSpc>
            </a:pPr>
            <a:r>
              <a:rPr lang="en-US" b="true" sz="8000" i="true" spc="-392">
                <a:solidFill>
                  <a:srgbClr val="333333"/>
                </a:solidFill>
                <a:latin typeface="Noto Serif Display Semi-Bold Italics"/>
                <a:ea typeface="Noto Serif Display Semi-Bold Italics"/>
                <a:cs typeface="Noto Serif Display Semi-Bold Italics"/>
                <a:sym typeface="Noto Serif Display Semi-Bold Italics"/>
              </a:rPr>
              <a:t>Organizational Chart</a:t>
            </a:r>
          </a:p>
        </p:txBody>
      </p:sp>
      <p:sp>
        <p:nvSpPr>
          <p:cNvPr name="TextBox 57" id="57"/>
          <p:cNvSpPr txBox="true"/>
          <p:nvPr/>
        </p:nvSpPr>
        <p:spPr>
          <a:xfrm rot="0">
            <a:off x="12222482" y="8346965"/>
            <a:ext cx="5036818" cy="431800"/>
          </a:xfrm>
          <a:prstGeom prst="rect">
            <a:avLst/>
          </a:prstGeom>
        </p:spPr>
        <p:txBody>
          <a:bodyPr anchor="t" rtlCol="false" tIns="0" lIns="0" bIns="0" rIns="0">
            <a:spAutoFit/>
          </a:bodyPr>
          <a:lstStyle/>
          <a:p>
            <a:pPr algn="r">
              <a:lnSpc>
                <a:spcPts val="3499"/>
              </a:lnSpc>
            </a:pPr>
            <a:r>
              <a:rPr lang="en-US" sz="2499">
                <a:solidFill>
                  <a:srgbClr val="333333"/>
                </a:solidFill>
                <a:latin typeface="Public Sans"/>
                <a:ea typeface="Public Sans"/>
                <a:cs typeface="Public Sans"/>
                <a:sym typeface="Public Sans"/>
              </a:rPr>
              <a:t>Presented by</a:t>
            </a:r>
          </a:p>
        </p:txBody>
      </p:sp>
      <p:sp>
        <p:nvSpPr>
          <p:cNvPr name="TextBox 58" id="58"/>
          <p:cNvSpPr txBox="true"/>
          <p:nvPr/>
        </p:nvSpPr>
        <p:spPr>
          <a:xfrm rot="0">
            <a:off x="1028700" y="8826500"/>
            <a:ext cx="5036818" cy="431800"/>
          </a:xfrm>
          <a:prstGeom prst="rect">
            <a:avLst/>
          </a:prstGeom>
        </p:spPr>
        <p:txBody>
          <a:bodyPr anchor="t" rtlCol="false" tIns="0" lIns="0" bIns="0" rIns="0">
            <a:spAutoFit/>
          </a:bodyPr>
          <a:lstStyle/>
          <a:p>
            <a:pPr algn="l">
              <a:lnSpc>
                <a:spcPts val="3499"/>
              </a:lnSpc>
            </a:pPr>
            <a:r>
              <a:rPr lang="en-US" sz="2499" b="true">
                <a:solidFill>
                  <a:srgbClr val="333333"/>
                </a:solidFill>
                <a:latin typeface="Public Sans Bold"/>
                <a:ea typeface="Public Sans Bold"/>
                <a:cs typeface="Public Sans Bold"/>
                <a:sym typeface="Public Sans Bold"/>
              </a:rPr>
              <a:t>May 2023</a:t>
            </a:r>
          </a:p>
        </p:txBody>
      </p:sp>
      <p:sp>
        <p:nvSpPr>
          <p:cNvPr name="TextBox 59" id="59"/>
          <p:cNvSpPr txBox="true"/>
          <p:nvPr/>
        </p:nvSpPr>
        <p:spPr>
          <a:xfrm rot="0">
            <a:off x="12222482" y="8826500"/>
            <a:ext cx="5036818" cy="431800"/>
          </a:xfrm>
          <a:prstGeom prst="rect">
            <a:avLst/>
          </a:prstGeom>
        </p:spPr>
        <p:txBody>
          <a:bodyPr anchor="t" rtlCol="false" tIns="0" lIns="0" bIns="0" rIns="0">
            <a:spAutoFit/>
          </a:bodyPr>
          <a:lstStyle/>
          <a:p>
            <a:pPr algn="r">
              <a:lnSpc>
                <a:spcPts val="3499"/>
              </a:lnSpc>
            </a:pPr>
            <a:r>
              <a:rPr lang="en-US" b="true" sz="2499">
                <a:solidFill>
                  <a:srgbClr val="333333"/>
                </a:solidFill>
                <a:latin typeface="Public Sans Bold"/>
                <a:ea typeface="Public Sans Bold"/>
                <a:cs typeface="Public Sans Bold"/>
                <a:sym typeface="Public Sans Bold"/>
              </a:rPr>
              <a:t>Rimberio Co.</a:t>
            </a:r>
          </a:p>
        </p:txBody>
      </p:sp>
    </p:spTree>
  </p:cSld>
  <p:clrMapOvr>
    <a:masterClrMapping/>
  </p:clrMapOvr>
</p:sld>
</file>

<file path=ppt/slides/slide39.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233983" y="2132768"/>
            <a:ext cx="14965512" cy="2562225"/>
          </a:xfrm>
          <a:prstGeom prst="rect">
            <a:avLst/>
          </a:prstGeom>
        </p:spPr>
        <p:txBody>
          <a:bodyPr anchor="t" rtlCol="false" tIns="0" lIns="0" bIns="0" rIns="0">
            <a:spAutoFit/>
          </a:bodyPr>
          <a:lstStyle/>
          <a:p>
            <a:pPr algn="ctr">
              <a:lnSpc>
                <a:spcPts val="10080"/>
              </a:lnSpc>
            </a:pPr>
            <a:r>
              <a:rPr lang="en-US" b="true" sz="8400" i="true" spc="-411">
                <a:solidFill>
                  <a:srgbClr val="333333"/>
                </a:solidFill>
                <a:latin typeface="Noto Serif Display Semi-Bold Italics"/>
                <a:ea typeface="Noto Serif Display Semi-Bold Italics"/>
                <a:cs typeface="Noto Serif Display Semi-Bold Italics"/>
                <a:sym typeface="Noto Serif Display Semi-Bold Italics"/>
              </a:rPr>
              <a:t>Phần IV: The n-Queens Problem</a:t>
            </a:r>
          </a:p>
          <a:p>
            <a:pPr algn="ctr">
              <a:lnSpc>
                <a:spcPts val="10199"/>
              </a:lnSpc>
            </a:pP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12066657" y="2679720"/>
            <a:ext cx="5570543" cy="5529882"/>
          </a:xfrm>
          <a:custGeom>
            <a:avLst/>
            <a:gdLst/>
            <a:ahLst/>
            <a:cxnLst/>
            <a:rect r="r" b="b" t="t" l="l"/>
            <a:pathLst>
              <a:path h="5529882" w="5570543">
                <a:moveTo>
                  <a:pt x="0" y="0"/>
                </a:moveTo>
                <a:lnTo>
                  <a:pt x="5570543" y="0"/>
                </a:lnTo>
                <a:lnTo>
                  <a:pt x="5570543" y="5529882"/>
                </a:lnTo>
                <a:lnTo>
                  <a:pt x="0" y="5529882"/>
                </a:lnTo>
                <a:lnTo>
                  <a:pt x="0" y="0"/>
                </a:lnTo>
                <a:close/>
              </a:path>
            </a:pathLst>
          </a:custGeom>
          <a:blipFill>
            <a:blip r:embed="rId2"/>
            <a:stretch>
              <a:fillRect l="0" t="0" r="0" b="0"/>
            </a:stretch>
          </a:blipFill>
        </p:spPr>
      </p:sp>
      <p:sp>
        <p:nvSpPr>
          <p:cNvPr name="TextBox 4" id="4"/>
          <p:cNvSpPr txBox="true"/>
          <p:nvPr/>
        </p:nvSpPr>
        <p:spPr>
          <a:xfrm rot="0">
            <a:off x="1028700" y="962025"/>
            <a:ext cx="5036818" cy="514350"/>
          </a:xfrm>
          <a:prstGeom prst="rect">
            <a:avLst/>
          </a:prstGeom>
        </p:spPr>
        <p:txBody>
          <a:bodyPr anchor="t" rtlCol="false" tIns="0" lIns="0" bIns="0" rIns="0">
            <a:spAutoFit/>
          </a:bodyPr>
          <a:lstStyle/>
          <a:p>
            <a:pPr algn="l" marL="647697" indent="-323848" lvl="1">
              <a:lnSpc>
                <a:spcPts val="4199"/>
              </a:lnSpc>
              <a:buAutoNum type="arabicPeriod" startAt="1"/>
            </a:pPr>
            <a:r>
              <a:rPr lang="en-US" b="true" sz="2999">
                <a:solidFill>
                  <a:srgbClr val="333333"/>
                </a:solidFill>
                <a:latin typeface="Public Sans Bold"/>
                <a:ea typeface="Public Sans Bold"/>
                <a:cs typeface="Public Sans Bold"/>
                <a:sym typeface="Public Sans Bold"/>
              </a:rPr>
              <a:t>Giới thiệu bài toán</a:t>
            </a:r>
          </a:p>
        </p:txBody>
      </p:sp>
      <p:sp>
        <p:nvSpPr>
          <p:cNvPr name="TextBox 5" id="5"/>
          <p:cNvSpPr txBox="true"/>
          <p:nvPr/>
        </p:nvSpPr>
        <p:spPr>
          <a:xfrm rot="0">
            <a:off x="773121" y="2613045"/>
            <a:ext cx="10960237" cy="986150"/>
          </a:xfrm>
          <a:prstGeom prst="rect">
            <a:avLst/>
          </a:prstGeom>
        </p:spPr>
        <p:txBody>
          <a:bodyPr anchor="t" rtlCol="false" tIns="0" lIns="0" bIns="0" rIns="0">
            <a:spAutoFit/>
          </a:bodyPr>
          <a:lstStyle/>
          <a:p>
            <a:pPr algn="l">
              <a:lnSpc>
                <a:spcPts val="3920"/>
              </a:lnSpc>
              <a:spcBef>
                <a:spcPct val="0"/>
              </a:spcBef>
            </a:pPr>
            <a:r>
              <a:rPr lang="en-US" sz="2800">
                <a:solidFill>
                  <a:srgbClr val="333333"/>
                </a:solidFill>
                <a:latin typeface="Public Sans"/>
                <a:ea typeface="Public Sans"/>
                <a:cs typeface="Public Sans"/>
                <a:sym typeface="Public Sans"/>
              </a:rPr>
              <a:t>       - </a:t>
            </a:r>
            <a:r>
              <a:rPr lang="en-US" sz="2800">
                <a:solidFill>
                  <a:srgbClr val="333333"/>
                </a:solidFill>
                <a:latin typeface="Public Sans"/>
                <a:ea typeface="Public Sans"/>
                <a:cs typeface="Public Sans"/>
                <a:sym typeface="Public Sans"/>
              </a:rPr>
              <a:t>Bài toán n-Queens là một bài toán kinh điển trong lĩnh vực Trí tuệ nhân tạo và Tối ưu hoá tổ hợp.</a:t>
            </a:r>
          </a:p>
        </p:txBody>
      </p:sp>
      <p:sp>
        <p:nvSpPr>
          <p:cNvPr name="TextBox 6" id="6"/>
          <p:cNvSpPr txBox="true"/>
          <p:nvPr/>
        </p:nvSpPr>
        <p:spPr>
          <a:xfrm rot="0">
            <a:off x="773121" y="4121788"/>
            <a:ext cx="10427781" cy="2472050"/>
          </a:xfrm>
          <a:prstGeom prst="rect">
            <a:avLst/>
          </a:prstGeom>
        </p:spPr>
        <p:txBody>
          <a:bodyPr anchor="t" rtlCol="false" tIns="0" lIns="0" bIns="0" rIns="0">
            <a:spAutoFit/>
          </a:bodyPr>
          <a:lstStyle/>
          <a:p>
            <a:pPr algn="l">
              <a:lnSpc>
                <a:spcPts val="3920"/>
              </a:lnSpc>
              <a:spcBef>
                <a:spcPct val="0"/>
              </a:spcBef>
            </a:pPr>
            <a:r>
              <a:rPr lang="en-US" sz="2800">
                <a:solidFill>
                  <a:srgbClr val="333333"/>
                </a:solidFill>
                <a:latin typeface="Public Sans"/>
                <a:ea typeface="Public Sans"/>
                <a:cs typeface="Public Sans"/>
                <a:sym typeface="Public Sans"/>
              </a:rPr>
              <a:t>            - </a:t>
            </a:r>
            <a:r>
              <a:rPr lang="en-US" sz="2800">
                <a:solidFill>
                  <a:srgbClr val="333333"/>
                </a:solidFill>
                <a:latin typeface="Public Sans"/>
                <a:ea typeface="Public Sans"/>
                <a:cs typeface="Public Sans"/>
                <a:sym typeface="Public Sans"/>
              </a:rPr>
              <a:t>Mục</a:t>
            </a:r>
            <a:r>
              <a:rPr lang="en-US" sz="2800">
                <a:solidFill>
                  <a:srgbClr val="333333"/>
                </a:solidFill>
                <a:latin typeface="Public Sans"/>
                <a:ea typeface="Public Sans"/>
                <a:cs typeface="Public Sans"/>
                <a:sym typeface="Public Sans"/>
              </a:rPr>
              <a:t> tiêu của bài toán là đặt n quân hậu lên bàn cờ n×n sao cho không có hai quân hậu nào tấn công nhau — tức là không có hai hậu nào nằm cùng hàng, cùng cột, hoặc cùng đường chéo.</a:t>
            </a:r>
          </a:p>
          <a:p>
            <a:pPr algn="l">
              <a:lnSpc>
                <a:spcPts val="3920"/>
              </a:lnSpc>
              <a:spcBef>
                <a:spcPct val="0"/>
              </a:spcBef>
            </a:pPr>
          </a:p>
        </p:txBody>
      </p:sp>
      <p:sp>
        <p:nvSpPr>
          <p:cNvPr name="TextBox 7" id="7"/>
          <p:cNvSpPr txBox="true"/>
          <p:nvPr/>
        </p:nvSpPr>
        <p:spPr>
          <a:xfrm rot="0">
            <a:off x="645332" y="6527162"/>
            <a:ext cx="11088027" cy="1976750"/>
          </a:xfrm>
          <a:prstGeom prst="rect">
            <a:avLst/>
          </a:prstGeom>
        </p:spPr>
        <p:txBody>
          <a:bodyPr anchor="t" rtlCol="false" tIns="0" lIns="0" bIns="0" rIns="0">
            <a:spAutoFit/>
          </a:bodyPr>
          <a:lstStyle/>
          <a:p>
            <a:pPr algn="l">
              <a:lnSpc>
                <a:spcPts val="3920"/>
              </a:lnSpc>
              <a:spcBef>
                <a:spcPct val="0"/>
              </a:spcBef>
            </a:pPr>
            <a:r>
              <a:rPr lang="en-US" sz="2800">
                <a:solidFill>
                  <a:srgbClr val="333333"/>
                </a:solidFill>
                <a:latin typeface="Public Sans"/>
                <a:ea typeface="Public Sans"/>
                <a:cs typeface="Public Sans"/>
                <a:sym typeface="Public Sans"/>
              </a:rPr>
              <a:t>            - B</a:t>
            </a:r>
            <a:r>
              <a:rPr lang="en-US" sz="2800">
                <a:solidFill>
                  <a:srgbClr val="333333"/>
                </a:solidFill>
                <a:latin typeface="Public Sans"/>
                <a:ea typeface="Public Sans"/>
                <a:cs typeface="Public Sans"/>
                <a:sym typeface="Public Sans"/>
              </a:rPr>
              <a:t>ài toán có thể được mở rộng cho các giá trị n lớn, nhưng khi n tăng, không gian trạng thái tăng theo cấp số nhân, khiến việc tìm kiếm lời giải trở nên phức tạp.</a:t>
            </a:r>
          </a:p>
          <a:p>
            <a:pPr algn="l">
              <a:lnSpc>
                <a:spcPts val="3920"/>
              </a:lnSpc>
              <a:spcBef>
                <a:spcPct val="0"/>
              </a:spcBef>
            </a:pP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3526689" y="2188743"/>
            <a:ext cx="11234623" cy="1269123"/>
          </a:xfrm>
          <a:custGeom>
            <a:avLst/>
            <a:gdLst/>
            <a:ahLst/>
            <a:cxnLst/>
            <a:rect r="r" b="b" t="t" l="l"/>
            <a:pathLst>
              <a:path h="1269123" w="11234623">
                <a:moveTo>
                  <a:pt x="0" y="0"/>
                </a:moveTo>
                <a:lnTo>
                  <a:pt x="11234622" y="0"/>
                </a:lnTo>
                <a:lnTo>
                  <a:pt x="11234622" y="1269123"/>
                </a:lnTo>
                <a:lnTo>
                  <a:pt x="0" y="1269123"/>
                </a:lnTo>
                <a:lnTo>
                  <a:pt x="0" y="0"/>
                </a:lnTo>
                <a:close/>
              </a:path>
            </a:pathLst>
          </a:custGeom>
          <a:blipFill>
            <a:blip r:embed="rId2"/>
            <a:stretch>
              <a:fillRect l="0" t="0" r="0" b="0"/>
            </a:stretch>
          </a:blipFill>
        </p:spPr>
      </p:sp>
      <p:sp>
        <p:nvSpPr>
          <p:cNvPr name="Freeform 4" id="4"/>
          <p:cNvSpPr/>
          <p:nvPr/>
        </p:nvSpPr>
        <p:spPr>
          <a:xfrm flipH="false" flipV="false" rot="0">
            <a:off x="283262" y="5067385"/>
            <a:ext cx="9187555" cy="5351514"/>
          </a:xfrm>
          <a:custGeom>
            <a:avLst/>
            <a:gdLst/>
            <a:ahLst/>
            <a:cxnLst/>
            <a:rect r="r" b="b" t="t" l="l"/>
            <a:pathLst>
              <a:path h="5351514" w="9187555">
                <a:moveTo>
                  <a:pt x="0" y="0"/>
                </a:moveTo>
                <a:lnTo>
                  <a:pt x="9187554" y="0"/>
                </a:lnTo>
                <a:lnTo>
                  <a:pt x="9187554" y="5351514"/>
                </a:lnTo>
                <a:lnTo>
                  <a:pt x="0" y="5351514"/>
                </a:lnTo>
                <a:lnTo>
                  <a:pt x="0" y="0"/>
                </a:lnTo>
                <a:close/>
              </a:path>
            </a:pathLst>
          </a:custGeom>
          <a:blipFill>
            <a:blip r:embed="rId3"/>
            <a:stretch>
              <a:fillRect l="0" t="0" r="0" b="0"/>
            </a:stretch>
          </a:blipFill>
        </p:spPr>
      </p:sp>
      <p:sp>
        <p:nvSpPr>
          <p:cNvPr name="TextBox 5" id="5"/>
          <p:cNvSpPr txBox="true"/>
          <p:nvPr/>
        </p:nvSpPr>
        <p:spPr>
          <a:xfrm rot="0">
            <a:off x="1028700" y="962025"/>
            <a:ext cx="6783273" cy="514350"/>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2. Mô hình hóa bài toán N-Queens</a:t>
            </a:r>
          </a:p>
        </p:txBody>
      </p:sp>
      <p:sp>
        <p:nvSpPr>
          <p:cNvPr name="TextBox 6" id="6"/>
          <p:cNvSpPr txBox="true"/>
          <p:nvPr/>
        </p:nvSpPr>
        <p:spPr>
          <a:xfrm rot="0">
            <a:off x="283262" y="3667416"/>
            <a:ext cx="17158025" cy="986150"/>
          </a:xfrm>
          <a:prstGeom prst="rect">
            <a:avLst/>
          </a:prstGeom>
        </p:spPr>
        <p:txBody>
          <a:bodyPr anchor="t" rtlCol="false" tIns="0" lIns="0" bIns="0" rIns="0">
            <a:spAutoFit/>
          </a:bodyPr>
          <a:lstStyle/>
          <a:p>
            <a:pPr algn="l">
              <a:lnSpc>
                <a:spcPts val="3920"/>
              </a:lnSpc>
              <a:spcBef>
                <a:spcPct val="0"/>
              </a:spcBef>
            </a:pPr>
            <a:r>
              <a:rPr lang="en-US" sz="2800">
                <a:solidFill>
                  <a:srgbClr val="333333"/>
                </a:solidFill>
                <a:latin typeface="Public Sans"/>
                <a:ea typeface="Public Sans"/>
                <a:cs typeface="Public Sans"/>
                <a:sym typeface="Public Sans"/>
              </a:rPr>
              <a:t>       -</a:t>
            </a:r>
            <a:r>
              <a:rPr lang="en-US" b="true" sz="2800">
                <a:solidFill>
                  <a:srgbClr val="333333"/>
                </a:solidFill>
                <a:latin typeface="Public Sans Bold"/>
                <a:ea typeface="Public Sans Bold"/>
                <a:cs typeface="Public Sans Bold"/>
                <a:sym typeface="Public Sans Bold"/>
              </a:rPr>
              <a:t> </a:t>
            </a:r>
            <a:r>
              <a:rPr lang="en-US" b="true" sz="2800">
                <a:solidFill>
                  <a:srgbClr val="333333"/>
                </a:solidFill>
                <a:latin typeface="Public Sans Bold"/>
                <a:ea typeface="Public Sans Bold"/>
                <a:cs typeface="Public Sans Bold"/>
                <a:sym typeface="Public Sans Bold"/>
              </a:rPr>
              <a:t>Biểu diễn trạng thái:</a:t>
            </a:r>
            <a:r>
              <a:rPr lang="en-US" sz="2800">
                <a:solidFill>
                  <a:srgbClr val="333333"/>
                </a:solidFill>
                <a:latin typeface="Public Sans"/>
                <a:ea typeface="Public Sans"/>
                <a:cs typeface="Public Sans"/>
                <a:sym typeface="Public Sans"/>
              </a:rPr>
              <a:t> mảng một chiều board của độ dài n, với board[col] = row (mỗi cột có một hậu).</a:t>
            </a:r>
          </a:p>
          <a:p>
            <a:pPr algn="l">
              <a:lnSpc>
                <a:spcPts val="3920"/>
              </a:lnSpc>
              <a:spcBef>
                <a:spcPct val="0"/>
              </a:spcBef>
            </a:pPr>
          </a:p>
        </p:txBody>
      </p:sp>
      <p:sp>
        <p:nvSpPr>
          <p:cNvPr name="TextBox 7" id="7"/>
          <p:cNvSpPr txBox="true"/>
          <p:nvPr/>
        </p:nvSpPr>
        <p:spPr>
          <a:xfrm rot="0">
            <a:off x="10299905" y="6113626"/>
            <a:ext cx="6807081" cy="2472050"/>
          </a:xfrm>
          <a:prstGeom prst="rect">
            <a:avLst/>
          </a:prstGeom>
        </p:spPr>
        <p:txBody>
          <a:bodyPr anchor="t" rtlCol="false" tIns="0" lIns="0" bIns="0" rIns="0">
            <a:spAutoFit/>
          </a:bodyPr>
          <a:lstStyle/>
          <a:p>
            <a:pPr algn="l">
              <a:lnSpc>
                <a:spcPts val="3920"/>
              </a:lnSpc>
              <a:spcBef>
                <a:spcPct val="0"/>
              </a:spcBef>
            </a:pPr>
            <a:r>
              <a:rPr lang="en-US" sz="2800">
                <a:solidFill>
                  <a:srgbClr val="333333"/>
                </a:solidFill>
                <a:latin typeface="Public Sans"/>
                <a:ea typeface="Public Sans"/>
                <a:cs typeface="Public Sans"/>
                <a:sym typeface="Public Sans"/>
              </a:rPr>
              <a:t>            - </a:t>
            </a:r>
            <a:r>
              <a:rPr lang="en-US" b="true" sz="2800">
                <a:solidFill>
                  <a:srgbClr val="333333"/>
                </a:solidFill>
                <a:latin typeface="Public Sans Bold"/>
                <a:ea typeface="Public Sans Bold"/>
                <a:cs typeface="Public Sans Bold"/>
                <a:sym typeface="Public Sans Bold"/>
              </a:rPr>
              <a:t>Không</a:t>
            </a:r>
            <a:r>
              <a:rPr lang="en-US" b="true" sz="2800">
                <a:solidFill>
                  <a:srgbClr val="333333"/>
                </a:solidFill>
                <a:latin typeface="Public Sans Bold"/>
                <a:ea typeface="Public Sans Bold"/>
                <a:cs typeface="Public Sans Bold"/>
                <a:sym typeface="Public Sans Bold"/>
              </a:rPr>
              <a:t> gian trạng thái:</a:t>
            </a:r>
            <a:r>
              <a:rPr lang="en-US" sz="2800">
                <a:solidFill>
                  <a:srgbClr val="333333"/>
                </a:solidFill>
                <a:latin typeface="Public Sans"/>
                <a:ea typeface="Public Sans"/>
                <a:cs typeface="Public Sans"/>
                <a:sym typeface="Public Sans"/>
              </a:rPr>
              <a:t> với biểu diễn này, ta đã loại bỏ khả năng có hai hậu cùng cột; do đó chỉ cần kiểm tra hàng và đường chéo.</a:t>
            </a:r>
          </a:p>
          <a:p>
            <a:pPr algn="l">
              <a:lnSpc>
                <a:spcPts val="3920"/>
              </a:lnSpc>
              <a:spcBef>
                <a:spcPct val="0"/>
              </a:spcBef>
            </a:pP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4863351" y="3370636"/>
            <a:ext cx="7042938" cy="6048324"/>
          </a:xfrm>
          <a:custGeom>
            <a:avLst/>
            <a:gdLst/>
            <a:ahLst/>
            <a:cxnLst/>
            <a:rect r="r" b="b" t="t" l="l"/>
            <a:pathLst>
              <a:path h="6048324" w="7042938">
                <a:moveTo>
                  <a:pt x="0" y="0"/>
                </a:moveTo>
                <a:lnTo>
                  <a:pt x="7042938" y="0"/>
                </a:lnTo>
                <a:lnTo>
                  <a:pt x="7042938" y="6048325"/>
                </a:lnTo>
                <a:lnTo>
                  <a:pt x="0" y="6048325"/>
                </a:lnTo>
                <a:lnTo>
                  <a:pt x="0" y="0"/>
                </a:lnTo>
                <a:close/>
              </a:path>
            </a:pathLst>
          </a:custGeom>
          <a:blipFill>
            <a:blip r:embed="rId2"/>
            <a:stretch>
              <a:fillRect l="0" t="0" r="0" b="0"/>
            </a:stretch>
          </a:blipFill>
        </p:spPr>
      </p:sp>
      <p:sp>
        <p:nvSpPr>
          <p:cNvPr name="TextBox 4" id="4"/>
          <p:cNvSpPr txBox="true"/>
          <p:nvPr/>
        </p:nvSpPr>
        <p:spPr>
          <a:xfrm rot="0">
            <a:off x="1028700" y="962025"/>
            <a:ext cx="6783273" cy="514350"/>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2. Mô hình hóa bài toán N-Queens</a:t>
            </a:r>
          </a:p>
        </p:txBody>
      </p:sp>
      <p:sp>
        <p:nvSpPr>
          <p:cNvPr name="TextBox 5" id="5"/>
          <p:cNvSpPr txBox="true"/>
          <p:nvPr/>
        </p:nvSpPr>
        <p:spPr>
          <a:xfrm rot="0">
            <a:off x="411051" y="2607775"/>
            <a:ext cx="17158025" cy="986150"/>
          </a:xfrm>
          <a:prstGeom prst="rect">
            <a:avLst/>
          </a:prstGeom>
        </p:spPr>
        <p:txBody>
          <a:bodyPr anchor="t" rtlCol="false" tIns="0" lIns="0" bIns="0" rIns="0">
            <a:spAutoFit/>
          </a:bodyPr>
          <a:lstStyle/>
          <a:p>
            <a:pPr algn="l">
              <a:lnSpc>
                <a:spcPts val="3920"/>
              </a:lnSpc>
              <a:spcBef>
                <a:spcPct val="0"/>
              </a:spcBef>
            </a:pPr>
            <a:r>
              <a:rPr lang="en-US" sz="2800">
                <a:solidFill>
                  <a:srgbClr val="333333"/>
                </a:solidFill>
                <a:latin typeface="Public Sans"/>
                <a:ea typeface="Public Sans"/>
                <a:cs typeface="Public Sans"/>
                <a:sym typeface="Public Sans"/>
              </a:rPr>
              <a:t>       -</a:t>
            </a:r>
            <a:r>
              <a:rPr lang="en-US" b="true" sz="2800">
                <a:solidFill>
                  <a:srgbClr val="333333"/>
                </a:solidFill>
                <a:latin typeface="Public Sans Bold"/>
                <a:ea typeface="Public Sans Bold"/>
                <a:cs typeface="Public Sans Bold"/>
                <a:sym typeface="Public Sans Bold"/>
              </a:rPr>
              <a:t> Hàm</a:t>
            </a:r>
            <a:r>
              <a:rPr lang="en-US" b="true" sz="2800">
                <a:solidFill>
                  <a:srgbClr val="333333"/>
                </a:solidFill>
                <a:latin typeface="Public Sans Bold"/>
                <a:ea typeface="Public Sans Bold"/>
                <a:cs typeface="Public Sans Bold"/>
                <a:sym typeface="Public Sans Bold"/>
              </a:rPr>
              <a:t> mục tiêu (objective): </a:t>
            </a:r>
            <a:r>
              <a:rPr lang="en-US" sz="2800">
                <a:solidFill>
                  <a:srgbClr val="333333"/>
                </a:solidFill>
                <a:latin typeface="Public Sans"/>
                <a:ea typeface="Public Sans"/>
                <a:cs typeface="Public Sans"/>
                <a:sym typeface="Public Sans"/>
              </a:rPr>
              <a:t>số cặp hậu xung đột. Mục tiêu tìm trạng thái có giá trị 0.</a:t>
            </a:r>
          </a:p>
          <a:p>
            <a:pPr algn="l">
              <a:lnSpc>
                <a:spcPts val="3920"/>
              </a:lnSpc>
              <a:spcBef>
                <a:spcPct val="0"/>
              </a:spcBef>
            </a:pP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3031848" y="3593924"/>
            <a:ext cx="10776025" cy="5187217"/>
          </a:xfrm>
          <a:custGeom>
            <a:avLst/>
            <a:gdLst/>
            <a:ahLst/>
            <a:cxnLst/>
            <a:rect r="r" b="b" t="t" l="l"/>
            <a:pathLst>
              <a:path h="5187217" w="10776025">
                <a:moveTo>
                  <a:pt x="0" y="0"/>
                </a:moveTo>
                <a:lnTo>
                  <a:pt x="10776024" y="0"/>
                </a:lnTo>
                <a:lnTo>
                  <a:pt x="10776024" y="5187217"/>
                </a:lnTo>
                <a:lnTo>
                  <a:pt x="0" y="5187217"/>
                </a:lnTo>
                <a:lnTo>
                  <a:pt x="0" y="0"/>
                </a:lnTo>
                <a:close/>
              </a:path>
            </a:pathLst>
          </a:custGeom>
          <a:blipFill>
            <a:blip r:embed="rId2"/>
            <a:stretch>
              <a:fillRect l="0" t="0" r="0" b="0"/>
            </a:stretch>
          </a:blipFill>
        </p:spPr>
      </p:sp>
      <p:sp>
        <p:nvSpPr>
          <p:cNvPr name="TextBox 4" id="4"/>
          <p:cNvSpPr txBox="true"/>
          <p:nvPr/>
        </p:nvSpPr>
        <p:spPr>
          <a:xfrm rot="0">
            <a:off x="1028700" y="962025"/>
            <a:ext cx="6783273" cy="514350"/>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2. Mô hình hóa bài toán N-Queens</a:t>
            </a:r>
          </a:p>
        </p:txBody>
      </p:sp>
      <p:sp>
        <p:nvSpPr>
          <p:cNvPr name="TextBox 5" id="5"/>
          <p:cNvSpPr txBox="true"/>
          <p:nvPr/>
        </p:nvSpPr>
        <p:spPr>
          <a:xfrm rot="0">
            <a:off x="411051" y="2607775"/>
            <a:ext cx="17158025" cy="1481450"/>
          </a:xfrm>
          <a:prstGeom prst="rect">
            <a:avLst/>
          </a:prstGeom>
        </p:spPr>
        <p:txBody>
          <a:bodyPr anchor="t" rtlCol="false" tIns="0" lIns="0" bIns="0" rIns="0">
            <a:spAutoFit/>
          </a:bodyPr>
          <a:lstStyle/>
          <a:p>
            <a:pPr algn="l">
              <a:lnSpc>
                <a:spcPts val="3920"/>
              </a:lnSpc>
              <a:spcBef>
                <a:spcPct val="0"/>
              </a:spcBef>
            </a:pPr>
            <a:r>
              <a:rPr lang="en-US" sz="2800">
                <a:solidFill>
                  <a:srgbClr val="333333"/>
                </a:solidFill>
                <a:latin typeface="Public Sans"/>
                <a:ea typeface="Public Sans"/>
                <a:cs typeface="Public Sans"/>
                <a:sym typeface="Public Sans"/>
              </a:rPr>
              <a:t>       -</a:t>
            </a:r>
            <a:r>
              <a:rPr lang="en-US" b="true" sz="2800">
                <a:solidFill>
                  <a:srgbClr val="333333"/>
                </a:solidFill>
                <a:latin typeface="Public Sans Bold"/>
                <a:ea typeface="Public Sans Bold"/>
                <a:cs typeface="Public Sans Bold"/>
                <a:sym typeface="Public Sans Bold"/>
              </a:rPr>
              <a:t>  Ví</a:t>
            </a:r>
            <a:r>
              <a:rPr lang="en-US" b="true" sz="2800">
                <a:solidFill>
                  <a:srgbClr val="333333"/>
                </a:solidFill>
                <a:latin typeface="Public Sans Bold"/>
                <a:ea typeface="Public Sans Bold"/>
                <a:cs typeface="Public Sans Bold"/>
                <a:sym typeface="Public Sans Bold"/>
              </a:rPr>
              <a:t> dụ minh họa: </a:t>
            </a:r>
            <a:r>
              <a:rPr lang="en-US" sz="2800">
                <a:solidFill>
                  <a:srgbClr val="333333"/>
                </a:solidFill>
                <a:latin typeface="Public Sans"/>
                <a:ea typeface="Public Sans"/>
                <a:cs typeface="Public Sans"/>
                <a:sym typeface="Public Sans"/>
              </a:rPr>
              <a:t>board = [1,3,0,2] tương ứng với nghiệm của n=4 (giá trị conflicts = 0).</a:t>
            </a:r>
          </a:p>
          <a:p>
            <a:pPr algn="l">
              <a:lnSpc>
                <a:spcPts val="3920"/>
              </a:lnSpc>
              <a:spcBef>
                <a:spcPct val="0"/>
              </a:spcBef>
            </a:pPr>
          </a:p>
          <a:p>
            <a:pPr algn="l">
              <a:lnSpc>
                <a:spcPts val="3920"/>
              </a:lnSpc>
              <a:spcBef>
                <a:spcPct val="0"/>
              </a:spcBef>
            </a:pP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9144000" y="2016500"/>
            <a:ext cx="8091002" cy="7241800"/>
          </a:xfrm>
          <a:custGeom>
            <a:avLst/>
            <a:gdLst/>
            <a:ahLst/>
            <a:cxnLst/>
            <a:rect r="r" b="b" t="t" l="l"/>
            <a:pathLst>
              <a:path h="7241800" w="8091002">
                <a:moveTo>
                  <a:pt x="0" y="0"/>
                </a:moveTo>
                <a:lnTo>
                  <a:pt x="8091002" y="0"/>
                </a:lnTo>
                <a:lnTo>
                  <a:pt x="8091002" y="7241800"/>
                </a:lnTo>
                <a:lnTo>
                  <a:pt x="0" y="7241800"/>
                </a:lnTo>
                <a:lnTo>
                  <a:pt x="0" y="0"/>
                </a:lnTo>
                <a:close/>
              </a:path>
            </a:pathLst>
          </a:custGeom>
          <a:blipFill>
            <a:blip r:embed="rId2"/>
            <a:stretch>
              <a:fillRect l="0" t="0" r="0" b="0"/>
            </a:stretch>
          </a:blipFill>
        </p:spPr>
      </p:sp>
      <p:sp>
        <p:nvSpPr>
          <p:cNvPr name="TextBox 4" id="4"/>
          <p:cNvSpPr txBox="true"/>
          <p:nvPr/>
        </p:nvSpPr>
        <p:spPr>
          <a:xfrm rot="0">
            <a:off x="1028700" y="514350"/>
            <a:ext cx="10105799" cy="514350"/>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3. Các thoạt toán tìm kiếm cục bộ được triển khai </a:t>
            </a:r>
          </a:p>
        </p:txBody>
      </p:sp>
      <p:sp>
        <p:nvSpPr>
          <p:cNvPr name="TextBox 5" id="5"/>
          <p:cNvSpPr txBox="true"/>
          <p:nvPr/>
        </p:nvSpPr>
        <p:spPr>
          <a:xfrm rot="0">
            <a:off x="538841" y="2980009"/>
            <a:ext cx="8413475" cy="1768469"/>
          </a:xfrm>
          <a:prstGeom prst="rect">
            <a:avLst/>
          </a:prstGeom>
        </p:spPr>
        <p:txBody>
          <a:bodyPr anchor="t" rtlCol="false" tIns="0" lIns="0" bIns="0" rIns="0">
            <a:spAutoFit/>
          </a:bodyPr>
          <a:lstStyle/>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      Với</a:t>
            </a:r>
            <a:r>
              <a:rPr lang="en-US" sz="2000">
                <a:solidFill>
                  <a:srgbClr val="333333"/>
                </a:solidFill>
                <a:latin typeface="Public Sans"/>
                <a:ea typeface="Public Sans"/>
                <a:cs typeface="Public Sans"/>
                <a:sym typeface="Public Sans"/>
              </a:rPr>
              <a:t> </a:t>
            </a:r>
            <a:r>
              <a:rPr lang="en-US" sz="2000">
                <a:solidFill>
                  <a:srgbClr val="333333"/>
                </a:solidFill>
                <a:latin typeface="Public Sans"/>
                <a:ea typeface="Public Sans"/>
                <a:cs typeface="Public Sans"/>
                <a:sym typeface="Public Sans"/>
              </a:rPr>
              <a:t>thao</a:t>
            </a:r>
            <a:r>
              <a:rPr lang="en-US" sz="2000">
                <a:solidFill>
                  <a:srgbClr val="333333"/>
                </a:solidFill>
                <a:latin typeface="Public Sans"/>
                <a:ea typeface="Public Sans"/>
                <a:cs typeface="Public Sans"/>
                <a:sym typeface="Public Sans"/>
              </a:rPr>
              <a:t> </a:t>
            </a:r>
            <a:r>
              <a:rPr lang="en-US" sz="2000">
                <a:solidFill>
                  <a:srgbClr val="333333"/>
                </a:solidFill>
                <a:latin typeface="Public Sans"/>
                <a:ea typeface="Public Sans"/>
                <a:cs typeface="Public Sans"/>
                <a:sym typeface="Public Sans"/>
              </a:rPr>
              <a:t>tá</a:t>
            </a:r>
            <a:r>
              <a:rPr lang="en-US" sz="2000">
                <a:solidFill>
                  <a:srgbClr val="333333"/>
                </a:solidFill>
                <a:latin typeface="Public Sans"/>
                <a:ea typeface="Public Sans"/>
                <a:cs typeface="Public Sans"/>
                <a:sym typeface="Public Sans"/>
              </a:rPr>
              <a:t>c </a:t>
            </a:r>
            <a:r>
              <a:rPr lang="en-US" sz="2000">
                <a:solidFill>
                  <a:srgbClr val="333333"/>
                </a:solidFill>
                <a:latin typeface="Public Sans"/>
                <a:ea typeface="Public Sans"/>
                <a:cs typeface="Public Sans"/>
                <a:sym typeface="Public Sans"/>
              </a:rPr>
              <a:t>láng</a:t>
            </a:r>
            <a:r>
              <a:rPr lang="en-US" sz="2000">
                <a:solidFill>
                  <a:srgbClr val="333333"/>
                </a:solidFill>
                <a:latin typeface="Public Sans"/>
                <a:ea typeface="Public Sans"/>
                <a:cs typeface="Public Sans"/>
                <a:sym typeface="Public Sans"/>
              </a:rPr>
              <a:t> </a:t>
            </a:r>
            <a:r>
              <a:rPr lang="en-US" sz="2000">
                <a:solidFill>
                  <a:srgbClr val="333333"/>
                </a:solidFill>
                <a:latin typeface="Public Sans"/>
                <a:ea typeface="Public Sans"/>
                <a:cs typeface="Public Sans"/>
                <a:sym typeface="Public Sans"/>
              </a:rPr>
              <a:t>g</a:t>
            </a:r>
            <a:r>
              <a:rPr lang="en-US" sz="2000">
                <a:solidFill>
                  <a:srgbClr val="333333"/>
                </a:solidFill>
                <a:latin typeface="Public Sans"/>
                <a:ea typeface="Public Sans"/>
                <a:cs typeface="Public Sans"/>
                <a:sym typeface="Public Sans"/>
              </a:rPr>
              <a:t>i</a:t>
            </a:r>
            <a:r>
              <a:rPr lang="en-US" sz="2000">
                <a:solidFill>
                  <a:srgbClr val="333333"/>
                </a:solidFill>
                <a:latin typeface="Public Sans"/>
                <a:ea typeface="Public Sans"/>
                <a:cs typeface="Public Sans"/>
                <a:sym typeface="Public Sans"/>
              </a:rPr>
              <a:t>ềng</a:t>
            </a:r>
            <a:r>
              <a:rPr lang="en-US" sz="2000">
                <a:solidFill>
                  <a:srgbClr val="333333"/>
                </a:solidFill>
                <a:latin typeface="Public Sans"/>
                <a:ea typeface="Public Sans"/>
                <a:cs typeface="Public Sans"/>
                <a:sym typeface="Public Sans"/>
              </a:rPr>
              <a:t> </a:t>
            </a:r>
            <a:r>
              <a:rPr lang="en-US" sz="2000">
                <a:solidFill>
                  <a:srgbClr val="333333"/>
                </a:solidFill>
                <a:latin typeface="Public Sans"/>
                <a:ea typeface="Public Sans"/>
                <a:cs typeface="Public Sans"/>
                <a:sym typeface="Public Sans"/>
              </a:rPr>
              <a:t>là di chuyển một hậu trong một cột sang một hàng khác; duyệt toàn bộ các láng giềng (O(n^2) láng giềng) và chọn láng giềng tốt nhất.</a:t>
            </a:r>
          </a:p>
          <a:p>
            <a:pPr algn="l">
              <a:lnSpc>
                <a:spcPts val="2800"/>
              </a:lnSpc>
              <a:spcBef>
                <a:spcPct val="0"/>
              </a:spcBef>
            </a:pPr>
          </a:p>
          <a:p>
            <a:pPr algn="l">
              <a:lnSpc>
                <a:spcPts val="2800"/>
              </a:lnSpc>
              <a:spcBef>
                <a:spcPct val="0"/>
              </a:spcBef>
            </a:pPr>
          </a:p>
        </p:txBody>
      </p:sp>
      <p:sp>
        <p:nvSpPr>
          <p:cNvPr name="TextBox 6" id="6"/>
          <p:cNvSpPr txBox="true"/>
          <p:nvPr/>
        </p:nvSpPr>
        <p:spPr>
          <a:xfrm rot="0">
            <a:off x="1800491" y="1099721"/>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3.1.Steepest-ascent hill-climbing</a:t>
            </a:r>
          </a:p>
          <a:p>
            <a:pPr algn="l">
              <a:lnSpc>
                <a:spcPts val="4199"/>
              </a:lnSpc>
            </a:pP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8675557" y="2861847"/>
            <a:ext cx="9102775" cy="6221703"/>
          </a:xfrm>
          <a:custGeom>
            <a:avLst/>
            <a:gdLst/>
            <a:ahLst/>
            <a:cxnLst/>
            <a:rect r="r" b="b" t="t" l="l"/>
            <a:pathLst>
              <a:path h="6221703" w="9102775">
                <a:moveTo>
                  <a:pt x="0" y="0"/>
                </a:moveTo>
                <a:lnTo>
                  <a:pt x="9102775" y="0"/>
                </a:lnTo>
                <a:lnTo>
                  <a:pt x="9102775" y="6221702"/>
                </a:lnTo>
                <a:lnTo>
                  <a:pt x="0" y="6221702"/>
                </a:lnTo>
                <a:lnTo>
                  <a:pt x="0" y="0"/>
                </a:lnTo>
                <a:close/>
              </a:path>
            </a:pathLst>
          </a:custGeom>
          <a:blipFill>
            <a:blip r:embed="rId2"/>
            <a:stretch>
              <a:fillRect l="0" t="0" r="0" b="0"/>
            </a:stretch>
          </a:blipFill>
        </p:spPr>
      </p:sp>
      <p:sp>
        <p:nvSpPr>
          <p:cNvPr name="TextBox 4" id="4"/>
          <p:cNvSpPr txBox="true"/>
          <p:nvPr/>
        </p:nvSpPr>
        <p:spPr>
          <a:xfrm rot="0">
            <a:off x="1028700" y="514350"/>
            <a:ext cx="10105799" cy="514350"/>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3. Các thoạt toán tìm kiếm cục bộ được triển khai </a:t>
            </a:r>
          </a:p>
        </p:txBody>
      </p:sp>
      <p:sp>
        <p:nvSpPr>
          <p:cNvPr name="TextBox 5" id="5"/>
          <p:cNvSpPr txBox="true"/>
          <p:nvPr/>
        </p:nvSpPr>
        <p:spPr>
          <a:xfrm rot="0">
            <a:off x="538841" y="2980009"/>
            <a:ext cx="7369862" cy="1063619"/>
          </a:xfrm>
          <a:prstGeom prst="rect">
            <a:avLst/>
          </a:prstGeom>
        </p:spPr>
        <p:txBody>
          <a:bodyPr anchor="t" rtlCol="false" tIns="0" lIns="0" bIns="0" rIns="0">
            <a:spAutoFit/>
          </a:bodyPr>
          <a:lstStyle/>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Lựa</a:t>
            </a:r>
            <a:r>
              <a:rPr lang="en-US" sz="2000">
                <a:solidFill>
                  <a:srgbClr val="333333"/>
                </a:solidFill>
                <a:latin typeface="Public Sans"/>
                <a:ea typeface="Public Sans"/>
                <a:cs typeface="Public Sans"/>
                <a:sym typeface="Public Sans"/>
              </a:rPr>
              <a:t> chọn ngẫu nhiên các láng giềng và chấp nhận ngay khi tìm được láng giềng tốt hơn.</a:t>
            </a:r>
          </a:p>
          <a:p>
            <a:pPr algn="l">
              <a:lnSpc>
                <a:spcPts val="2800"/>
              </a:lnSpc>
              <a:spcBef>
                <a:spcPct val="0"/>
              </a:spcBef>
            </a:pPr>
          </a:p>
        </p:txBody>
      </p:sp>
      <p:sp>
        <p:nvSpPr>
          <p:cNvPr name="TextBox 6" id="6"/>
          <p:cNvSpPr txBox="true"/>
          <p:nvPr/>
        </p:nvSpPr>
        <p:spPr>
          <a:xfrm rot="0">
            <a:off x="1800491" y="1099721"/>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3.2. First-choice hill-climbing</a:t>
            </a:r>
          </a:p>
          <a:p>
            <a:pPr algn="l">
              <a:lnSpc>
                <a:spcPts val="4199"/>
              </a:lnSpc>
            </a:pP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7749447" y="3037159"/>
            <a:ext cx="10368167" cy="5435550"/>
          </a:xfrm>
          <a:custGeom>
            <a:avLst/>
            <a:gdLst/>
            <a:ahLst/>
            <a:cxnLst/>
            <a:rect r="r" b="b" t="t" l="l"/>
            <a:pathLst>
              <a:path h="5435550" w="10368167">
                <a:moveTo>
                  <a:pt x="0" y="0"/>
                </a:moveTo>
                <a:lnTo>
                  <a:pt x="10368167" y="0"/>
                </a:lnTo>
                <a:lnTo>
                  <a:pt x="10368167" y="5435551"/>
                </a:lnTo>
                <a:lnTo>
                  <a:pt x="0" y="5435551"/>
                </a:lnTo>
                <a:lnTo>
                  <a:pt x="0" y="0"/>
                </a:lnTo>
                <a:close/>
              </a:path>
            </a:pathLst>
          </a:custGeom>
          <a:blipFill>
            <a:blip r:embed="rId2"/>
            <a:stretch>
              <a:fillRect l="0" t="0" r="0" b="0"/>
            </a:stretch>
          </a:blipFill>
        </p:spPr>
      </p:sp>
      <p:sp>
        <p:nvSpPr>
          <p:cNvPr name="TextBox 4" id="4"/>
          <p:cNvSpPr txBox="true"/>
          <p:nvPr/>
        </p:nvSpPr>
        <p:spPr>
          <a:xfrm rot="0">
            <a:off x="1028700" y="514350"/>
            <a:ext cx="10105799" cy="514350"/>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3. Các thoạt toán tìm kiếm cục bộ được triển khai </a:t>
            </a:r>
          </a:p>
        </p:txBody>
      </p:sp>
      <p:sp>
        <p:nvSpPr>
          <p:cNvPr name="TextBox 5" id="5"/>
          <p:cNvSpPr txBox="true"/>
          <p:nvPr/>
        </p:nvSpPr>
        <p:spPr>
          <a:xfrm rot="0">
            <a:off x="538841" y="2980009"/>
            <a:ext cx="7369862" cy="1063619"/>
          </a:xfrm>
          <a:prstGeom prst="rect">
            <a:avLst/>
          </a:prstGeom>
        </p:spPr>
        <p:txBody>
          <a:bodyPr anchor="t" rtlCol="false" tIns="0" lIns="0" bIns="0" rIns="0">
            <a:spAutoFit/>
          </a:bodyPr>
          <a:lstStyle/>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C</a:t>
            </a:r>
            <a:r>
              <a:rPr lang="en-US" sz="2000">
                <a:solidFill>
                  <a:srgbClr val="333333"/>
                </a:solidFill>
                <a:latin typeface="Public Sans"/>
                <a:ea typeface="Public Sans"/>
                <a:cs typeface="Public Sans"/>
                <a:sym typeface="Public Sans"/>
              </a:rPr>
              <a:t>hạy nhiều lần hill-climbing từ các khởi tạo khác nhau để tăng khả năng tìm nghiệm toàn cục</a:t>
            </a:r>
          </a:p>
          <a:p>
            <a:pPr algn="l">
              <a:lnSpc>
                <a:spcPts val="2800"/>
              </a:lnSpc>
              <a:spcBef>
                <a:spcPct val="0"/>
              </a:spcBef>
            </a:pPr>
          </a:p>
        </p:txBody>
      </p:sp>
      <p:sp>
        <p:nvSpPr>
          <p:cNvPr name="TextBox 6" id="6"/>
          <p:cNvSpPr txBox="true"/>
          <p:nvPr/>
        </p:nvSpPr>
        <p:spPr>
          <a:xfrm rot="0">
            <a:off x="1800491" y="1099721"/>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3.3.Random-restart hill-climbing</a:t>
            </a:r>
          </a:p>
          <a:p>
            <a:pPr algn="l">
              <a:lnSpc>
                <a:spcPts val="4199"/>
              </a:lnSpc>
            </a:pP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8611544" y="2137947"/>
            <a:ext cx="9020733" cy="7738164"/>
          </a:xfrm>
          <a:custGeom>
            <a:avLst/>
            <a:gdLst/>
            <a:ahLst/>
            <a:cxnLst/>
            <a:rect r="r" b="b" t="t" l="l"/>
            <a:pathLst>
              <a:path h="7738164" w="9020733">
                <a:moveTo>
                  <a:pt x="0" y="0"/>
                </a:moveTo>
                <a:lnTo>
                  <a:pt x="9020733" y="0"/>
                </a:lnTo>
                <a:lnTo>
                  <a:pt x="9020733" y="7738164"/>
                </a:lnTo>
                <a:lnTo>
                  <a:pt x="0" y="7738164"/>
                </a:lnTo>
                <a:lnTo>
                  <a:pt x="0" y="0"/>
                </a:lnTo>
                <a:close/>
              </a:path>
            </a:pathLst>
          </a:custGeom>
          <a:blipFill>
            <a:blip r:embed="rId2"/>
            <a:stretch>
              <a:fillRect l="0" t="0" r="0" b="0"/>
            </a:stretch>
          </a:blipFill>
        </p:spPr>
      </p:sp>
      <p:sp>
        <p:nvSpPr>
          <p:cNvPr name="TextBox 4" id="4"/>
          <p:cNvSpPr txBox="true"/>
          <p:nvPr/>
        </p:nvSpPr>
        <p:spPr>
          <a:xfrm rot="0">
            <a:off x="1028700" y="514350"/>
            <a:ext cx="10105799" cy="514350"/>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3. Các thoạt toán tìm kiếm cục bộ được triển khai </a:t>
            </a:r>
          </a:p>
        </p:txBody>
      </p:sp>
      <p:sp>
        <p:nvSpPr>
          <p:cNvPr name="TextBox 5" id="5"/>
          <p:cNvSpPr txBox="true"/>
          <p:nvPr/>
        </p:nvSpPr>
        <p:spPr>
          <a:xfrm rot="0">
            <a:off x="538841" y="2980009"/>
            <a:ext cx="7369862" cy="1063619"/>
          </a:xfrm>
          <a:prstGeom prst="rect">
            <a:avLst/>
          </a:prstGeom>
        </p:spPr>
        <p:txBody>
          <a:bodyPr anchor="t" rtlCol="false" tIns="0" lIns="0" bIns="0" rIns="0">
            <a:spAutoFit/>
          </a:bodyPr>
          <a:lstStyle/>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C</a:t>
            </a:r>
            <a:r>
              <a:rPr lang="en-US" sz="2000">
                <a:solidFill>
                  <a:srgbClr val="333333"/>
                </a:solidFill>
                <a:latin typeface="Public Sans"/>
                <a:ea typeface="Public Sans"/>
                <a:cs typeface="Public Sans"/>
                <a:sym typeface="Public Sans"/>
              </a:rPr>
              <a:t>ho phép chấp nhận trạng thái xấu hơn theo xác suất e^{-Δ/T}, với schedule làm mát nhân tử alpha mỗi bước.</a:t>
            </a:r>
          </a:p>
          <a:p>
            <a:pPr algn="l">
              <a:lnSpc>
                <a:spcPts val="2800"/>
              </a:lnSpc>
              <a:spcBef>
                <a:spcPct val="0"/>
              </a:spcBef>
            </a:pPr>
          </a:p>
        </p:txBody>
      </p:sp>
      <p:sp>
        <p:nvSpPr>
          <p:cNvPr name="TextBox 6" id="6"/>
          <p:cNvSpPr txBox="true"/>
          <p:nvPr/>
        </p:nvSpPr>
        <p:spPr>
          <a:xfrm rot="0">
            <a:off x="1800491" y="1099721"/>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3.4.Simulated Annealing</a:t>
            </a:r>
          </a:p>
          <a:p>
            <a:pPr algn="l">
              <a:lnSpc>
                <a:spcPts val="4199"/>
              </a:lnSpc>
            </a:pPr>
          </a:p>
        </p:txBody>
      </p:sp>
      <p:sp>
        <p:nvSpPr>
          <p:cNvPr name="TextBox 7" id="7"/>
          <p:cNvSpPr txBox="true"/>
          <p:nvPr/>
        </p:nvSpPr>
        <p:spPr>
          <a:xfrm rot="0">
            <a:off x="669942" y="4881829"/>
            <a:ext cx="7369862" cy="3883019"/>
          </a:xfrm>
          <a:prstGeom prst="rect">
            <a:avLst/>
          </a:prstGeom>
        </p:spPr>
        <p:txBody>
          <a:bodyPr anchor="t" rtlCol="false" tIns="0" lIns="0" bIns="0" rIns="0">
            <a:spAutoFit/>
          </a:bodyPr>
          <a:lstStyle/>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Phân tích t</a:t>
            </a:r>
            <a:r>
              <a:rPr lang="en-US" sz="2000">
                <a:solidFill>
                  <a:srgbClr val="333333"/>
                </a:solidFill>
                <a:latin typeface="Public Sans"/>
                <a:ea typeface="Public Sans"/>
                <a:cs typeface="Public Sans"/>
                <a:sym typeface="Public Sans"/>
              </a:rPr>
              <a:t>huật toán:</a:t>
            </a:r>
          </a:p>
          <a:p>
            <a:pPr algn="l">
              <a:lnSpc>
                <a:spcPts val="2800"/>
              </a:lnSpc>
              <a:spcBef>
                <a:spcPct val="0"/>
              </a:spcBef>
            </a:pPr>
            <a:r>
              <a:rPr lang="en-US" sz="2000">
                <a:solidFill>
                  <a:srgbClr val="333333"/>
                </a:solidFill>
                <a:latin typeface="Public Sans"/>
                <a:ea typeface="Public Sans"/>
                <a:cs typeface="Public Sans"/>
                <a:sym typeface="Public Sans"/>
              </a:rPr>
              <a:t>               -  Mỗi phép duyệt láng giềng trong steepest-ascent cần gọi hàm conflicts nhiều lần — đây là nguyên nhân chính làm tăng độ phức tạp thực thi.</a:t>
            </a:r>
          </a:p>
          <a:p>
            <a:pPr algn="l">
              <a:lnSpc>
                <a:spcPts val="2800"/>
              </a:lnSpc>
              <a:spcBef>
                <a:spcPct val="0"/>
              </a:spcBef>
            </a:pPr>
            <a:r>
              <a:rPr lang="en-US" sz="2000">
                <a:solidFill>
                  <a:srgbClr val="333333"/>
                </a:solidFill>
                <a:latin typeface="Public Sans"/>
                <a:ea typeface="Public Sans"/>
                <a:cs typeface="Public Sans"/>
                <a:sym typeface="Public Sans"/>
              </a:rPr>
              <a:t>               - Độ phức tạp thời gian (mang tính ước lượng): một bước steepest-ascent: O(n^3) nếu tính phí cho việc duyệt từng láng giềng và mỗi láng giềng gọi hàm conflicts có độ phức tạp O(n^2) trong triển khai cơ bản — tuy nhiên trong thực tế có thể tối ưu để đạt O(n^2) cho mỗi bước bằng cách cập nhật delta (xem phần sau).</a:t>
            </a:r>
          </a:p>
          <a:p>
            <a:pPr algn="l">
              <a:lnSpc>
                <a:spcPts val="2800"/>
              </a:lnSpc>
              <a:spcBef>
                <a:spcPct val="0"/>
              </a:spcBef>
            </a:pP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181742" y="2609004"/>
            <a:ext cx="10569388" cy="5068992"/>
          </a:xfrm>
          <a:custGeom>
            <a:avLst/>
            <a:gdLst/>
            <a:ahLst/>
            <a:cxnLst/>
            <a:rect r="r" b="b" t="t" l="l"/>
            <a:pathLst>
              <a:path h="5068992" w="10569388">
                <a:moveTo>
                  <a:pt x="0" y="0"/>
                </a:moveTo>
                <a:lnTo>
                  <a:pt x="10569388" y="0"/>
                </a:lnTo>
                <a:lnTo>
                  <a:pt x="10569388" y="5068992"/>
                </a:lnTo>
                <a:lnTo>
                  <a:pt x="0" y="5068992"/>
                </a:lnTo>
                <a:lnTo>
                  <a:pt x="0" y="0"/>
                </a:lnTo>
                <a:close/>
              </a:path>
            </a:pathLst>
          </a:custGeom>
          <a:blipFill>
            <a:blip r:embed="rId2"/>
            <a:stretch>
              <a:fillRect l="0" t="0" r="0" b="0"/>
            </a:stretch>
          </a:blipFill>
        </p:spPr>
      </p:sp>
      <p:sp>
        <p:nvSpPr>
          <p:cNvPr name="TextBox 4" id="4"/>
          <p:cNvSpPr txBox="true"/>
          <p:nvPr/>
        </p:nvSpPr>
        <p:spPr>
          <a:xfrm rot="0">
            <a:off x="1028700" y="514350"/>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4. Phân tích hàm tính xung đột (conflicts)</a:t>
            </a:r>
          </a:p>
          <a:p>
            <a:pPr algn="l">
              <a:lnSpc>
                <a:spcPts val="4199"/>
              </a:lnSpc>
            </a:pPr>
          </a:p>
        </p:txBody>
      </p:sp>
      <p:sp>
        <p:nvSpPr>
          <p:cNvPr name="TextBox 5" id="5"/>
          <p:cNvSpPr txBox="true"/>
          <p:nvPr/>
        </p:nvSpPr>
        <p:spPr>
          <a:xfrm rot="0">
            <a:off x="1800491" y="1099721"/>
            <a:ext cx="10105799" cy="514350"/>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4.1. Định nghĩa và vai trò</a:t>
            </a:r>
          </a:p>
        </p:txBody>
      </p:sp>
      <p:sp>
        <p:nvSpPr>
          <p:cNvPr name="TextBox 6" id="6"/>
          <p:cNvSpPr txBox="true"/>
          <p:nvPr/>
        </p:nvSpPr>
        <p:spPr>
          <a:xfrm rot="0">
            <a:off x="10878920" y="3247242"/>
            <a:ext cx="7135581" cy="1768469"/>
          </a:xfrm>
          <a:prstGeom prst="rect">
            <a:avLst/>
          </a:prstGeom>
        </p:spPr>
        <p:txBody>
          <a:bodyPr anchor="t" rtlCol="false" tIns="0" lIns="0" bIns="0" rIns="0">
            <a:spAutoFit/>
          </a:bodyPr>
          <a:lstStyle/>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 Hàm c</a:t>
            </a:r>
            <a:r>
              <a:rPr lang="en-US" sz="2000">
                <a:solidFill>
                  <a:srgbClr val="333333"/>
                </a:solidFill>
                <a:latin typeface="Public Sans"/>
                <a:ea typeface="Public Sans"/>
                <a:cs typeface="Public Sans"/>
                <a:sym typeface="Public Sans"/>
              </a:rPr>
              <a:t>onflicts(board) trả về số cặp hậu tấn công nhau. Với biểu diễn một hậu mỗi cột, ta cần kiểm tra:</a:t>
            </a:r>
          </a:p>
          <a:p>
            <a:pPr algn="l">
              <a:lnSpc>
                <a:spcPts val="2800"/>
              </a:lnSpc>
              <a:spcBef>
                <a:spcPct val="0"/>
              </a:spcBef>
            </a:pPr>
            <a:r>
              <a:rPr lang="en-US" sz="2000">
                <a:solidFill>
                  <a:srgbClr val="333333"/>
                </a:solidFill>
                <a:latin typeface="Public Sans"/>
                <a:ea typeface="Public Sans"/>
                <a:cs typeface="Public Sans"/>
                <a:sym typeface="Public Sans"/>
              </a:rPr>
              <a:t>              - Số hậu trùng hàng (horizontal conflicts).</a:t>
            </a:r>
          </a:p>
          <a:p>
            <a:pPr algn="l">
              <a:lnSpc>
                <a:spcPts val="2800"/>
              </a:lnSpc>
              <a:spcBef>
                <a:spcPct val="0"/>
              </a:spcBef>
            </a:pPr>
            <a:r>
              <a:rPr lang="en-US" sz="2000">
                <a:solidFill>
                  <a:srgbClr val="333333"/>
                </a:solidFill>
                <a:latin typeface="Public Sans"/>
                <a:ea typeface="Public Sans"/>
                <a:cs typeface="Public Sans"/>
                <a:sym typeface="Public Sans"/>
              </a:rPr>
              <a:t>               - Số hậu trùng đường chéo (diagonal conflicts).</a:t>
            </a:r>
          </a:p>
          <a:p>
            <a:pPr algn="l">
              <a:lnSpc>
                <a:spcPts val="2800"/>
              </a:lnSpc>
              <a:spcBef>
                <a:spcPct val="0"/>
              </a:spcBef>
            </a:pP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2603390" y="1980368"/>
            <a:ext cx="11301259" cy="5707136"/>
          </a:xfrm>
          <a:custGeom>
            <a:avLst/>
            <a:gdLst/>
            <a:ahLst/>
            <a:cxnLst/>
            <a:rect r="r" b="b" t="t" l="l"/>
            <a:pathLst>
              <a:path h="5707136" w="11301259">
                <a:moveTo>
                  <a:pt x="0" y="0"/>
                </a:moveTo>
                <a:lnTo>
                  <a:pt x="11301259" y="0"/>
                </a:lnTo>
                <a:lnTo>
                  <a:pt x="11301259" y="5707136"/>
                </a:lnTo>
                <a:lnTo>
                  <a:pt x="0" y="5707136"/>
                </a:lnTo>
                <a:lnTo>
                  <a:pt x="0" y="0"/>
                </a:lnTo>
                <a:close/>
              </a:path>
            </a:pathLst>
          </a:custGeom>
          <a:blipFill>
            <a:blip r:embed="rId2"/>
            <a:stretch>
              <a:fillRect l="0" t="0" r="0" b="0"/>
            </a:stretch>
          </a:blipFill>
        </p:spPr>
      </p:sp>
      <p:sp>
        <p:nvSpPr>
          <p:cNvPr name="TextBox 4" id="4"/>
          <p:cNvSpPr txBox="true"/>
          <p:nvPr/>
        </p:nvSpPr>
        <p:spPr>
          <a:xfrm rot="0">
            <a:off x="1028700" y="514350"/>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4. Phân tích hàm tính xung đột (conflicts)</a:t>
            </a:r>
          </a:p>
          <a:p>
            <a:pPr algn="l">
              <a:lnSpc>
                <a:spcPts val="4199"/>
              </a:lnSpc>
            </a:pPr>
          </a:p>
        </p:txBody>
      </p:sp>
      <p:sp>
        <p:nvSpPr>
          <p:cNvPr name="TextBox 5" id="5"/>
          <p:cNvSpPr txBox="true"/>
          <p:nvPr/>
        </p:nvSpPr>
        <p:spPr>
          <a:xfrm rot="0">
            <a:off x="1800491" y="1099721"/>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4.2. Triển khai cơ bản (naive)</a:t>
            </a:r>
          </a:p>
          <a:p>
            <a:pPr algn="l">
              <a:lnSpc>
                <a:spcPts val="4199"/>
              </a:lnSpc>
            </a:pPr>
          </a:p>
        </p:txBody>
      </p:sp>
      <p:sp>
        <p:nvSpPr>
          <p:cNvPr name="TextBox 6" id="6"/>
          <p:cNvSpPr txBox="true"/>
          <p:nvPr/>
        </p:nvSpPr>
        <p:spPr>
          <a:xfrm rot="0">
            <a:off x="2748089" y="8194681"/>
            <a:ext cx="10330317" cy="711194"/>
          </a:xfrm>
          <a:prstGeom prst="rect">
            <a:avLst/>
          </a:prstGeom>
        </p:spPr>
        <p:txBody>
          <a:bodyPr anchor="t" rtlCol="false" tIns="0" lIns="0" bIns="0" rIns="0">
            <a:spAutoFit/>
          </a:bodyPr>
          <a:lstStyle/>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Độ phức </a:t>
            </a:r>
            <a:r>
              <a:rPr lang="en-US" sz="2000">
                <a:solidFill>
                  <a:srgbClr val="333333"/>
                </a:solidFill>
                <a:latin typeface="Public Sans"/>
                <a:ea typeface="Public Sans"/>
                <a:cs typeface="Public Sans"/>
                <a:sym typeface="Public Sans"/>
              </a:rPr>
              <a:t>tạp: O(n^2) so với kích thước board, bởi vì ta duyệt mọi cặp (i,j).</a:t>
            </a:r>
          </a:p>
          <a:p>
            <a:pPr algn="l">
              <a:lnSpc>
                <a:spcPts val="2800"/>
              </a:lnSpc>
              <a:spcBef>
                <a:spcPct val="0"/>
              </a:spcBef>
            </a:pPr>
            <a:r>
              <a:rPr lang="en-US" sz="2000">
                <a:solidFill>
                  <a:srgbClr val="333333"/>
                </a:solidFill>
                <a:latin typeface="Public Sans"/>
                <a:ea typeface="Public Sans"/>
                <a:cs typeface="Public Sans"/>
                <a:sym typeface="Public Sans"/>
              </a:rPr>
              <a:t>              </a:t>
            </a:r>
          </a:p>
        </p:txBody>
      </p:sp>
    </p:spTree>
  </p:cSld>
  <p:clrMapOvr>
    <a:masterClrMapping/>
  </p:clrMapOvr>
</p:sld>
</file>

<file path=ppt/slides/slide50.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514350"/>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5. JIT với Numba: kỹ thuật và thực thi</a:t>
            </a:r>
          </a:p>
          <a:p>
            <a:pPr algn="l">
              <a:lnSpc>
                <a:spcPts val="4199"/>
              </a:lnSpc>
            </a:pPr>
          </a:p>
        </p:txBody>
      </p:sp>
      <p:sp>
        <p:nvSpPr>
          <p:cNvPr name="TextBox 4" id="4"/>
          <p:cNvSpPr txBox="true"/>
          <p:nvPr/>
        </p:nvSpPr>
        <p:spPr>
          <a:xfrm rot="0">
            <a:off x="1800491" y="1099721"/>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5.1. Tại sao dùng Numba?</a:t>
            </a:r>
          </a:p>
          <a:p>
            <a:pPr algn="l">
              <a:lnSpc>
                <a:spcPts val="4199"/>
              </a:lnSpc>
            </a:pPr>
          </a:p>
        </p:txBody>
      </p:sp>
      <p:sp>
        <p:nvSpPr>
          <p:cNvPr name="TextBox 5" id="5"/>
          <p:cNvSpPr txBox="true"/>
          <p:nvPr/>
        </p:nvSpPr>
        <p:spPr>
          <a:xfrm rot="0">
            <a:off x="1028700" y="3296086"/>
            <a:ext cx="10330317" cy="2473319"/>
          </a:xfrm>
          <a:prstGeom prst="rect">
            <a:avLst/>
          </a:prstGeom>
        </p:spPr>
        <p:txBody>
          <a:bodyPr anchor="t" rtlCol="false" tIns="0" lIns="0" bIns="0" rIns="0">
            <a:spAutoFit/>
          </a:bodyPr>
          <a:lstStyle/>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 Python </a:t>
            </a:r>
            <a:r>
              <a:rPr lang="en-US" sz="2000">
                <a:solidFill>
                  <a:srgbClr val="333333"/>
                </a:solidFill>
                <a:latin typeface="Public Sans"/>
                <a:ea typeface="Public Sans"/>
                <a:cs typeface="Public Sans"/>
                <a:sym typeface="Public Sans"/>
              </a:rPr>
              <a:t>thuần không tối ưu cho vòng lặp nhiều lần và thao tác số học thuần tuý; Numba cho phép biên dịch sang mã máy cho các hàm sử dụng numpy và vòng lặp đơn giản.</a:t>
            </a:r>
          </a:p>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 Hiệu quả lớn nhất xuất hiện khi hàm có vòng lặp lớn và thao tác số học rõ ràng (không nhiều thao tác phức tạp với object).</a:t>
            </a:r>
          </a:p>
          <a:p>
            <a:pPr algn="l">
              <a:lnSpc>
                <a:spcPts val="2800"/>
              </a:lnSpc>
              <a:spcBef>
                <a:spcPct val="0"/>
              </a:spcBef>
            </a:pPr>
          </a:p>
          <a:p>
            <a:pPr algn="l">
              <a:lnSpc>
                <a:spcPts val="2800"/>
              </a:lnSpc>
              <a:spcBef>
                <a:spcPct val="0"/>
              </a:spcBef>
            </a:pPr>
            <a:r>
              <a:rPr lang="en-US" sz="2000">
                <a:solidFill>
                  <a:srgbClr val="333333"/>
                </a:solidFill>
                <a:latin typeface="Public Sans"/>
                <a:ea typeface="Public Sans"/>
                <a:cs typeface="Public Sans"/>
                <a:sym typeface="Public Sans"/>
              </a:rPr>
              <a:t>              </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2428459" y="2496501"/>
            <a:ext cx="12788271" cy="6761799"/>
          </a:xfrm>
          <a:custGeom>
            <a:avLst/>
            <a:gdLst/>
            <a:ahLst/>
            <a:cxnLst/>
            <a:rect r="r" b="b" t="t" l="l"/>
            <a:pathLst>
              <a:path h="6761799" w="12788271">
                <a:moveTo>
                  <a:pt x="0" y="0"/>
                </a:moveTo>
                <a:lnTo>
                  <a:pt x="12788271" y="0"/>
                </a:lnTo>
                <a:lnTo>
                  <a:pt x="12788271" y="6761799"/>
                </a:lnTo>
                <a:lnTo>
                  <a:pt x="0" y="6761799"/>
                </a:lnTo>
                <a:lnTo>
                  <a:pt x="0" y="0"/>
                </a:lnTo>
                <a:close/>
              </a:path>
            </a:pathLst>
          </a:custGeom>
          <a:blipFill>
            <a:blip r:embed="rId2"/>
            <a:stretch>
              <a:fillRect l="0" t="0" r="0" b="0"/>
            </a:stretch>
          </a:blipFill>
        </p:spPr>
      </p:sp>
      <p:sp>
        <p:nvSpPr>
          <p:cNvPr name="TextBox 4" id="4"/>
          <p:cNvSpPr txBox="true"/>
          <p:nvPr/>
        </p:nvSpPr>
        <p:spPr>
          <a:xfrm rot="0">
            <a:off x="1028700" y="514350"/>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5. JIT với Numba: kỹ thuật và thực thi</a:t>
            </a:r>
          </a:p>
          <a:p>
            <a:pPr algn="l">
              <a:lnSpc>
                <a:spcPts val="4199"/>
              </a:lnSpc>
            </a:pPr>
          </a:p>
        </p:txBody>
      </p:sp>
      <p:sp>
        <p:nvSpPr>
          <p:cNvPr name="TextBox 5" id="5"/>
          <p:cNvSpPr txBox="true"/>
          <p:nvPr/>
        </p:nvSpPr>
        <p:spPr>
          <a:xfrm rot="0">
            <a:off x="1800491" y="1099721"/>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5.2. Ví dụ sử dụng</a:t>
            </a:r>
          </a:p>
          <a:p>
            <a:pPr algn="l">
              <a:lnSpc>
                <a:spcPts val="4199"/>
              </a:lnSpc>
            </a:pPr>
          </a:p>
        </p:txBody>
      </p:sp>
    </p:spTree>
  </p:cSld>
  <p:clrMapOvr>
    <a:masterClrMapping/>
  </p:clrMapOvr>
</p:sld>
</file>

<file path=ppt/slides/slide52.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514350"/>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5. JIT với Numba: kỹ thuật và thực thi</a:t>
            </a:r>
          </a:p>
          <a:p>
            <a:pPr algn="l">
              <a:lnSpc>
                <a:spcPts val="4199"/>
              </a:lnSpc>
            </a:pPr>
          </a:p>
        </p:txBody>
      </p:sp>
      <p:sp>
        <p:nvSpPr>
          <p:cNvPr name="TextBox 4" id="4"/>
          <p:cNvSpPr txBox="true"/>
          <p:nvPr/>
        </p:nvSpPr>
        <p:spPr>
          <a:xfrm rot="0">
            <a:off x="1800491" y="1099721"/>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5.3. Lưu ý khi dùng Numba</a:t>
            </a:r>
          </a:p>
          <a:p>
            <a:pPr algn="l">
              <a:lnSpc>
                <a:spcPts val="4199"/>
              </a:lnSpc>
            </a:pPr>
          </a:p>
        </p:txBody>
      </p:sp>
      <p:sp>
        <p:nvSpPr>
          <p:cNvPr name="TextBox 5" id="5"/>
          <p:cNvSpPr txBox="true"/>
          <p:nvPr/>
        </p:nvSpPr>
        <p:spPr>
          <a:xfrm rot="0">
            <a:off x="1028700" y="3296086"/>
            <a:ext cx="10330317" cy="3883019"/>
          </a:xfrm>
          <a:prstGeom prst="rect">
            <a:avLst/>
          </a:prstGeom>
        </p:spPr>
        <p:txBody>
          <a:bodyPr anchor="t" rtlCol="false" tIns="0" lIns="0" bIns="0" rIns="0">
            <a:spAutoFit/>
          </a:bodyPr>
          <a:lstStyle/>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  Lần c</a:t>
            </a:r>
            <a:r>
              <a:rPr lang="en-US" sz="2000">
                <a:solidFill>
                  <a:srgbClr val="333333"/>
                </a:solidFill>
                <a:latin typeface="Public Sans"/>
                <a:ea typeface="Public Sans"/>
                <a:cs typeface="Public Sans"/>
                <a:sym typeface="Public Sans"/>
              </a:rPr>
              <a:t>hạy đầu tiên có overhead do JIT compile; do đó benchmark phải bỏ lần chạy đầu để đo thời gian thực.</a:t>
            </a:r>
          </a:p>
          <a:p>
            <a:pPr algn="l">
              <a:lnSpc>
                <a:spcPts val="2800"/>
              </a:lnSpc>
              <a:spcBef>
                <a:spcPct val="0"/>
              </a:spcBef>
            </a:pPr>
          </a:p>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 Sử dụng `nopython=True` (hoặc `@njit`) để bắt buộc chế độ biên dịch nóng và đảm bảo hiệu năng tốt.</a:t>
            </a:r>
          </a:p>
          <a:p>
            <a:pPr algn="l">
              <a:lnSpc>
                <a:spcPts val="2800"/>
              </a:lnSpc>
              <a:spcBef>
                <a:spcPct val="0"/>
              </a:spcBef>
            </a:pPr>
          </a:p>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 Tránh trả về các kiểu object phức tạp; ưu tiên kiểu số nguyên, mảng numpy có dtype cố định.</a:t>
            </a:r>
          </a:p>
          <a:p>
            <a:pPr algn="l">
              <a:lnSpc>
                <a:spcPts val="2800"/>
              </a:lnSpc>
              <a:spcBef>
                <a:spcPct val="0"/>
              </a:spcBef>
            </a:pPr>
          </a:p>
          <a:p>
            <a:pPr algn="l">
              <a:lnSpc>
                <a:spcPts val="2800"/>
              </a:lnSpc>
              <a:spcBef>
                <a:spcPct val="0"/>
              </a:spcBef>
            </a:pPr>
          </a:p>
          <a:p>
            <a:pPr algn="l">
              <a:lnSpc>
                <a:spcPts val="2800"/>
              </a:lnSpc>
              <a:spcBef>
                <a:spcPct val="0"/>
              </a:spcBef>
            </a:pPr>
            <a:r>
              <a:rPr lang="en-US" sz="2000">
                <a:solidFill>
                  <a:srgbClr val="333333"/>
                </a:solidFill>
                <a:latin typeface="Public Sans"/>
                <a:ea typeface="Public Sans"/>
                <a:cs typeface="Public Sans"/>
                <a:sym typeface="Public Sans"/>
              </a:rPr>
              <a:t>              </a:t>
            </a:r>
          </a:p>
        </p:txBody>
      </p:sp>
    </p:spTree>
  </p:cSld>
  <p:clrMapOvr>
    <a:masterClrMapping/>
  </p:clrMapOvr>
</p:sld>
</file>

<file path=ppt/slides/slide53.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514350"/>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6. Thực nghiệm </a:t>
            </a:r>
          </a:p>
          <a:p>
            <a:pPr algn="l">
              <a:lnSpc>
                <a:spcPts val="4199"/>
              </a:lnSpc>
            </a:pPr>
          </a:p>
        </p:txBody>
      </p:sp>
      <p:sp>
        <p:nvSpPr>
          <p:cNvPr name="TextBox 4" id="4"/>
          <p:cNvSpPr txBox="true"/>
          <p:nvPr/>
        </p:nvSpPr>
        <p:spPr>
          <a:xfrm rot="0">
            <a:off x="1800491" y="1099721"/>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6.1. Môi trường thử nghiệm đề xuất</a:t>
            </a:r>
          </a:p>
          <a:p>
            <a:pPr algn="l">
              <a:lnSpc>
                <a:spcPts val="4199"/>
              </a:lnSpc>
            </a:pPr>
          </a:p>
        </p:txBody>
      </p:sp>
      <p:sp>
        <p:nvSpPr>
          <p:cNvPr name="TextBox 5" id="5"/>
          <p:cNvSpPr txBox="true"/>
          <p:nvPr/>
        </p:nvSpPr>
        <p:spPr>
          <a:xfrm rot="0">
            <a:off x="2118223" y="2978337"/>
            <a:ext cx="10330317" cy="1063619"/>
          </a:xfrm>
          <a:prstGeom prst="rect">
            <a:avLst/>
          </a:prstGeom>
        </p:spPr>
        <p:txBody>
          <a:bodyPr anchor="t" rtlCol="false" tIns="0" lIns="0" bIns="0" rIns="0">
            <a:spAutoFit/>
          </a:bodyPr>
          <a:lstStyle/>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Google Colab (CPU)</a:t>
            </a:r>
            <a:r>
              <a:rPr lang="en-US" sz="2000">
                <a:solidFill>
                  <a:srgbClr val="333333"/>
                </a:solidFill>
                <a:latin typeface="Public Sans"/>
                <a:ea typeface="Public Sans"/>
                <a:cs typeface="Public Sans"/>
                <a:sym typeface="Public Sans"/>
              </a:rPr>
              <a:t> hoặc máy cục bộ với CPU nhiều lõi; Python 3.8+; numpy; numba.</a:t>
            </a:r>
          </a:p>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 Đo thời gian bằng `time.perf_counter()` hoặc `timeit` và bỏ qua lần chạy JIT đầu tiên.</a:t>
            </a:r>
          </a:p>
          <a:p>
            <a:pPr algn="l">
              <a:lnSpc>
                <a:spcPts val="2800"/>
              </a:lnSpc>
              <a:spcBef>
                <a:spcPct val="0"/>
              </a:spcBef>
            </a:pPr>
          </a:p>
        </p:txBody>
      </p:sp>
      <p:sp>
        <p:nvSpPr>
          <p:cNvPr name="TextBox 6" id="6"/>
          <p:cNvSpPr txBox="true"/>
          <p:nvPr/>
        </p:nvSpPr>
        <p:spPr>
          <a:xfrm rot="0">
            <a:off x="1526926" y="4872822"/>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 6.2. Kịch bản benchmark gợi ý</a:t>
            </a:r>
          </a:p>
          <a:p>
            <a:pPr algn="l">
              <a:lnSpc>
                <a:spcPts val="4199"/>
              </a:lnSpc>
            </a:pPr>
          </a:p>
        </p:txBody>
      </p:sp>
      <p:sp>
        <p:nvSpPr>
          <p:cNvPr name="TextBox 7" id="7"/>
          <p:cNvSpPr txBox="true"/>
          <p:nvPr/>
        </p:nvSpPr>
        <p:spPr>
          <a:xfrm rot="0">
            <a:off x="2118223" y="6434922"/>
            <a:ext cx="10330317" cy="2120894"/>
          </a:xfrm>
          <a:prstGeom prst="rect">
            <a:avLst/>
          </a:prstGeom>
        </p:spPr>
        <p:txBody>
          <a:bodyPr anchor="t" rtlCol="false" tIns="0" lIns="0" bIns="0" rIns="0">
            <a:spAutoFit/>
          </a:bodyPr>
          <a:lstStyle/>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 Board sizes: [50, 100,</a:t>
            </a:r>
            <a:r>
              <a:rPr lang="en-US" sz="2000">
                <a:solidFill>
                  <a:srgbClr val="333333"/>
                </a:solidFill>
                <a:latin typeface="Public Sans"/>
                <a:ea typeface="Public Sans"/>
                <a:cs typeface="Public Sans"/>
                <a:sym typeface="Public Sans"/>
              </a:rPr>
              <a:t> 200, 500, 1000]</a:t>
            </a:r>
          </a:p>
          <a:p>
            <a:pPr algn="l">
              <a:lnSpc>
                <a:spcPts val="2800"/>
              </a:lnSpc>
              <a:spcBef>
                <a:spcPct val="0"/>
              </a:spcBef>
            </a:pPr>
            <a:r>
              <a:rPr lang="en-US" sz="2000">
                <a:solidFill>
                  <a:srgbClr val="333333"/>
                </a:solidFill>
                <a:latin typeface="Public Sans"/>
                <a:ea typeface="Public Sans"/>
                <a:cs typeface="Public Sans"/>
                <a:sym typeface="Public Sans"/>
              </a:rPr>
              <a:t>               </a:t>
            </a:r>
            <a:r>
              <a:rPr lang="en-US" sz="2000">
                <a:solidFill>
                  <a:srgbClr val="333333"/>
                </a:solidFill>
                <a:latin typeface="Public Sans"/>
                <a:ea typeface="Public Sans"/>
                <a:cs typeface="Public Sans"/>
                <a:sym typeface="Public Sans"/>
              </a:rPr>
              <a:t>Với mỗi kích thước:</a:t>
            </a:r>
          </a:p>
          <a:p>
            <a:pPr algn="l">
              <a:lnSpc>
                <a:spcPts val="2800"/>
              </a:lnSpc>
              <a:spcBef>
                <a:spcPct val="0"/>
              </a:spcBef>
            </a:pPr>
            <a:r>
              <a:rPr lang="en-US" sz="2000">
                <a:solidFill>
                  <a:srgbClr val="333333"/>
                </a:solidFill>
                <a:latin typeface="Public Sans"/>
                <a:ea typeface="Public Sans"/>
                <a:cs typeface="Public Sans"/>
                <a:sym typeface="Public Sans"/>
              </a:rPr>
              <a:t>               Sinh một board ngẫu nhiên.</a:t>
            </a:r>
          </a:p>
          <a:p>
            <a:pPr algn="l">
              <a:lnSpc>
                <a:spcPts val="2800"/>
              </a:lnSpc>
              <a:spcBef>
                <a:spcPct val="0"/>
              </a:spcBef>
            </a:pPr>
            <a:r>
              <a:rPr lang="en-US" sz="2000">
                <a:solidFill>
                  <a:srgbClr val="333333"/>
                </a:solidFill>
                <a:latin typeface="Public Sans"/>
                <a:ea typeface="Public Sans"/>
                <a:cs typeface="Public Sans"/>
                <a:sym typeface="Public Sans"/>
              </a:rPr>
              <a:t>               Đo thời gian cho 1000 lần gọi `conflicts_naive` (bỏ warm-up).</a:t>
            </a:r>
          </a:p>
          <a:p>
            <a:pPr algn="l">
              <a:lnSpc>
                <a:spcPts val="2800"/>
              </a:lnSpc>
              <a:spcBef>
                <a:spcPct val="0"/>
              </a:spcBef>
            </a:pPr>
            <a:r>
              <a:rPr lang="en-US" sz="2000">
                <a:solidFill>
                  <a:srgbClr val="333333"/>
                </a:solidFill>
                <a:latin typeface="Public Sans"/>
                <a:ea typeface="Public Sans"/>
                <a:cs typeface="Public Sans"/>
                <a:sym typeface="Public Sans"/>
              </a:rPr>
              <a:t>-</a:t>
            </a:r>
            <a:r>
              <a:rPr lang="en-US" sz="2000">
                <a:solidFill>
                  <a:srgbClr val="333333"/>
                </a:solidFill>
                <a:latin typeface="Public Sans"/>
                <a:ea typeface="Public Sans"/>
                <a:cs typeface="Public Sans"/>
                <a:sym typeface="Public Sans"/>
              </a:rPr>
              <a:t> Đo thời gian cho 1000 lần gọi `conflicts_numba` (bỏ warm-up).</a:t>
            </a:r>
          </a:p>
          <a:p>
            <a:pPr algn="l">
              <a:lnSpc>
                <a:spcPts val="2800"/>
              </a:lnSpc>
              <a:spcBef>
                <a:spcPct val="0"/>
              </a:spcBef>
            </a:pPr>
            <a:r>
              <a:rPr lang="en-US" sz="2000">
                <a:solidFill>
                  <a:srgbClr val="333333"/>
                </a:solidFill>
                <a:latin typeface="Public Sans"/>
                <a:ea typeface="Public Sans"/>
                <a:cs typeface="Public Sans"/>
                <a:sym typeface="Public Sans"/>
              </a:rPr>
              <a:t> - Tính thời gian trung bình mỗi lần gọi và tỉ lệ speedup = naive_time / numba_time.</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8162031" y="2884303"/>
            <a:ext cx="8360034" cy="5599039"/>
          </a:xfrm>
          <a:custGeom>
            <a:avLst/>
            <a:gdLst/>
            <a:ahLst/>
            <a:cxnLst/>
            <a:rect r="r" b="b" t="t" l="l"/>
            <a:pathLst>
              <a:path h="5599039" w="8360034">
                <a:moveTo>
                  <a:pt x="0" y="0"/>
                </a:moveTo>
                <a:lnTo>
                  <a:pt x="8360034" y="0"/>
                </a:lnTo>
                <a:lnTo>
                  <a:pt x="8360034" y="5599039"/>
                </a:lnTo>
                <a:lnTo>
                  <a:pt x="0" y="5599039"/>
                </a:lnTo>
                <a:lnTo>
                  <a:pt x="0" y="0"/>
                </a:lnTo>
                <a:close/>
              </a:path>
            </a:pathLst>
          </a:custGeom>
          <a:blipFill>
            <a:blip r:embed="rId2"/>
            <a:stretch>
              <a:fillRect l="0" t="0" r="0" b="0"/>
            </a:stretch>
          </a:blipFill>
        </p:spPr>
      </p:sp>
      <p:sp>
        <p:nvSpPr>
          <p:cNvPr name="TextBox 4" id="4"/>
          <p:cNvSpPr txBox="true"/>
          <p:nvPr/>
        </p:nvSpPr>
        <p:spPr>
          <a:xfrm rot="0">
            <a:off x="1028700" y="514350"/>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6. Thực nghiệm </a:t>
            </a:r>
          </a:p>
          <a:p>
            <a:pPr algn="l">
              <a:lnSpc>
                <a:spcPts val="4199"/>
              </a:lnSpc>
            </a:pPr>
          </a:p>
        </p:txBody>
      </p:sp>
      <p:sp>
        <p:nvSpPr>
          <p:cNvPr name="TextBox 5" id="5"/>
          <p:cNvSpPr txBox="true"/>
          <p:nvPr/>
        </p:nvSpPr>
        <p:spPr>
          <a:xfrm rot="0">
            <a:off x="1800491" y="1099721"/>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 6.3 Chạy thực nghiệm</a:t>
            </a:r>
          </a:p>
          <a:p>
            <a:pPr algn="l">
              <a:lnSpc>
                <a:spcPts val="4199"/>
              </a:lnSpc>
            </a:pPr>
          </a:p>
        </p:txBody>
      </p:sp>
      <p:sp>
        <p:nvSpPr>
          <p:cNvPr name="TextBox 6" id="6"/>
          <p:cNvSpPr txBox="true"/>
          <p:nvPr/>
        </p:nvSpPr>
        <p:spPr>
          <a:xfrm rot="0">
            <a:off x="1800491" y="3404302"/>
            <a:ext cx="5261336" cy="2120894"/>
          </a:xfrm>
          <a:prstGeom prst="rect">
            <a:avLst/>
          </a:prstGeom>
        </p:spPr>
        <p:txBody>
          <a:bodyPr anchor="t" rtlCol="false" tIns="0" lIns="0" bIns="0" rIns="0">
            <a:spAutoFit/>
          </a:bodyPr>
          <a:lstStyle/>
          <a:p>
            <a:pPr algn="l" marL="431851" indent="-215925" lvl="1">
              <a:lnSpc>
                <a:spcPts val="2800"/>
              </a:lnSpc>
              <a:spcBef>
                <a:spcPct val="0"/>
              </a:spcBef>
              <a:buFont typeface="Arial"/>
              <a:buChar char="•"/>
            </a:pPr>
            <a:r>
              <a:rPr lang="en-US" sz="2000">
                <a:solidFill>
                  <a:srgbClr val="333333"/>
                </a:solidFill>
                <a:latin typeface="Public Sans"/>
                <a:ea typeface="Public Sans"/>
                <a:cs typeface="Public Sans"/>
                <a:sym typeface="Public Sans"/>
              </a:rPr>
              <a:t>Các phép đo t</a:t>
            </a:r>
            <a:r>
              <a:rPr lang="en-US" sz="2000">
                <a:solidFill>
                  <a:srgbClr val="333333"/>
                </a:solidFill>
                <a:latin typeface="Public Sans"/>
                <a:ea typeface="Public Sans"/>
                <a:cs typeface="Public Sans"/>
                <a:sym typeface="Public Sans"/>
              </a:rPr>
              <a:t>hời gian được thực hiện với nhiều kích thước bàn cờ khác nhau, sử dụng ba phương pháp: naive, linear và JIT-compiled (Numba). Thời gian trung bình được tính trên 20 lần lặp.</a:t>
            </a:r>
          </a:p>
          <a:p>
            <a:pPr algn="l">
              <a:lnSpc>
                <a:spcPts val="2800"/>
              </a:lnSpc>
              <a:spcBef>
                <a:spcPct val="0"/>
              </a:spcBef>
            </a:pP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6589883" y="2363305"/>
            <a:ext cx="9810787" cy="6287822"/>
          </a:xfrm>
          <a:custGeom>
            <a:avLst/>
            <a:gdLst/>
            <a:ahLst/>
            <a:cxnLst/>
            <a:rect r="r" b="b" t="t" l="l"/>
            <a:pathLst>
              <a:path h="6287822" w="9810787">
                <a:moveTo>
                  <a:pt x="0" y="0"/>
                </a:moveTo>
                <a:lnTo>
                  <a:pt x="9810787" y="0"/>
                </a:lnTo>
                <a:lnTo>
                  <a:pt x="9810787" y="6287822"/>
                </a:lnTo>
                <a:lnTo>
                  <a:pt x="0" y="6287822"/>
                </a:lnTo>
                <a:lnTo>
                  <a:pt x="0" y="0"/>
                </a:lnTo>
                <a:close/>
              </a:path>
            </a:pathLst>
          </a:custGeom>
          <a:blipFill>
            <a:blip r:embed="rId2"/>
            <a:stretch>
              <a:fillRect l="0" t="0" r="0" b="0"/>
            </a:stretch>
          </a:blipFill>
        </p:spPr>
      </p:sp>
      <p:sp>
        <p:nvSpPr>
          <p:cNvPr name="TextBox 4" id="4"/>
          <p:cNvSpPr txBox="true"/>
          <p:nvPr/>
        </p:nvSpPr>
        <p:spPr>
          <a:xfrm rot="0">
            <a:off x="1028700" y="514350"/>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6. Thực nghiệm </a:t>
            </a:r>
          </a:p>
          <a:p>
            <a:pPr algn="l">
              <a:lnSpc>
                <a:spcPts val="4199"/>
              </a:lnSpc>
            </a:pPr>
          </a:p>
        </p:txBody>
      </p:sp>
      <p:sp>
        <p:nvSpPr>
          <p:cNvPr name="TextBox 5" id="5"/>
          <p:cNvSpPr txBox="true"/>
          <p:nvPr/>
        </p:nvSpPr>
        <p:spPr>
          <a:xfrm rot="0">
            <a:off x="1800491" y="1099721"/>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 6.3 Chạy thực nghiệm</a:t>
            </a:r>
          </a:p>
          <a:p>
            <a:pPr algn="l">
              <a:lnSpc>
                <a:spcPts val="4199"/>
              </a:lnSpc>
            </a:pPr>
          </a:p>
        </p:txBody>
      </p:sp>
      <p:sp>
        <p:nvSpPr>
          <p:cNvPr name="TextBox 6" id="6"/>
          <p:cNvSpPr txBox="true"/>
          <p:nvPr/>
        </p:nvSpPr>
        <p:spPr>
          <a:xfrm rot="0">
            <a:off x="522596" y="4091172"/>
            <a:ext cx="5261336" cy="1416044"/>
          </a:xfrm>
          <a:prstGeom prst="rect">
            <a:avLst/>
          </a:prstGeom>
        </p:spPr>
        <p:txBody>
          <a:bodyPr anchor="t" rtlCol="false" tIns="0" lIns="0" bIns="0" rIns="0">
            <a:spAutoFit/>
          </a:bodyPr>
          <a:lstStyle/>
          <a:p>
            <a:pPr algn="l">
              <a:lnSpc>
                <a:spcPts val="2800"/>
              </a:lnSpc>
              <a:spcBef>
                <a:spcPct val="0"/>
              </a:spcBef>
            </a:pPr>
            <a:r>
              <a:rPr lang="en-US" sz="2000">
                <a:solidFill>
                  <a:srgbClr val="333333"/>
                </a:solidFill>
                <a:latin typeface="Public Sans"/>
                <a:ea typeface="Public Sans"/>
                <a:cs typeface="Public Sans"/>
                <a:sym typeface="Public Sans"/>
              </a:rPr>
              <a:t>Hình 1. So sánh t</a:t>
            </a:r>
            <a:r>
              <a:rPr lang="en-US" sz="2000">
                <a:solidFill>
                  <a:srgbClr val="333333"/>
                </a:solidFill>
                <a:latin typeface="Public Sans"/>
                <a:ea typeface="Public Sans"/>
                <a:cs typeface="Public Sans"/>
                <a:sym typeface="Public Sans"/>
              </a:rPr>
              <a:t>hời gian chạy giữa 3 phương pháp: naive, linear và jit compiled with numba.</a:t>
            </a:r>
          </a:p>
          <a:p>
            <a:pPr algn="l">
              <a:lnSpc>
                <a:spcPts val="2800"/>
              </a:lnSpc>
              <a:spcBef>
                <a:spcPct val="0"/>
              </a:spcBef>
            </a:pP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7011071" y="2699969"/>
            <a:ext cx="8854706" cy="5916554"/>
          </a:xfrm>
          <a:custGeom>
            <a:avLst/>
            <a:gdLst/>
            <a:ahLst/>
            <a:cxnLst/>
            <a:rect r="r" b="b" t="t" l="l"/>
            <a:pathLst>
              <a:path h="5916554" w="8854706">
                <a:moveTo>
                  <a:pt x="0" y="0"/>
                </a:moveTo>
                <a:lnTo>
                  <a:pt x="8854706" y="0"/>
                </a:lnTo>
                <a:lnTo>
                  <a:pt x="8854706" y="5916554"/>
                </a:lnTo>
                <a:lnTo>
                  <a:pt x="0" y="5916554"/>
                </a:lnTo>
                <a:lnTo>
                  <a:pt x="0" y="0"/>
                </a:lnTo>
                <a:close/>
              </a:path>
            </a:pathLst>
          </a:custGeom>
          <a:blipFill>
            <a:blip r:embed="rId2"/>
            <a:stretch>
              <a:fillRect l="0" t="0" r="0" b="0"/>
            </a:stretch>
          </a:blipFill>
        </p:spPr>
      </p:sp>
      <p:sp>
        <p:nvSpPr>
          <p:cNvPr name="TextBox 4" id="4"/>
          <p:cNvSpPr txBox="true"/>
          <p:nvPr/>
        </p:nvSpPr>
        <p:spPr>
          <a:xfrm rot="0">
            <a:off x="1028700" y="514350"/>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6. Thực nghiệm </a:t>
            </a:r>
          </a:p>
          <a:p>
            <a:pPr algn="l">
              <a:lnSpc>
                <a:spcPts val="4199"/>
              </a:lnSpc>
            </a:pPr>
          </a:p>
        </p:txBody>
      </p:sp>
      <p:sp>
        <p:nvSpPr>
          <p:cNvPr name="TextBox 5" id="5"/>
          <p:cNvSpPr txBox="true"/>
          <p:nvPr/>
        </p:nvSpPr>
        <p:spPr>
          <a:xfrm rot="0">
            <a:off x="1800491" y="1099721"/>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 6.3 Chạy thực nghiệm</a:t>
            </a:r>
          </a:p>
          <a:p>
            <a:pPr algn="l">
              <a:lnSpc>
                <a:spcPts val="4199"/>
              </a:lnSpc>
            </a:pPr>
          </a:p>
        </p:txBody>
      </p:sp>
      <p:sp>
        <p:nvSpPr>
          <p:cNvPr name="TextBox 6" id="6"/>
          <p:cNvSpPr txBox="true"/>
          <p:nvPr/>
        </p:nvSpPr>
        <p:spPr>
          <a:xfrm rot="0">
            <a:off x="501298" y="3727456"/>
            <a:ext cx="5261336" cy="1416044"/>
          </a:xfrm>
          <a:prstGeom prst="rect">
            <a:avLst/>
          </a:prstGeom>
        </p:spPr>
        <p:txBody>
          <a:bodyPr anchor="t" rtlCol="false" tIns="0" lIns="0" bIns="0" rIns="0">
            <a:spAutoFit/>
          </a:bodyPr>
          <a:lstStyle/>
          <a:p>
            <a:pPr algn="l">
              <a:lnSpc>
                <a:spcPts val="2800"/>
              </a:lnSpc>
            </a:pPr>
          </a:p>
          <a:p>
            <a:pPr algn="l">
              <a:lnSpc>
                <a:spcPts val="2800"/>
              </a:lnSpc>
              <a:spcBef>
                <a:spcPct val="0"/>
              </a:spcBef>
            </a:pPr>
            <a:r>
              <a:rPr lang="en-US" sz="2000">
                <a:solidFill>
                  <a:srgbClr val="333333"/>
                </a:solidFill>
                <a:latin typeface="Public Sans"/>
                <a:ea typeface="Public Sans"/>
                <a:cs typeface="Public Sans"/>
                <a:sym typeface="Public Sans"/>
              </a:rPr>
              <a:t> </a:t>
            </a:r>
            <a:r>
              <a:rPr lang="en-US" sz="2000">
                <a:solidFill>
                  <a:srgbClr val="333333"/>
                </a:solidFill>
                <a:latin typeface="Public Sans"/>
                <a:ea typeface="Public Sans"/>
                <a:cs typeface="Public Sans"/>
                <a:sym typeface="Public Sans"/>
              </a:rPr>
              <a:t>Hình 2. So sánh c</a:t>
            </a:r>
            <a:r>
              <a:rPr lang="en-US" sz="2000">
                <a:solidFill>
                  <a:srgbClr val="333333"/>
                </a:solidFill>
                <a:latin typeface="Public Sans"/>
                <a:ea typeface="Public Sans"/>
                <a:cs typeface="Public Sans"/>
                <a:sym typeface="Public Sans"/>
              </a:rPr>
              <a:t>hi tiết giữa linear và jit compiled with numba.</a:t>
            </a:r>
          </a:p>
          <a:p>
            <a:pPr algn="l">
              <a:lnSpc>
                <a:spcPts val="2800"/>
              </a:lnSpc>
              <a:spcBef>
                <a:spcPct val="0"/>
              </a:spcBef>
            </a:pP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Freeform 3" id="3"/>
          <p:cNvSpPr/>
          <p:nvPr/>
        </p:nvSpPr>
        <p:spPr>
          <a:xfrm flipH="false" flipV="false" rot="0">
            <a:off x="8139877" y="2614776"/>
            <a:ext cx="8854706" cy="5916554"/>
          </a:xfrm>
          <a:custGeom>
            <a:avLst/>
            <a:gdLst/>
            <a:ahLst/>
            <a:cxnLst/>
            <a:rect r="r" b="b" t="t" l="l"/>
            <a:pathLst>
              <a:path h="5916554" w="8854706">
                <a:moveTo>
                  <a:pt x="0" y="0"/>
                </a:moveTo>
                <a:lnTo>
                  <a:pt x="8854707" y="0"/>
                </a:lnTo>
                <a:lnTo>
                  <a:pt x="8854707" y="5916554"/>
                </a:lnTo>
                <a:lnTo>
                  <a:pt x="0" y="5916554"/>
                </a:lnTo>
                <a:lnTo>
                  <a:pt x="0" y="0"/>
                </a:lnTo>
                <a:close/>
              </a:path>
            </a:pathLst>
          </a:custGeom>
          <a:blipFill>
            <a:blip r:embed="rId2"/>
            <a:stretch>
              <a:fillRect l="0" t="0" r="0" b="0"/>
            </a:stretch>
          </a:blipFill>
        </p:spPr>
      </p:sp>
      <p:sp>
        <p:nvSpPr>
          <p:cNvPr name="TextBox 4" id="4"/>
          <p:cNvSpPr txBox="true"/>
          <p:nvPr/>
        </p:nvSpPr>
        <p:spPr>
          <a:xfrm rot="0">
            <a:off x="1028700" y="514350"/>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6. Thực nghiệm </a:t>
            </a:r>
          </a:p>
          <a:p>
            <a:pPr algn="l">
              <a:lnSpc>
                <a:spcPts val="4199"/>
              </a:lnSpc>
            </a:pPr>
          </a:p>
        </p:txBody>
      </p:sp>
      <p:sp>
        <p:nvSpPr>
          <p:cNvPr name="TextBox 5" id="5"/>
          <p:cNvSpPr txBox="true"/>
          <p:nvPr/>
        </p:nvSpPr>
        <p:spPr>
          <a:xfrm rot="0">
            <a:off x="1800491" y="1099721"/>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 6.3 Chạy thực nghiệm</a:t>
            </a:r>
          </a:p>
          <a:p>
            <a:pPr algn="l">
              <a:lnSpc>
                <a:spcPts val="4199"/>
              </a:lnSpc>
            </a:pPr>
          </a:p>
        </p:txBody>
      </p:sp>
      <p:sp>
        <p:nvSpPr>
          <p:cNvPr name="TextBox 6" id="6"/>
          <p:cNvSpPr txBox="true"/>
          <p:nvPr/>
        </p:nvSpPr>
        <p:spPr>
          <a:xfrm rot="0">
            <a:off x="1501807" y="3514474"/>
            <a:ext cx="6006774" cy="1416044"/>
          </a:xfrm>
          <a:prstGeom prst="rect">
            <a:avLst/>
          </a:prstGeom>
        </p:spPr>
        <p:txBody>
          <a:bodyPr anchor="t" rtlCol="false" tIns="0" lIns="0" bIns="0" rIns="0">
            <a:spAutoFit/>
          </a:bodyPr>
          <a:lstStyle/>
          <a:p>
            <a:pPr algn="l">
              <a:lnSpc>
                <a:spcPts val="2800"/>
              </a:lnSpc>
            </a:pPr>
          </a:p>
          <a:p>
            <a:pPr algn="l">
              <a:lnSpc>
                <a:spcPts val="2800"/>
              </a:lnSpc>
              <a:spcBef>
                <a:spcPct val="0"/>
              </a:spcBef>
            </a:pPr>
            <a:r>
              <a:rPr lang="en-US" sz="2000">
                <a:solidFill>
                  <a:srgbClr val="333333"/>
                </a:solidFill>
                <a:latin typeface="Public Sans"/>
                <a:ea typeface="Public Sans"/>
                <a:cs typeface="Public Sans"/>
                <a:sym typeface="Public Sans"/>
              </a:rPr>
              <a:t> </a:t>
            </a:r>
            <a:r>
              <a:rPr lang="en-US" sz="2000">
                <a:solidFill>
                  <a:srgbClr val="333333"/>
                </a:solidFill>
                <a:latin typeface="Public Sans"/>
                <a:ea typeface="Public Sans"/>
                <a:cs typeface="Public Sans"/>
                <a:sym typeface="Public Sans"/>
              </a:rPr>
              <a:t>Hình 2. So sánh c</a:t>
            </a:r>
            <a:r>
              <a:rPr lang="en-US" sz="2000">
                <a:solidFill>
                  <a:srgbClr val="333333"/>
                </a:solidFill>
                <a:latin typeface="Public Sans"/>
                <a:ea typeface="Public Sans"/>
                <a:cs typeface="Public Sans"/>
                <a:sym typeface="Public Sans"/>
              </a:rPr>
              <a:t>hi tiết giữa linear và jit compiled with numba.</a:t>
            </a:r>
          </a:p>
          <a:p>
            <a:pPr algn="l">
              <a:lnSpc>
                <a:spcPts val="2800"/>
              </a:lnSpc>
              <a:spcBef>
                <a:spcPct val="0"/>
              </a:spcBef>
            </a:pPr>
          </a:p>
        </p:txBody>
      </p:sp>
      <p:sp>
        <p:nvSpPr>
          <p:cNvPr name="TextBox 7" id="7"/>
          <p:cNvSpPr txBox="true"/>
          <p:nvPr/>
        </p:nvSpPr>
        <p:spPr>
          <a:xfrm rot="0">
            <a:off x="756369" y="5286375"/>
            <a:ext cx="6752213" cy="2825744"/>
          </a:xfrm>
          <a:prstGeom prst="rect">
            <a:avLst/>
          </a:prstGeom>
        </p:spPr>
        <p:txBody>
          <a:bodyPr anchor="t" rtlCol="false" tIns="0" lIns="0" bIns="0" rIns="0">
            <a:spAutoFit/>
          </a:bodyPr>
          <a:lstStyle/>
          <a:p>
            <a:pPr algn="l">
              <a:lnSpc>
                <a:spcPts val="2800"/>
              </a:lnSpc>
            </a:pPr>
          </a:p>
          <a:p>
            <a:pPr algn="l">
              <a:lnSpc>
                <a:spcPts val="2800"/>
              </a:lnSpc>
              <a:spcBef>
                <a:spcPct val="0"/>
              </a:spcBef>
            </a:pPr>
            <a:r>
              <a:rPr lang="en-US" sz="2000">
                <a:solidFill>
                  <a:srgbClr val="333333"/>
                </a:solidFill>
                <a:latin typeface="Public Sans"/>
                <a:ea typeface="Public Sans"/>
                <a:cs typeface="Public Sans"/>
                <a:sym typeface="Public Sans"/>
              </a:rPr>
              <a:t>           Từ</a:t>
            </a:r>
            <a:r>
              <a:rPr lang="en-US" sz="2000">
                <a:solidFill>
                  <a:srgbClr val="333333"/>
                </a:solidFill>
                <a:latin typeface="Public Sans"/>
                <a:ea typeface="Public Sans"/>
                <a:cs typeface="Public Sans"/>
                <a:sym typeface="Public Sans"/>
              </a:rPr>
              <a:t> kết quả cho thấy, khi kích thước bàn cờ tă</a:t>
            </a:r>
            <a:r>
              <a:rPr lang="en-US" sz="2000">
                <a:solidFill>
                  <a:srgbClr val="333333"/>
                </a:solidFill>
                <a:latin typeface="Public Sans"/>
                <a:ea typeface="Public Sans"/>
                <a:cs typeface="Public Sans"/>
                <a:sym typeface="Public Sans"/>
              </a:rPr>
              <a:t>ng, thời gian tính toán của phương p</a:t>
            </a:r>
            <a:r>
              <a:rPr lang="en-US" sz="2000">
                <a:solidFill>
                  <a:srgbClr val="333333"/>
                </a:solidFill>
                <a:latin typeface="Public Sans"/>
                <a:ea typeface="Public Sans"/>
                <a:cs typeface="Public Sans"/>
                <a:sym typeface="Public Sans"/>
              </a:rPr>
              <a:t>háp naive tăng nhanh theo cấp số nhân, trong khi JIT-compiled với numba duy trì hiệu năng gần tuyến tính. Điều này chứng minh hiệu quả đáng kể của JIT compilation trong việc tăng tốc các phép tính xung đột.</a:t>
            </a:r>
          </a:p>
          <a:p>
            <a:pPr algn="l">
              <a:lnSpc>
                <a:spcPts val="2800"/>
              </a:lnSpc>
              <a:spcBef>
                <a:spcPct val="0"/>
              </a:spcBef>
            </a:pPr>
          </a:p>
        </p:txBody>
      </p:sp>
    </p:spTree>
  </p:cSld>
  <p:clrMapOvr>
    <a:masterClrMapping/>
  </p:clrMapOvr>
</p:sld>
</file>

<file path=ppt/slides/slide58.xml><?xml version="1.0" encoding="utf-8"?>
<p:sld xmlns:p="http://schemas.openxmlformats.org/presentationml/2006/main" xmlns:a="http://schemas.openxmlformats.org/drawingml/2006/main">
  <p:cSld>
    <p:bg>
      <p:bgPr>
        <a:solidFill>
          <a:srgbClr val="F5F5F4"/>
        </a:solidFill>
      </p:bgPr>
    </p:bg>
    <p:spTree>
      <p:nvGrpSpPr>
        <p:cNvPr id="1" name=""/>
        <p:cNvGrpSpPr/>
        <p:nvPr/>
      </p:nvGrpSpPr>
      <p:grpSpPr>
        <a:xfrm>
          <a:off x="0" y="0"/>
          <a:ext cx="0" cy="0"/>
          <a:chOff x="0" y="0"/>
          <a:chExt cx="0" cy="0"/>
        </a:xfrm>
      </p:grpSpPr>
      <p:sp>
        <p:nvSpPr>
          <p:cNvPr name="AutoShape 2" id="2"/>
          <p:cNvSpPr/>
          <p:nvPr/>
        </p:nvSpPr>
        <p:spPr>
          <a:xfrm rot="0">
            <a:off x="1028700" y="1751768"/>
            <a:ext cx="16230600" cy="0"/>
          </a:xfrm>
          <a:prstGeom prst="line">
            <a:avLst/>
          </a:prstGeom>
          <a:ln cap="flat" w="28575">
            <a:solidFill>
              <a:srgbClr val="333333"/>
            </a:solidFill>
            <a:prstDash val="solid"/>
            <a:headEnd type="none" len="sm" w="sm"/>
            <a:tailEnd type="none" len="sm" w="sm"/>
          </a:ln>
        </p:spPr>
      </p:sp>
      <p:sp>
        <p:nvSpPr>
          <p:cNvPr name="TextBox 3" id="3"/>
          <p:cNvSpPr txBox="true"/>
          <p:nvPr/>
        </p:nvSpPr>
        <p:spPr>
          <a:xfrm rot="0">
            <a:off x="1028700" y="514350"/>
            <a:ext cx="10105799" cy="1038225"/>
          </a:xfrm>
          <a:prstGeom prst="rect">
            <a:avLst/>
          </a:prstGeom>
        </p:spPr>
        <p:txBody>
          <a:bodyPr anchor="t" rtlCol="false" tIns="0" lIns="0" bIns="0" rIns="0">
            <a:spAutoFit/>
          </a:bodyPr>
          <a:lstStyle/>
          <a:p>
            <a:pPr algn="l">
              <a:lnSpc>
                <a:spcPts val="4199"/>
              </a:lnSpc>
            </a:pPr>
            <a:r>
              <a:rPr lang="en-US" sz="2999" b="true">
                <a:solidFill>
                  <a:srgbClr val="333333"/>
                </a:solidFill>
                <a:latin typeface="Public Sans Bold"/>
                <a:ea typeface="Public Sans Bold"/>
                <a:cs typeface="Public Sans Bold"/>
                <a:sym typeface="Public Sans Bold"/>
              </a:rPr>
              <a:t>7. Kết luận </a:t>
            </a:r>
          </a:p>
          <a:p>
            <a:pPr algn="l">
              <a:lnSpc>
                <a:spcPts val="4199"/>
              </a:lnSpc>
            </a:pPr>
          </a:p>
        </p:txBody>
      </p:sp>
      <p:sp>
        <p:nvSpPr>
          <p:cNvPr name="TextBox 4" id="4"/>
          <p:cNvSpPr txBox="true"/>
          <p:nvPr/>
        </p:nvSpPr>
        <p:spPr>
          <a:xfrm rot="0">
            <a:off x="1203632" y="2820990"/>
            <a:ext cx="14270491" cy="4587869"/>
          </a:xfrm>
          <a:prstGeom prst="rect">
            <a:avLst/>
          </a:prstGeom>
        </p:spPr>
        <p:txBody>
          <a:bodyPr anchor="t" rtlCol="false" tIns="0" lIns="0" bIns="0" rIns="0">
            <a:spAutoFit/>
          </a:bodyPr>
          <a:lstStyle/>
          <a:p>
            <a:pPr algn="l">
              <a:lnSpc>
                <a:spcPts val="2800"/>
              </a:lnSpc>
            </a:pPr>
          </a:p>
          <a:p>
            <a:pPr algn="l">
              <a:lnSpc>
                <a:spcPts val="2800"/>
              </a:lnSpc>
            </a:pPr>
            <a:r>
              <a:rPr lang="en-US" sz="2000">
                <a:solidFill>
                  <a:srgbClr val="333333"/>
                </a:solidFill>
                <a:latin typeface="Public Sans"/>
                <a:ea typeface="Public Sans"/>
                <a:cs typeface="Public Sans"/>
                <a:sym typeface="Public Sans"/>
              </a:rPr>
              <a:t> -      Việc tối ưu hàm conflicts là cách hiệu quả nhất để</a:t>
            </a:r>
            <a:r>
              <a:rPr lang="en-US" sz="2000">
                <a:solidFill>
                  <a:srgbClr val="333333"/>
                </a:solidFill>
                <a:latin typeface="Public Sans"/>
                <a:ea typeface="Public Sans"/>
                <a:cs typeface="Public Sans"/>
                <a:sym typeface="Public Sans"/>
              </a:rPr>
              <a:t> tăng tốc các thuật toán tìm kiếm cục bộ cho n-Quee</a:t>
            </a:r>
            <a:r>
              <a:rPr lang="en-US" sz="2000">
                <a:solidFill>
                  <a:srgbClr val="333333"/>
                </a:solidFill>
                <a:latin typeface="Public Sans"/>
                <a:ea typeface="Public Sans"/>
                <a:cs typeface="Public Sans"/>
                <a:sym typeface="Public Sans"/>
              </a:rPr>
              <a:t>ns.</a:t>
            </a:r>
          </a:p>
          <a:p>
            <a:pPr algn="l">
              <a:lnSpc>
                <a:spcPts val="2800"/>
              </a:lnSpc>
            </a:pPr>
          </a:p>
          <a:p>
            <a:pPr algn="l">
              <a:lnSpc>
                <a:spcPts val="2800"/>
              </a:lnSpc>
            </a:pPr>
          </a:p>
          <a:p>
            <a:pPr algn="l">
              <a:lnSpc>
                <a:spcPts val="2800"/>
              </a:lnSpc>
              <a:spcBef>
                <a:spcPct val="0"/>
              </a:spcBef>
            </a:pPr>
            <a:r>
              <a:rPr lang="en-US" sz="2000">
                <a:solidFill>
                  <a:srgbClr val="333333"/>
                </a:solidFill>
                <a:latin typeface="Public Sans"/>
                <a:ea typeface="Public Sans"/>
                <a:cs typeface="Public Sans"/>
                <a:sym typeface="Public Sans"/>
              </a:rPr>
              <a:t> -       Có nhiều chiến lược tối ưu: chuyển sang biểu</a:t>
            </a:r>
            <a:r>
              <a:rPr lang="en-US" sz="2000">
                <a:solidFill>
                  <a:srgbClr val="333333"/>
                </a:solidFill>
                <a:latin typeface="Public Sans"/>
                <a:ea typeface="Public Sans"/>
                <a:cs typeface="Public Sans"/>
                <a:sym typeface="Public Sans"/>
              </a:rPr>
              <a:t> diễn đếm (linear conflict counting), cập nhật incremental (delta), và dùng JIT (Numba).</a:t>
            </a:r>
          </a:p>
          <a:p>
            <a:pPr algn="l">
              <a:lnSpc>
                <a:spcPts val="2800"/>
              </a:lnSpc>
              <a:spcBef>
                <a:spcPct val="0"/>
              </a:spcBef>
            </a:pPr>
          </a:p>
          <a:p>
            <a:pPr algn="l">
              <a:lnSpc>
                <a:spcPts val="2800"/>
              </a:lnSpc>
              <a:spcBef>
                <a:spcPct val="0"/>
              </a:spcBef>
            </a:pPr>
          </a:p>
          <a:p>
            <a:pPr algn="l">
              <a:lnSpc>
                <a:spcPts val="2800"/>
              </a:lnSpc>
              <a:spcBef>
                <a:spcPct val="0"/>
              </a:spcBef>
            </a:pPr>
            <a:r>
              <a:rPr lang="en-US" sz="2000">
                <a:solidFill>
                  <a:srgbClr val="333333"/>
                </a:solidFill>
                <a:latin typeface="Public Sans"/>
                <a:ea typeface="Public Sans"/>
                <a:cs typeface="Public Sans"/>
                <a:sym typeface="Public Sans"/>
              </a:rPr>
              <a:t> -      Kết hợp cả ba hướng trên (linear counting + incremental updates + Numba) cho thể đạt hiệu năng rất cao, đủ để xử lý các n rất lớn trong môi trường thí nghiệm.</a:t>
            </a:r>
          </a:p>
          <a:p>
            <a:pPr algn="l">
              <a:lnSpc>
                <a:spcPts val="2800"/>
              </a:lnSpc>
              <a:spcBef>
                <a:spcPct val="0"/>
              </a:spcBef>
            </a:pPr>
          </a:p>
          <a:p>
            <a:pPr algn="l">
              <a:lnSpc>
                <a:spcPts val="2800"/>
              </a:lnSpc>
              <a:spcBef>
                <a:spcPct val="0"/>
              </a:spcBef>
            </a:pPr>
          </a:p>
          <a:p>
            <a:pPr algn="l">
              <a:lnSpc>
                <a:spcPts val="2800"/>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DAG1dlX9hy8</dc:identifier>
  <dcterms:modified xsi:type="dcterms:W3CDTF">2011-08-01T06:04:30Z</dcterms:modified>
  <cp:revision>1</cp:revision>
  <dc:title>Ứng dụng Simple Hill Climbing cho bài toán Mê Cung</dc:title>
</cp:coreProperties>
</file>